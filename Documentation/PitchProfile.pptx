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(about 20 seconds). PitchProfile watches broadcast football footage, tracks every player it can see, and produces a statistical profile for each of them. The video is the only input. Then we show it working in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The idea: you give it a normal TV broadcast of a match and it returns what a scout or analyst would want: how far each player ran, where they played, how many passes, interceptions and shots. The numbers on this slide are from the demo match we are about to show: 36 player tracks profiled, 1,202 events placed on the pitch, about 90 statistics per player, and 33 minutes of compute for a 45-minute half. Nothing comes from a data provider: the video is the only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then switch to the live demo. The first five cards are what the demo shows: upload with length checks, the match report, player profiles, event maps and the live tracking overlay on the real footage. The sixth card is the archetype profiler: players are rated as percentages across 42 roles, and a semi-supervised model (label spreading) estimates the roles of unlabelled players. It is built but not yet fitted, because no players have been labelled yet, so it is not part of the demo. Be upfront about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75 seconds. Walk the three lanes. Lane A is perception: sample the video, detect everything, track within each camera shot and map pixels to a 105 by 68 metre pitch. Detection is the only GPU-heavy step and its output is saved, so every later stage can be re-run on the CPU. Lane B is the football logic: split teams by kit colour, find one ball path, then derive passes, carries and pressures with hand-written rules, while a learned video model (T-DEED, which we fine-tuned) spots shots, tackles, blocks and headers that rules cannot tell apart. Lane C is identity and counting: read shirt numbers, use a fine-tuned CLIP model to link the segments without a readable number, then compute statistics per player. The colours show where each model comes from: blue is pretrained and used as is, green we trained or fine-tuned, grey is not a learned model. Count: nine learned models in the pipeline are the YOLOv8x player detector, the YOLOv8x ball detector, HRNet, ResNet-34, PARSeq, CLIP, T-DEED, the shot classifier and the re-identification head; the next slides explain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This is the same pipeline seen from the data's point of view. Read down the left column: the raw video is just pixels, 67,500 frames for a 45-minute half. We keep every second frame. The detector turns each frame into a list of boxes, which is the first time anything is a thing rather than a pixel. The tracker gives boxes a persistent ID, but only within one camera shot because the broadcast cuts every 3.5 seconds on average. The pitch model gives every foot point a coordinate in metres, which is what makes distance and speed meaningful. From positions and the ball path we derive events: typed, timed and placed on the pitch. Identity then joins tracklets into named players, and only at that point can events be added up per player into statistics. The right-hand pills show which model, if any, does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75 seconds. Three concrete traces from pixels to a number. A pass: the detector boxes people and ball, the pitch model gives them coordinates, then a rule says that if the ball leaves a player and a teammate touches it within four seconds in the same camera view, it is a complete pass; an opponent means intercepted. The pass is credited to the passer once identity names the tracklet. A run: foot positions in metres are smoothed over one second and measured in 0.4 second steps, with steps above 11 metres per second discarded as tracking errors; distance is the sum, top speed is the 98th percentile so one spike cannot set it, and a sprint is a second or more above 25.2 kilometres per hour. A shot is different: no rule works, so a learned video model watches an eight-second clip and scores each frame; a confident score becomes a shot, credited to the nearest release by that team. The shot precision and recall are measured against SoccerNet labels on held-out halves.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then the three deep-dive slides. This groups every model by where it comes from, because that decides how much we can trust it and how much work it took. Pretrained: the detector, pitch-keypoint network and shirt-number reader are strong published models that we use as released. Fine-tuned here: the two that matter most for this project. The T-DEED action spotter starts from the SoccerNet 2025 baseline and was retrained on football video for shots, tackles, blocks and headers; the CLIP vision transformer was fine-tuned on about six million player thumbnails so it can read digits, tell teammates apart and spot goalkeepers. Trained here: three small models built from our own pipeline output: the fallback shot classifier, the re-identification head, and the archetype profiler, which is built but not fitted because no players are labelled yet. Not learned: tracking, team split, ball path and the football rules. We kept those classical because they are cheap, easy to debug and measurable. Licences differ per model; see THIRD_PARTY_NOTICES before any non-research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Three models that turn pixels into positions. The YOLOv8x detector is the workhorse: it runs at 1280 pixels on every sampled frame because players and especially the ball are tiny in a wide broadcast shot. It outputs boxes with a class, and a second ball-only model re-runs on frames where the first found no ball. BoT-SORT is not a learned model in our setup: it predicts where each box should be next, with the camera motion estimated from optical flow, and links detections. When the broadcast cuts, detected by a jump in the colour histogram, every track ends and nothing is carried across. The HRNet pitch model finds 57 landmarks on the pitch markings; we fit a homography to them, check it against the white lines, drop outliers and smooth it. That is what converts pixels to metres. All of the downstream statistics depend on this step, and it limits us: only 54% of the demo half showed enough pitch for a calibration.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75 seconds. This is how a tracklet gets a name. Because the broadcast cuts every few seconds, the shirt number is the only thing that reliably links a player across cuts, so we read it in two stages. First a ResNet-34 asks whether the number is legible at all; most thumbnails are not. Then PARSeq, a scene-text recogniser fine-tuned on SoccerNet, reads the digits from the readable ones, and we vote across up to 24 thumbnails per segment: 80% of 1,211 test tracklets read correctly. But numbers are only readable about half the time, so a third model covers the rest: a CLIP vision transformer we fine-tuned end to end on 6.0 million thumbnails of 1,485 real players from 48 FOOTPASS games. It has heads for the tens and units digit, a 256-dimensional appearance embedding trained with a contrastive loss where teammates are the negatives, and a goalkeeper flag. On three held-out games, appearance matching picked the right tracklets 98.2% of the time and goalkeepers were found with 90% recall at 99% precision. Overall about half of player time gets a name, and 95% of those names are right. Going from 19 to 48 training games lifted right-name time from 48.9% to 53.0%.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75 seconds. The action spotter is the model that most changes what the app can report. Tackles, blocks and headers cannot be told from ordinary touches using 2D positions, even with perfect positions, so we use a model that watches the video. T-DEED takes a clip of 100 frames, about 8 seconds at 12.5 frames per second, passes it through a small RegNet-Y backbone with gate-shift temporal fusion and then a temporal encoder-decoder, and outputs a score per frame, per action class, with the team. We started from the published SoccerNet 2025 baseline and fine-tuned for 3,000 steps on SoccerNet ball-action spotting and 48 FOOTPASS games, treating FOOTPASS classes as partial labels, weighting tackles and blocks, and freezing the early stages. On held-out games mean average precision went from 0.48 to 0.60 on FOOTPASS and 0.61 to 0.63 on the SoccerNet test set; headers and blocks improved a lot, tackles are still weak, so we report tackles and blocks as expected counts. For shots the spotter beats our own gradient-boosted classifier, 0.71 and 0.70 against 0.36 and 0.47, so the classifier is only a fallback. Everything else on events is deliberately rules. The archetype profiler is built but not fitted yet because no players are labelled.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These are the results we can defend because each was measured on data the model never saw: per-player pass counts correlate 0.89 with annotations in a fully annotated match; shots are found with 0.71 precision and 0.70 recall; shirt numbers are read correctly for 80% of test tracklets; the attack direction was right in all 8 test halves. On the FOOTPASS held-out games, about half of visible player time is attached to a named player and 95% of those names are right. The fine-tuned action spotter went from 0.48 to 0.60 mean average precision on held-out games. Be honest about the caveat in the footer line, and lead into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This is the honest slide, and the live demo shows several of these directly. Camera cuts and partial views: the Live tracking tab shows boxes dropping out whenever the broadcast cuts away, and 54% of this half was a usable pitch view. The ball is small and often hidden; at 720p we find it in 44% of the frames where it is visible, which limits how many passes can be credited to a player. Tackles and blocks cannot be told apart from ordinary touches using 2D positions, which is why we use a video model, and even that finds roughly one tackle for every eight real ones, so we report them as expected counts, not totals. Identity: about half of player time is tied to a shirt number, striped kits are hardest, and some players are split across several unnumbered tracks. Finally, no archetype labels exist yet, the best training data is under the SoccerNet NDA, and one half takes about 33 minutes on an RTX 3090.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then take questions. Items 1 to 4 are about measurement quality, in the order we expect them to help most: the ball is the biggest lever because about a quarter of spotted passes and carries cannot be given to a player when no ball is found. Item 5 is the original project goal: label a varied set of players, fit the semi-supervised archetype model, and evaluate it on held-out matches. Item 6 is product work: today the full-match pipeline analyses the library matches from the Matches screen, and the demo shows the intended upload flow, so we should be clear that arbitrary upload is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41D"/>
        </a:solidFill>
      </p:bgPr>
    </p:bg>
    <p:spTree>
      <p:nvGrpSpPr>
        <p:cNvPr id="1" name=""/>
        <p:cNvGrpSpPr/>
        <p:nvPr/>
      </p:nvGrpSpPr>
      <p:grpSpPr>
        <a:xfrm>
          <a:off x="0" y="0"/>
          <a:ext cx="0" cy="0"/>
          <a:chOff x="0" y="0"/>
          <a:chExt cx="0" cy="0"/>
        </a:xfrm>
      </p:grpSpPr>
      <p:sp>
        <p:nvSpPr>
          <p:cNvPr id="3" name="Text 0"/>
          <p:cNvSpPr txBox="1"/>
          <p:nvPr/>
        </p:nvSpPr>
        <p:spPr>
          <a:xfrm>
            <a:off x="812800" y="812800"/>
            <a:ext cx="7620000" cy="254000"/>
          </a:xfrm>
          <a:prstGeom prst="rect">
            <a:avLst/>
          </a:prstGeom>
          <a:noFill/>
          <a:ln/>
        </p:spPr>
        <p:txBody>
          <a:bodyPr wrap="square" lIns="0" tIns="0" rIns="0" bIns="0" rtlCol="0" anchor="t"/>
          <a:lstStyle/>
          <a:p>
            <a:pPr indent="0" marL="0">
              <a:buNone/>
            </a:pPr>
            <a:r>
              <a:rPr lang="en-US" sz="1400" b="1" spc="300" kern="0" dirty="0">
                <a:solidFill>
                  <a:srgbClr val="8CE3B6"/>
                </a:solidFill>
                <a:latin typeface="Calibri" pitchFamily="34" charset="0"/>
                <a:ea typeface="Calibri" pitchFamily="34" charset="-122"/>
                <a:cs typeface="Calibri" pitchFamily="34" charset="-120"/>
              </a:rPr>
              <a:t>AAI3001 · COMPUTER VISION AND DEEP LEARNING</a:t>
            </a:r>
            <a:endParaRPr lang="en-US" sz="1400" dirty="0"/>
          </a:p>
        </p:txBody>
      </p:sp>
      <p:sp>
        <p:nvSpPr>
          <p:cNvPr id="4" name="Text 1"/>
          <p:cNvSpPr txBox="1"/>
          <p:nvPr/>
        </p:nvSpPr>
        <p:spPr>
          <a:xfrm>
            <a:off x="812800" y="2413000"/>
            <a:ext cx="5715000" cy="1206500"/>
          </a:xfrm>
          <a:prstGeom prst="rect">
            <a:avLst/>
          </a:prstGeom>
          <a:noFill/>
          <a:ln/>
        </p:spPr>
        <p:txBody>
          <a:bodyPr wrap="square" lIns="0" tIns="0" rIns="0" bIns="0" rtlCol="0" anchor="ctr"/>
          <a:lstStyle/>
          <a:p>
            <a:pPr indent="0" marL="0">
              <a:buNone/>
            </a:pPr>
            <a:r>
              <a:rPr lang="en-US" sz="6600" b="1" dirty="0">
                <a:solidFill>
                  <a:srgbClr val="F3F6F2"/>
                </a:solidFill>
                <a:latin typeface="Arial" pitchFamily="34" charset="0"/>
                <a:ea typeface="Arial" pitchFamily="34" charset="-122"/>
                <a:cs typeface="Arial" pitchFamily="34" charset="-120"/>
              </a:rPr>
              <a:t>PitchProfile</a:t>
            </a:r>
            <a:endParaRPr lang="en-US" sz="6600" dirty="0"/>
          </a:p>
        </p:txBody>
      </p:sp>
      <p:sp>
        <p:nvSpPr>
          <p:cNvPr id="5" name="Text 2"/>
          <p:cNvSpPr txBox="1"/>
          <p:nvPr/>
        </p:nvSpPr>
        <p:spPr>
          <a:xfrm>
            <a:off x="812800" y="3683000"/>
            <a:ext cx="5461000" cy="1079500"/>
          </a:xfrm>
          <a:prstGeom prst="rect">
            <a:avLst/>
          </a:prstGeom>
          <a:noFill/>
          <a:ln/>
        </p:spPr>
        <p:txBody>
          <a:bodyPr wrap="square" lIns="0" tIns="0" rIns="0" bIns="0" rtlCol="0" anchor="t"/>
          <a:lstStyle/>
          <a:p>
            <a:pPr indent="0" marL="0">
              <a:buNone/>
            </a:pPr>
            <a:r>
              <a:rPr lang="en-US" sz="3000" dirty="0">
                <a:solidFill>
                  <a:srgbClr val="BFD8CE"/>
                </a:solidFill>
                <a:latin typeface="Calibri" pitchFamily="34" charset="0"/>
                <a:ea typeface="Calibri" pitchFamily="34" charset="-122"/>
                <a:cs typeface="Calibri" pitchFamily="34" charset="-120"/>
              </a:rPr>
              <a:t>Player statistics from broadcast football video alone</a:t>
            </a:r>
            <a:endParaRPr lang="en-US" sz="3000" dirty="0"/>
          </a:p>
        </p:txBody>
      </p:sp>
      <p:sp>
        <p:nvSpPr>
          <p:cNvPr id="6" name="Text 3"/>
          <p:cNvSpPr txBox="1"/>
          <p:nvPr/>
        </p:nvSpPr>
        <p:spPr>
          <a:xfrm>
            <a:off x="812800" y="5715000"/>
            <a:ext cx="5715000" cy="254000"/>
          </a:xfrm>
          <a:prstGeom prst="rect">
            <a:avLst/>
          </a:prstGeom>
          <a:noFill/>
          <a:ln/>
        </p:spPr>
        <p:txBody>
          <a:bodyPr wrap="square" lIns="0" tIns="0" rIns="0" bIns="0" rtlCol="0" anchor="t"/>
          <a:lstStyle/>
          <a:p>
            <a:pPr indent="0" marL="0">
              <a:buNone/>
            </a:pPr>
            <a:r>
              <a:rPr lang="en-US" sz="1400" dirty="0">
                <a:solidFill>
                  <a:srgbClr val="BFD8CE"/>
                </a:solidFill>
                <a:latin typeface="Calibri" pitchFamily="34" charset="0"/>
                <a:ea typeface="Calibri" pitchFamily="34" charset="-122"/>
                <a:cs typeface="Calibri" pitchFamily="34" charset="-120"/>
              </a:rPr>
              <a:t>[Team name · members]</a:t>
            </a:r>
            <a:endParaRPr lang="en-US" sz="1400" dirty="0"/>
          </a:p>
        </p:txBody>
      </p:sp>
      <p:sp>
        <p:nvSpPr>
          <p:cNvPr id="7" name="Shape 4"/>
          <p:cNvSpPr/>
          <p:nvPr/>
        </p:nvSpPr>
        <p:spPr>
          <a:xfrm>
            <a:off x="6781800" y="2146300"/>
            <a:ext cx="3962400" cy="2527300"/>
          </a:xfrm>
          <a:prstGeom prst="rect">
            <a:avLst/>
          </a:prstGeom>
          <a:solidFill>
            <a:srgbClr val="0F241D">
              <a:alpha val="0"/>
            </a:srgbClr>
          </a:solidFill>
          <a:ln w="19050">
            <a:solidFill>
              <a:srgbClr val="8CE3B6">
                <a:alpha val="60000"/>
              </a:srgbClr>
            </a:solidFill>
            <a:prstDash val="solid"/>
          </a:ln>
        </p:spPr>
      </p:sp>
      <p:sp>
        <p:nvSpPr>
          <p:cNvPr id="8" name="Shape 5"/>
          <p:cNvSpPr/>
          <p:nvPr/>
        </p:nvSpPr>
        <p:spPr>
          <a:xfrm>
            <a:off x="6781800" y="2647950"/>
            <a:ext cx="622300" cy="1524000"/>
          </a:xfrm>
          <a:prstGeom prst="rect">
            <a:avLst/>
          </a:prstGeom>
          <a:solidFill>
            <a:srgbClr val="0F241D">
              <a:alpha val="0"/>
            </a:srgbClr>
          </a:solidFill>
          <a:ln w="19050">
            <a:solidFill>
              <a:srgbClr val="8CE3B6">
                <a:alpha val="60000"/>
              </a:srgbClr>
            </a:solidFill>
            <a:prstDash val="solid"/>
          </a:ln>
        </p:spPr>
      </p:sp>
      <p:sp>
        <p:nvSpPr>
          <p:cNvPr id="9" name="Shape 6"/>
          <p:cNvSpPr/>
          <p:nvPr/>
        </p:nvSpPr>
        <p:spPr>
          <a:xfrm>
            <a:off x="6781800" y="3060700"/>
            <a:ext cx="209550" cy="698500"/>
          </a:xfrm>
          <a:prstGeom prst="rect">
            <a:avLst/>
          </a:prstGeom>
          <a:solidFill>
            <a:srgbClr val="0F241D">
              <a:alpha val="0"/>
            </a:srgbClr>
          </a:solidFill>
          <a:ln w="19050">
            <a:solidFill>
              <a:srgbClr val="8CE3B6">
                <a:alpha val="60000"/>
              </a:srgbClr>
            </a:solidFill>
            <a:prstDash val="solid"/>
          </a:ln>
        </p:spPr>
      </p:sp>
      <p:sp>
        <p:nvSpPr>
          <p:cNvPr id="10" name="Shape 7"/>
          <p:cNvSpPr/>
          <p:nvPr/>
        </p:nvSpPr>
        <p:spPr>
          <a:xfrm>
            <a:off x="10121900" y="2647950"/>
            <a:ext cx="622300" cy="1524000"/>
          </a:xfrm>
          <a:prstGeom prst="rect">
            <a:avLst/>
          </a:prstGeom>
          <a:solidFill>
            <a:srgbClr val="0F241D">
              <a:alpha val="0"/>
            </a:srgbClr>
          </a:solidFill>
          <a:ln w="19050">
            <a:solidFill>
              <a:srgbClr val="8CE3B6">
                <a:alpha val="60000"/>
              </a:srgbClr>
            </a:solidFill>
            <a:prstDash val="solid"/>
          </a:ln>
        </p:spPr>
      </p:sp>
      <p:sp>
        <p:nvSpPr>
          <p:cNvPr id="11" name="Shape 8"/>
          <p:cNvSpPr/>
          <p:nvPr/>
        </p:nvSpPr>
        <p:spPr>
          <a:xfrm>
            <a:off x="10534650" y="3060700"/>
            <a:ext cx="209550" cy="698500"/>
          </a:xfrm>
          <a:prstGeom prst="rect">
            <a:avLst/>
          </a:prstGeom>
          <a:solidFill>
            <a:srgbClr val="0F241D">
              <a:alpha val="0"/>
            </a:srgbClr>
          </a:solidFill>
          <a:ln w="19050">
            <a:solidFill>
              <a:srgbClr val="8CE3B6">
                <a:alpha val="60000"/>
              </a:srgbClr>
            </a:solidFill>
            <a:prstDash val="solid"/>
          </a:ln>
        </p:spPr>
      </p:sp>
      <p:sp>
        <p:nvSpPr>
          <p:cNvPr id="12" name="Shape 9"/>
          <p:cNvSpPr/>
          <p:nvPr/>
        </p:nvSpPr>
        <p:spPr>
          <a:xfrm>
            <a:off x="8763000" y="2146300"/>
            <a:ext cx="0" cy="2527300"/>
          </a:xfrm>
          <a:prstGeom prst="line">
            <a:avLst/>
          </a:prstGeom>
          <a:noFill/>
          <a:ln w="19050">
            <a:solidFill>
              <a:srgbClr val="8CE3B6">
                <a:alpha val="60000"/>
              </a:srgbClr>
            </a:solidFill>
            <a:prstDash val="solid"/>
          </a:ln>
        </p:spPr>
      </p:sp>
      <p:sp>
        <p:nvSpPr>
          <p:cNvPr id="13" name="Shape 10"/>
          <p:cNvSpPr/>
          <p:nvPr/>
        </p:nvSpPr>
        <p:spPr>
          <a:xfrm>
            <a:off x="8407400" y="3054350"/>
            <a:ext cx="711200" cy="711200"/>
          </a:xfrm>
          <a:prstGeom prst="ellipse">
            <a:avLst/>
          </a:prstGeom>
          <a:solidFill>
            <a:srgbClr val="0F241D">
              <a:alpha val="0"/>
            </a:srgbClr>
          </a:solidFill>
          <a:ln w="19050">
            <a:solidFill>
              <a:srgbClr val="8CE3B6">
                <a:alpha val="60000"/>
              </a:srgbClr>
            </a:solidFill>
            <a:prstDash val="solid"/>
          </a:ln>
        </p:spPr>
      </p:sp>
      <p:sp>
        <p:nvSpPr>
          <p:cNvPr id="14" name="Shape 11"/>
          <p:cNvSpPr/>
          <p:nvPr/>
        </p:nvSpPr>
        <p:spPr>
          <a:xfrm>
            <a:off x="7613650" y="2787650"/>
            <a:ext cx="139700" cy="139700"/>
          </a:xfrm>
          <a:prstGeom prst="ellipse">
            <a:avLst/>
          </a:prstGeom>
          <a:solidFill>
            <a:srgbClr val="FF6B5E"/>
          </a:solidFill>
          <a:ln w="15875">
            <a:solidFill>
              <a:srgbClr val="F3F6F2"/>
            </a:solidFill>
            <a:prstDash val="solid"/>
          </a:ln>
        </p:spPr>
      </p:sp>
      <p:sp>
        <p:nvSpPr>
          <p:cNvPr id="15" name="Shape 12"/>
          <p:cNvSpPr/>
          <p:nvPr/>
        </p:nvSpPr>
        <p:spPr>
          <a:xfrm>
            <a:off x="8134350" y="3689350"/>
            <a:ext cx="139700" cy="139700"/>
          </a:xfrm>
          <a:prstGeom prst="ellipse">
            <a:avLst/>
          </a:prstGeom>
          <a:solidFill>
            <a:srgbClr val="FF6B5E"/>
          </a:solidFill>
          <a:ln w="15875">
            <a:solidFill>
              <a:srgbClr val="F3F6F2"/>
            </a:solidFill>
            <a:prstDash val="solid"/>
          </a:ln>
        </p:spPr>
      </p:sp>
      <p:sp>
        <p:nvSpPr>
          <p:cNvPr id="16" name="Shape 13"/>
          <p:cNvSpPr/>
          <p:nvPr/>
        </p:nvSpPr>
        <p:spPr>
          <a:xfrm>
            <a:off x="8566150" y="3105150"/>
            <a:ext cx="139700" cy="139700"/>
          </a:xfrm>
          <a:prstGeom prst="ellipse">
            <a:avLst/>
          </a:prstGeom>
          <a:solidFill>
            <a:srgbClr val="FF6B5E"/>
          </a:solidFill>
          <a:ln w="15875">
            <a:solidFill>
              <a:srgbClr val="F3F6F2"/>
            </a:solidFill>
            <a:prstDash val="solid"/>
          </a:ln>
        </p:spPr>
      </p:sp>
      <p:sp>
        <p:nvSpPr>
          <p:cNvPr id="17" name="Shape 14"/>
          <p:cNvSpPr/>
          <p:nvPr/>
        </p:nvSpPr>
        <p:spPr>
          <a:xfrm>
            <a:off x="9124950" y="3930650"/>
            <a:ext cx="139700" cy="139700"/>
          </a:xfrm>
          <a:prstGeom prst="ellipse">
            <a:avLst/>
          </a:prstGeom>
          <a:solidFill>
            <a:srgbClr val="FF6B5E"/>
          </a:solidFill>
          <a:ln w="15875">
            <a:solidFill>
              <a:srgbClr val="F3F6F2"/>
            </a:solidFill>
            <a:prstDash val="solid"/>
          </a:ln>
        </p:spPr>
      </p:sp>
      <p:sp>
        <p:nvSpPr>
          <p:cNvPr id="18" name="Shape 15"/>
          <p:cNvSpPr/>
          <p:nvPr/>
        </p:nvSpPr>
        <p:spPr>
          <a:xfrm>
            <a:off x="9531350" y="3270250"/>
            <a:ext cx="139700" cy="139700"/>
          </a:xfrm>
          <a:prstGeom prst="ellipse">
            <a:avLst/>
          </a:prstGeom>
          <a:solidFill>
            <a:srgbClr val="FF6B5E"/>
          </a:solidFill>
          <a:ln w="15875">
            <a:solidFill>
              <a:srgbClr val="F3F6F2"/>
            </a:solidFill>
            <a:prstDash val="solid"/>
          </a:ln>
        </p:spPr>
      </p:sp>
      <p:sp>
        <p:nvSpPr>
          <p:cNvPr id="19" name="Shape 16"/>
          <p:cNvSpPr/>
          <p:nvPr/>
        </p:nvSpPr>
        <p:spPr>
          <a:xfrm>
            <a:off x="7867650" y="3321050"/>
            <a:ext cx="139700" cy="139700"/>
          </a:xfrm>
          <a:prstGeom prst="ellipse">
            <a:avLst/>
          </a:prstGeom>
          <a:solidFill>
            <a:srgbClr val="5B9BFF"/>
          </a:solidFill>
          <a:ln w="15875">
            <a:solidFill>
              <a:srgbClr val="F3F6F2"/>
            </a:solidFill>
            <a:prstDash val="solid"/>
          </a:ln>
        </p:spPr>
      </p:sp>
      <p:sp>
        <p:nvSpPr>
          <p:cNvPr id="20" name="Shape 17"/>
          <p:cNvSpPr/>
          <p:nvPr/>
        </p:nvSpPr>
        <p:spPr>
          <a:xfrm>
            <a:off x="8362950" y="2571750"/>
            <a:ext cx="139700" cy="139700"/>
          </a:xfrm>
          <a:prstGeom prst="ellipse">
            <a:avLst/>
          </a:prstGeom>
          <a:solidFill>
            <a:srgbClr val="5B9BFF"/>
          </a:solidFill>
          <a:ln w="15875">
            <a:solidFill>
              <a:srgbClr val="F3F6F2"/>
            </a:solidFill>
            <a:prstDash val="solid"/>
          </a:ln>
        </p:spPr>
      </p:sp>
      <p:sp>
        <p:nvSpPr>
          <p:cNvPr id="21" name="Shape 18"/>
          <p:cNvSpPr/>
          <p:nvPr/>
        </p:nvSpPr>
        <p:spPr>
          <a:xfrm>
            <a:off x="8896350" y="3524250"/>
            <a:ext cx="139700" cy="139700"/>
          </a:xfrm>
          <a:prstGeom prst="ellipse">
            <a:avLst/>
          </a:prstGeom>
          <a:solidFill>
            <a:srgbClr val="5B9BFF"/>
          </a:solidFill>
          <a:ln w="15875">
            <a:solidFill>
              <a:srgbClr val="F3F6F2"/>
            </a:solidFill>
            <a:prstDash val="solid"/>
          </a:ln>
        </p:spPr>
      </p:sp>
      <p:sp>
        <p:nvSpPr>
          <p:cNvPr id="22" name="Shape 19"/>
          <p:cNvSpPr/>
          <p:nvPr/>
        </p:nvSpPr>
        <p:spPr>
          <a:xfrm>
            <a:off x="9328150" y="2762250"/>
            <a:ext cx="139700" cy="139700"/>
          </a:xfrm>
          <a:prstGeom prst="ellipse">
            <a:avLst/>
          </a:prstGeom>
          <a:solidFill>
            <a:srgbClr val="5B9BFF"/>
          </a:solidFill>
          <a:ln w="15875">
            <a:solidFill>
              <a:srgbClr val="F3F6F2"/>
            </a:solidFill>
            <a:prstDash val="solid"/>
          </a:ln>
        </p:spPr>
      </p:sp>
      <p:sp>
        <p:nvSpPr>
          <p:cNvPr id="23" name="Shape 20"/>
          <p:cNvSpPr/>
          <p:nvPr/>
        </p:nvSpPr>
        <p:spPr>
          <a:xfrm>
            <a:off x="9836150" y="3740150"/>
            <a:ext cx="139700" cy="139700"/>
          </a:xfrm>
          <a:prstGeom prst="ellipse">
            <a:avLst/>
          </a:prstGeom>
          <a:solidFill>
            <a:srgbClr val="5B9BFF"/>
          </a:solidFill>
          <a:ln w="15875">
            <a:solidFill>
              <a:srgbClr val="F3F6F2"/>
            </a:solidFill>
            <a:prstDash val="solid"/>
          </a:ln>
        </p:spPr>
      </p:sp>
      <p:sp>
        <p:nvSpPr>
          <p:cNvPr id="24" name="Shape 21"/>
          <p:cNvSpPr/>
          <p:nvPr/>
        </p:nvSpPr>
        <p:spPr>
          <a:xfrm>
            <a:off x="8839200" y="3441700"/>
            <a:ext cx="266700" cy="304800"/>
          </a:xfrm>
          <a:prstGeom prst="rect">
            <a:avLst/>
          </a:prstGeom>
          <a:solidFill>
            <a:srgbClr val="0F241D">
              <a:alpha val="0"/>
            </a:srgbClr>
          </a:solidFill>
          <a:ln w="25400">
            <a:solidFill>
              <a:srgbClr val="FDE047"/>
            </a:solidFill>
            <a:prstDash val="solid"/>
          </a:ln>
        </p:spPr>
      </p:sp>
      <p:sp>
        <p:nvSpPr>
          <p:cNvPr id="25" name="Shape 22"/>
          <p:cNvSpPr/>
          <p:nvPr/>
        </p:nvSpPr>
        <p:spPr>
          <a:xfrm>
            <a:off x="8496300" y="3048000"/>
            <a:ext cx="266700" cy="304800"/>
          </a:xfrm>
          <a:prstGeom prst="rect">
            <a:avLst/>
          </a:prstGeom>
          <a:solidFill>
            <a:srgbClr val="0F241D">
              <a:alpha val="0"/>
            </a:srgbClr>
          </a:solidFill>
          <a:ln w="25400">
            <a:solidFill>
              <a:srgbClr val="FDE047"/>
            </a:solidFill>
            <a:prstDash val="solid"/>
          </a:ln>
        </p:spPr>
      </p:sp>
      <p:sp>
        <p:nvSpPr>
          <p:cNvPr id="26" name="Shape 23"/>
          <p:cNvSpPr/>
          <p:nvPr/>
        </p:nvSpPr>
        <p:spPr>
          <a:xfrm>
            <a:off x="9004300" y="3784600"/>
            <a:ext cx="101600" cy="101600"/>
          </a:xfrm>
          <a:prstGeom prst="ellipse">
            <a:avLst/>
          </a:prstGeom>
          <a:solidFill>
            <a:srgbClr val="F3F6F2"/>
          </a:solidFill>
          <a:ln w="25400">
            <a:solidFill>
              <a:srgbClr val="FDE047"/>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2"/>
        </a:solidFill>
      </p:bgPr>
    </p:bg>
    <p:spTree>
      <p:nvGrpSpPr>
        <p:cNvPr id="1" name=""/>
        <p:cNvGrpSpPr/>
        <p:nvPr/>
      </p:nvGrpSpPr>
      <p:grpSpPr>
        <a:xfrm>
          <a:off x="0" y="0"/>
          <a:ext cx="0" cy="0"/>
          <a:chOff x="0" y="0"/>
          <a:chExt cx="0" cy="0"/>
        </a:xfrm>
      </p:grpSpPr>
      <p:sp>
        <p:nvSpPr>
          <p:cNvPr id="3" name="Text 0"/>
          <p:cNvSpPr txBox="1"/>
          <p:nvPr/>
        </p:nvSpPr>
        <p:spPr>
          <a:xfrm>
            <a:off x="812800" y="711200"/>
            <a:ext cx="10566400" cy="215900"/>
          </a:xfrm>
          <a:prstGeom prst="rect">
            <a:avLst/>
          </a:prstGeom>
          <a:noFill/>
          <a:ln/>
        </p:spPr>
        <p:txBody>
          <a:bodyPr wrap="square" lIns="0" tIns="0" rIns="0" bIns="0" rtlCol="0" anchor="t"/>
          <a:lstStyle/>
          <a:p>
            <a:pPr indent="0" marL="0">
              <a:buNone/>
            </a:pPr>
            <a:r>
              <a:rPr lang="en-US" sz="1200" b="1" spc="200" kern="0" dirty="0">
                <a:solidFill>
                  <a:srgbClr val="0A7A5C"/>
                </a:solidFill>
                <a:latin typeface="Calibri" pitchFamily="34" charset="0"/>
                <a:ea typeface="Calibri" pitchFamily="34" charset="-122"/>
                <a:cs typeface="Calibri" pitchFamily="34" charset="-120"/>
              </a:rPr>
              <a:t>WHAT IT DOES</a:t>
            </a:r>
            <a:endParaRPr lang="en-US" sz="1200" dirty="0"/>
          </a:p>
        </p:txBody>
      </p:sp>
      <p:sp>
        <p:nvSpPr>
          <p:cNvPr id="4" name="Text 1"/>
          <p:cNvSpPr txBox="1"/>
          <p:nvPr/>
        </p:nvSpPr>
        <p:spPr>
          <a:xfrm>
            <a:off x="812800" y="965200"/>
            <a:ext cx="10566400" cy="571500"/>
          </a:xfrm>
          <a:prstGeom prst="rect">
            <a:avLst/>
          </a:prstGeom>
          <a:noFill/>
          <a:ln/>
        </p:spPr>
        <p:txBody>
          <a:bodyPr wrap="square" lIns="0" tIns="0" rIns="0" bIns="0" rtlCol="0" anchor="ctr"/>
          <a:lstStyle/>
          <a:p>
            <a:pPr indent="0" marL="0">
              <a:buNone/>
            </a:pPr>
            <a:r>
              <a:rPr lang="en-US" sz="2600" b="1" dirty="0">
                <a:solidFill>
                  <a:srgbClr val="16302A"/>
                </a:solidFill>
                <a:latin typeface="Arial" pitchFamily="34" charset="0"/>
                <a:ea typeface="Arial" pitchFamily="34" charset="-122"/>
                <a:cs typeface="Arial" pitchFamily="34" charset="-120"/>
              </a:rPr>
              <a:t>A broadcast match goes in. A profile of every player comes out.</a:t>
            </a:r>
            <a:endParaRPr lang="en-US" sz="2600" dirty="0"/>
          </a:p>
        </p:txBody>
      </p:sp>
      <p:sp>
        <p:nvSpPr>
          <p:cNvPr id="5" name="Text 2"/>
          <p:cNvSpPr txBox="1"/>
          <p:nvPr/>
        </p:nvSpPr>
        <p:spPr>
          <a:xfrm>
            <a:off x="812800" y="6254750"/>
            <a:ext cx="5715000" cy="190500"/>
          </a:xfrm>
          <a:prstGeom prst="rect">
            <a:avLst/>
          </a:prstGeom>
          <a:noFill/>
          <a:ln/>
        </p:spPr>
        <p:txBody>
          <a:bodyPr wrap="square" lIns="0" tIns="0" rIns="0" bIns="0" rtlCol="0" anchor="t"/>
          <a:lstStyle/>
          <a:p>
            <a:pPr indent="0" marL="0">
              <a:buNone/>
            </a:pPr>
            <a:r>
              <a:rPr lang="en-US" sz="1200" dirty="0">
                <a:solidFill>
                  <a:srgbClr val="4F6660"/>
                </a:solidFill>
                <a:latin typeface="Calibri" pitchFamily="34" charset="0"/>
                <a:ea typeface="Calibri" pitchFamily="34" charset="-122"/>
                <a:cs typeface="Calibri" pitchFamily="34" charset="-120"/>
              </a:rPr>
              <a:t>PitchProfile · AAI3001</a:t>
            </a:r>
            <a:endParaRPr lang="en-US" sz="1200" dirty="0"/>
          </a:p>
        </p:txBody>
      </p:sp>
      <p:sp>
        <p:nvSpPr>
          <p:cNvPr id="6" name="Text 3"/>
          <p:cNvSpPr txBox="1"/>
          <p:nvPr/>
        </p:nvSpPr>
        <p:spPr>
          <a:xfrm>
            <a:off x="10109200" y="6254750"/>
            <a:ext cx="1270000" cy="190500"/>
          </a:xfrm>
          <a:prstGeom prst="rect">
            <a:avLst/>
          </a:prstGeom>
          <a:noFill/>
          <a:ln/>
        </p:spPr>
        <p:txBody>
          <a:bodyPr wrap="square" lIns="0" tIns="0" rIns="0" bIns="0" rtlCol="0" anchor="t"/>
          <a:lstStyle/>
          <a:p>
            <a:pPr algn="r" indent="0" marL="0">
              <a:buNone/>
            </a:pPr>
            <a:r>
              <a:rPr lang="en-US" sz="1200" dirty="0">
                <a:solidFill>
                  <a:srgbClr val="4F6660"/>
                </a:solidFill>
                <a:latin typeface="Calibri" pitchFamily="34" charset="0"/>
                <a:ea typeface="Calibri" pitchFamily="34" charset="-122"/>
                <a:cs typeface="Calibri" pitchFamily="34" charset="-120"/>
              </a:rPr>
              <a:t>2</a:t>
            </a:r>
            <a:endParaRPr lang="en-US" sz="1200" dirty="0"/>
          </a:p>
        </p:txBody>
      </p:sp>
      <p:sp>
        <p:nvSpPr>
          <p:cNvPr id="7" name="Shape 4"/>
          <p:cNvSpPr/>
          <p:nvPr/>
        </p:nvSpPr>
        <p:spPr>
          <a:xfrm>
            <a:off x="812800" y="2095500"/>
            <a:ext cx="3403600" cy="1587500"/>
          </a:xfrm>
          <a:prstGeom prst="roundRect">
            <a:avLst>
              <a:gd name="adj" fmla="val 5760"/>
            </a:avLst>
          </a:prstGeom>
          <a:solidFill>
            <a:srgbClr val="FBFCFA"/>
          </a:solidFill>
          <a:ln w="9525">
            <a:solidFill>
              <a:srgbClr val="D5E1DA"/>
            </a:solidFill>
            <a:prstDash val="solid"/>
          </a:ln>
        </p:spPr>
      </p:sp>
      <p:sp>
        <p:nvSpPr>
          <p:cNvPr id="8" name="Text 5"/>
          <p:cNvSpPr txBox="1"/>
          <p:nvPr/>
        </p:nvSpPr>
        <p:spPr>
          <a:xfrm>
            <a:off x="1016000" y="2298700"/>
            <a:ext cx="2997200" cy="317500"/>
          </a:xfrm>
          <a:prstGeom prst="rect">
            <a:avLst/>
          </a:prstGeom>
          <a:noFill/>
          <a:ln/>
        </p:spPr>
        <p:txBody>
          <a:bodyPr wrap="square" lIns="0" tIns="0" rIns="0" bIns="0" rtlCol="0" anchor="t"/>
          <a:lstStyle/>
          <a:p>
            <a:pPr indent="0" marL="0">
              <a:buNone/>
            </a:pPr>
            <a:r>
              <a:rPr lang="en-US" sz="1800" b="1" dirty="0">
                <a:solidFill>
                  <a:srgbClr val="0A7A5C"/>
                </a:solidFill>
                <a:latin typeface="Arial" pitchFamily="34" charset="0"/>
                <a:ea typeface="Arial" pitchFamily="34" charset="-122"/>
                <a:cs typeface="Arial" pitchFamily="34" charset="-120"/>
              </a:rPr>
              <a:t>1 · Upload</a:t>
            </a:r>
            <a:endParaRPr lang="en-US" sz="1800" dirty="0"/>
          </a:p>
        </p:txBody>
      </p:sp>
      <p:sp>
        <p:nvSpPr>
          <p:cNvPr id="9" name="Text 6"/>
          <p:cNvSpPr txBox="1"/>
          <p:nvPr/>
        </p:nvSpPr>
        <p:spPr>
          <a:xfrm>
            <a:off x="1016000" y="2730500"/>
            <a:ext cx="2997200" cy="825500"/>
          </a:xfrm>
          <a:prstGeom prst="rect">
            <a:avLst/>
          </a:prstGeom>
          <a:noFill/>
          <a:ln/>
        </p:spPr>
        <p:txBody>
          <a:bodyPr wrap="square" lIns="0" tIns="0" rIns="0" bIns="0" rtlCol="0" anchor="t"/>
          <a:lstStyle/>
          <a:p>
            <a:pPr indent="0" marL="0">
              <a:buNone/>
            </a:pPr>
            <a:r>
              <a:rPr lang="en-US" sz="1500" dirty="0">
                <a:solidFill>
                  <a:srgbClr val="4F6660"/>
                </a:solidFill>
                <a:latin typeface="Calibri" pitchFamily="34" charset="0"/>
                <a:ea typeface="Calibri" pitchFamily="34" charset="-122"/>
                <a:cs typeface="Calibri" pitchFamily="34" charset="-120"/>
              </a:rPr>
              <a:t>Any broadcast match video, from 10 minutes up to a full half.</a:t>
            </a:r>
            <a:endParaRPr lang="en-US" sz="1500" dirty="0"/>
          </a:p>
        </p:txBody>
      </p:sp>
      <p:sp>
        <p:nvSpPr>
          <p:cNvPr id="10" name="Shape 7"/>
          <p:cNvSpPr/>
          <p:nvPr/>
        </p:nvSpPr>
        <p:spPr>
          <a:xfrm>
            <a:off x="4394200" y="2095500"/>
            <a:ext cx="3403600" cy="1587500"/>
          </a:xfrm>
          <a:prstGeom prst="roundRect">
            <a:avLst>
              <a:gd name="adj" fmla="val 5760"/>
            </a:avLst>
          </a:prstGeom>
          <a:solidFill>
            <a:srgbClr val="FBFCFA"/>
          </a:solidFill>
          <a:ln w="9525">
            <a:solidFill>
              <a:srgbClr val="D5E1DA"/>
            </a:solidFill>
            <a:prstDash val="solid"/>
          </a:ln>
        </p:spPr>
      </p:sp>
      <p:sp>
        <p:nvSpPr>
          <p:cNvPr id="11" name="Text 8"/>
          <p:cNvSpPr txBox="1"/>
          <p:nvPr/>
        </p:nvSpPr>
        <p:spPr>
          <a:xfrm>
            <a:off x="4597400" y="2298700"/>
            <a:ext cx="2997200" cy="317500"/>
          </a:xfrm>
          <a:prstGeom prst="rect">
            <a:avLst/>
          </a:prstGeom>
          <a:noFill/>
          <a:ln/>
        </p:spPr>
        <p:txBody>
          <a:bodyPr wrap="square" lIns="0" tIns="0" rIns="0" bIns="0" rtlCol="0" anchor="t"/>
          <a:lstStyle/>
          <a:p>
            <a:pPr indent="0" marL="0">
              <a:buNone/>
            </a:pPr>
            <a:r>
              <a:rPr lang="en-US" sz="1800" b="1" dirty="0">
                <a:solidFill>
                  <a:srgbClr val="0A7A5C"/>
                </a:solidFill>
                <a:latin typeface="Arial" pitchFamily="34" charset="0"/>
                <a:ea typeface="Arial" pitchFamily="34" charset="-122"/>
                <a:cs typeface="Arial" pitchFamily="34" charset="-120"/>
              </a:rPr>
              <a:t>2 · Analyse</a:t>
            </a:r>
            <a:endParaRPr lang="en-US" sz="1800" dirty="0"/>
          </a:p>
        </p:txBody>
      </p:sp>
      <p:sp>
        <p:nvSpPr>
          <p:cNvPr id="12" name="Text 9"/>
          <p:cNvSpPr txBox="1"/>
          <p:nvPr/>
        </p:nvSpPr>
        <p:spPr>
          <a:xfrm>
            <a:off x="4597400" y="2730500"/>
            <a:ext cx="2997200" cy="825500"/>
          </a:xfrm>
          <a:prstGeom prst="rect">
            <a:avLst/>
          </a:prstGeom>
          <a:noFill/>
          <a:ln/>
        </p:spPr>
        <p:txBody>
          <a:bodyPr wrap="square" lIns="0" tIns="0" rIns="0" bIns="0" rtlCol="0" anchor="t"/>
          <a:lstStyle/>
          <a:p>
            <a:pPr indent="0" marL="0">
              <a:buNone/>
            </a:pPr>
            <a:r>
              <a:rPr lang="en-US" sz="1500" dirty="0">
                <a:solidFill>
                  <a:srgbClr val="4F6660"/>
                </a:solidFill>
                <a:latin typeface="Calibri" pitchFamily="34" charset="0"/>
                <a:ea typeface="Calibri" pitchFamily="34" charset="-122"/>
                <a:cs typeface="Calibri" pitchFamily="34" charset="-120"/>
              </a:rPr>
              <a:t>Tracks every player, maps them onto the pitch and finds the events.</a:t>
            </a:r>
            <a:endParaRPr lang="en-US" sz="1500" dirty="0"/>
          </a:p>
        </p:txBody>
      </p:sp>
      <p:sp>
        <p:nvSpPr>
          <p:cNvPr id="13" name="Shape 10"/>
          <p:cNvSpPr/>
          <p:nvPr/>
        </p:nvSpPr>
        <p:spPr>
          <a:xfrm>
            <a:off x="7975600" y="2095500"/>
            <a:ext cx="3403600" cy="1587500"/>
          </a:xfrm>
          <a:prstGeom prst="roundRect">
            <a:avLst>
              <a:gd name="adj" fmla="val 5760"/>
            </a:avLst>
          </a:prstGeom>
          <a:solidFill>
            <a:srgbClr val="FBFCFA"/>
          </a:solidFill>
          <a:ln w="9525">
            <a:solidFill>
              <a:srgbClr val="D5E1DA"/>
            </a:solidFill>
            <a:prstDash val="solid"/>
          </a:ln>
        </p:spPr>
      </p:sp>
      <p:sp>
        <p:nvSpPr>
          <p:cNvPr id="14" name="Text 11"/>
          <p:cNvSpPr txBox="1"/>
          <p:nvPr/>
        </p:nvSpPr>
        <p:spPr>
          <a:xfrm>
            <a:off x="8178800" y="2298700"/>
            <a:ext cx="2997200" cy="317500"/>
          </a:xfrm>
          <a:prstGeom prst="rect">
            <a:avLst/>
          </a:prstGeom>
          <a:noFill/>
          <a:ln/>
        </p:spPr>
        <p:txBody>
          <a:bodyPr wrap="square" lIns="0" tIns="0" rIns="0" bIns="0" rtlCol="0" anchor="t"/>
          <a:lstStyle/>
          <a:p>
            <a:pPr indent="0" marL="0">
              <a:buNone/>
            </a:pPr>
            <a:r>
              <a:rPr lang="en-US" sz="1800" b="1" dirty="0">
                <a:solidFill>
                  <a:srgbClr val="0A7A5C"/>
                </a:solidFill>
                <a:latin typeface="Arial" pitchFamily="34" charset="0"/>
                <a:ea typeface="Arial" pitchFamily="34" charset="-122"/>
                <a:cs typeface="Arial" pitchFamily="34" charset="-120"/>
              </a:rPr>
              <a:t>3 · Report</a:t>
            </a:r>
            <a:endParaRPr lang="en-US" sz="1800" dirty="0"/>
          </a:p>
        </p:txBody>
      </p:sp>
      <p:sp>
        <p:nvSpPr>
          <p:cNvPr id="15" name="Text 12"/>
          <p:cNvSpPr txBox="1"/>
          <p:nvPr/>
        </p:nvSpPr>
        <p:spPr>
          <a:xfrm>
            <a:off x="8178800" y="2730500"/>
            <a:ext cx="2997200" cy="825500"/>
          </a:xfrm>
          <a:prstGeom prst="rect">
            <a:avLst/>
          </a:prstGeom>
          <a:noFill/>
          <a:ln/>
        </p:spPr>
        <p:txBody>
          <a:bodyPr wrap="square" lIns="0" tIns="0" rIns="0" bIns="0" rtlCol="0" anchor="t"/>
          <a:lstStyle/>
          <a:p>
            <a:pPr indent="0" marL="0">
              <a:buNone/>
            </a:pPr>
            <a:r>
              <a:rPr lang="en-US" sz="1500" dirty="0">
                <a:solidFill>
                  <a:srgbClr val="4F6660"/>
                </a:solidFill>
                <a:latin typeface="Calibri" pitchFamily="34" charset="0"/>
                <a:ea typeface="Calibri" pitchFamily="34" charset="-122"/>
                <a:cs typeface="Calibri" pitchFamily="34" charset="-120"/>
              </a:rPr>
              <a:t>Team comparison, per-player statistics, event maps and the tracking itself.</a:t>
            </a:r>
            <a:endParaRPr lang="en-US" sz="1500" dirty="0"/>
          </a:p>
        </p:txBody>
      </p:sp>
      <p:sp>
        <p:nvSpPr>
          <p:cNvPr id="16" name="Shape 13"/>
          <p:cNvSpPr/>
          <p:nvPr/>
        </p:nvSpPr>
        <p:spPr>
          <a:xfrm>
            <a:off x="812800" y="4127500"/>
            <a:ext cx="38100" cy="952500"/>
          </a:xfrm>
          <a:prstGeom prst="rect">
            <a:avLst/>
          </a:prstGeom>
          <a:solidFill>
            <a:srgbClr val="0A7A5C"/>
          </a:solidFill>
          <a:ln w="12700">
            <a:solidFill>
              <a:srgbClr val="0A7A5C"/>
            </a:solidFill>
            <a:prstDash val="solid"/>
          </a:ln>
        </p:spPr>
      </p:sp>
      <p:sp>
        <p:nvSpPr>
          <p:cNvPr id="17" name="Text 14"/>
          <p:cNvSpPr txBox="1"/>
          <p:nvPr/>
        </p:nvSpPr>
        <p:spPr>
          <a:xfrm>
            <a:off x="990600" y="4127500"/>
            <a:ext cx="2286000" cy="508000"/>
          </a:xfrm>
          <a:prstGeom prst="rect">
            <a:avLst/>
          </a:prstGeom>
          <a:noFill/>
          <a:ln/>
        </p:spPr>
        <p:txBody>
          <a:bodyPr wrap="square" lIns="0" tIns="0" rIns="0" bIns="0" rtlCol="0" anchor="t"/>
          <a:lstStyle/>
          <a:p>
            <a:pPr indent="0" marL="0">
              <a:buNone/>
            </a:pPr>
            <a:r>
              <a:rPr lang="en-US" sz="3200" b="1" dirty="0">
                <a:solidFill>
                  <a:srgbClr val="16302A"/>
                </a:solidFill>
                <a:latin typeface="Arial" pitchFamily="34" charset="0"/>
                <a:ea typeface="Arial" pitchFamily="34" charset="-122"/>
                <a:cs typeface="Arial" pitchFamily="34" charset="-120"/>
              </a:rPr>
              <a:t>36</a:t>
            </a:r>
            <a:endParaRPr lang="en-US" sz="3200" dirty="0"/>
          </a:p>
        </p:txBody>
      </p:sp>
      <p:sp>
        <p:nvSpPr>
          <p:cNvPr id="18" name="Text 15"/>
          <p:cNvSpPr txBox="1"/>
          <p:nvPr/>
        </p:nvSpPr>
        <p:spPr>
          <a:xfrm>
            <a:off x="990600" y="4667250"/>
            <a:ext cx="2286000" cy="444500"/>
          </a:xfrm>
          <a:prstGeom prst="rect">
            <a:avLst/>
          </a:prstGeom>
          <a:noFill/>
          <a:ln/>
        </p:spPr>
        <p:txBody>
          <a:bodyPr wrap="square" lIns="0" tIns="0" rIns="0" bIns="0" rtlCol="0" anchor="t"/>
          <a:lstStyle/>
          <a:p>
            <a:pPr indent="0" marL="0">
              <a:buNone/>
            </a:pPr>
            <a:r>
              <a:rPr lang="en-US" sz="1300" dirty="0">
                <a:solidFill>
                  <a:srgbClr val="4F6660"/>
                </a:solidFill>
                <a:latin typeface="Calibri" pitchFamily="34" charset="0"/>
                <a:ea typeface="Calibri" pitchFamily="34" charset="-122"/>
                <a:cs typeface="Calibri" pitchFamily="34" charset="-120"/>
              </a:rPr>
              <a:t>players profiled in the demo half</a:t>
            </a:r>
            <a:endParaRPr lang="en-US" sz="1300" dirty="0"/>
          </a:p>
        </p:txBody>
      </p:sp>
      <p:sp>
        <p:nvSpPr>
          <p:cNvPr id="19" name="Shape 16"/>
          <p:cNvSpPr/>
          <p:nvPr/>
        </p:nvSpPr>
        <p:spPr>
          <a:xfrm>
            <a:off x="3505200" y="4127500"/>
            <a:ext cx="38100" cy="952500"/>
          </a:xfrm>
          <a:prstGeom prst="rect">
            <a:avLst/>
          </a:prstGeom>
          <a:solidFill>
            <a:srgbClr val="0A7A5C"/>
          </a:solidFill>
          <a:ln w="12700">
            <a:solidFill>
              <a:srgbClr val="0A7A5C"/>
            </a:solidFill>
            <a:prstDash val="solid"/>
          </a:ln>
        </p:spPr>
      </p:sp>
      <p:sp>
        <p:nvSpPr>
          <p:cNvPr id="20" name="Text 17"/>
          <p:cNvSpPr txBox="1"/>
          <p:nvPr/>
        </p:nvSpPr>
        <p:spPr>
          <a:xfrm>
            <a:off x="3683000" y="4127500"/>
            <a:ext cx="2286000" cy="508000"/>
          </a:xfrm>
          <a:prstGeom prst="rect">
            <a:avLst/>
          </a:prstGeom>
          <a:noFill/>
          <a:ln/>
        </p:spPr>
        <p:txBody>
          <a:bodyPr wrap="square" lIns="0" tIns="0" rIns="0" bIns="0" rtlCol="0" anchor="t"/>
          <a:lstStyle/>
          <a:p>
            <a:pPr indent="0" marL="0">
              <a:buNone/>
            </a:pPr>
            <a:r>
              <a:rPr lang="en-US" sz="3200" b="1" dirty="0">
                <a:solidFill>
                  <a:srgbClr val="16302A"/>
                </a:solidFill>
                <a:latin typeface="Arial" pitchFamily="34" charset="0"/>
                <a:ea typeface="Arial" pitchFamily="34" charset="-122"/>
                <a:cs typeface="Arial" pitchFamily="34" charset="-120"/>
              </a:rPr>
              <a:t>1,202</a:t>
            </a:r>
            <a:endParaRPr lang="en-US" sz="3200" dirty="0"/>
          </a:p>
        </p:txBody>
      </p:sp>
      <p:sp>
        <p:nvSpPr>
          <p:cNvPr id="21" name="Text 18"/>
          <p:cNvSpPr txBox="1"/>
          <p:nvPr/>
        </p:nvSpPr>
        <p:spPr>
          <a:xfrm>
            <a:off x="3683000" y="4667250"/>
            <a:ext cx="2286000" cy="444500"/>
          </a:xfrm>
          <a:prstGeom prst="rect">
            <a:avLst/>
          </a:prstGeom>
          <a:noFill/>
          <a:ln/>
        </p:spPr>
        <p:txBody>
          <a:bodyPr wrap="square" lIns="0" tIns="0" rIns="0" bIns="0" rtlCol="0" anchor="t"/>
          <a:lstStyle/>
          <a:p>
            <a:pPr indent="0" marL="0">
              <a:buNone/>
            </a:pPr>
            <a:r>
              <a:rPr lang="en-US" sz="1300" dirty="0">
                <a:solidFill>
                  <a:srgbClr val="4F6660"/>
                </a:solidFill>
                <a:latin typeface="Calibri" pitchFamily="34" charset="0"/>
                <a:ea typeface="Calibri" pitchFamily="34" charset="-122"/>
                <a:cs typeface="Calibri" pitchFamily="34" charset="-120"/>
              </a:rPr>
              <a:t>events placed on the pitch</a:t>
            </a:r>
            <a:endParaRPr lang="en-US" sz="1300" dirty="0"/>
          </a:p>
        </p:txBody>
      </p:sp>
      <p:sp>
        <p:nvSpPr>
          <p:cNvPr id="22" name="Shape 19"/>
          <p:cNvSpPr/>
          <p:nvPr/>
        </p:nvSpPr>
        <p:spPr>
          <a:xfrm>
            <a:off x="6197600" y="4127500"/>
            <a:ext cx="38100" cy="952500"/>
          </a:xfrm>
          <a:prstGeom prst="rect">
            <a:avLst/>
          </a:prstGeom>
          <a:solidFill>
            <a:srgbClr val="0A7A5C"/>
          </a:solidFill>
          <a:ln w="12700">
            <a:solidFill>
              <a:srgbClr val="0A7A5C"/>
            </a:solidFill>
            <a:prstDash val="solid"/>
          </a:ln>
        </p:spPr>
      </p:sp>
      <p:sp>
        <p:nvSpPr>
          <p:cNvPr id="23" name="Text 20"/>
          <p:cNvSpPr txBox="1"/>
          <p:nvPr/>
        </p:nvSpPr>
        <p:spPr>
          <a:xfrm>
            <a:off x="6375400" y="4127500"/>
            <a:ext cx="2286000" cy="508000"/>
          </a:xfrm>
          <a:prstGeom prst="rect">
            <a:avLst/>
          </a:prstGeom>
          <a:noFill/>
          <a:ln/>
        </p:spPr>
        <p:txBody>
          <a:bodyPr wrap="square" lIns="0" tIns="0" rIns="0" bIns="0" rtlCol="0" anchor="t"/>
          <a:lstStyle/>
          <a:p>
            <a:pPr indent="0" marL="0">
              <a:buNone/>
            </a:pPr>
            <a:r>
              <a:rPr lang="en-US" sz="3200" b="1" dirty="0">
                <a:solidFill>
                  <a:srgbClr val="16302A"/>
                </a:solidFill>
                <a:latin typeface="Arial" pitchFamily="34" charset="0"/>
                <a:ea typeface="Arial" pitchFamily="34" charset="-122"/>
                <a:cs typeface="Arial" pitchFamily="34" charset="-120"/>
              </a:rPr>
              <a:t>90</a:t>
            </a:r>
            <a:endParaRPr lang="en-US" sz="3200" dirty="0"/>
          </a:p>
        </p:txBody>
      </p:sp>
      <p:sp>
        <p:nvSpPr>
          <p:cNvPr id="24" name="Text 21"/>
          <p:cNvSpPr txBox="1"/>
          <p:nvPr/>
        </p:nvSpPr>
        <p:spPr>
          <a:xfrm>
            <a:off x="6375400" y="4667250"/>
            <a:ext cx="2286000" cy="444500"/>
          </a:xfrm>
          <a:prstGeom prst="rect">
            <a:avLst/>
          </a:prstGeom>
          <a:noFill/>
          <a:ln/>
        </p:spPr>
        <p:txBody>
          <a:bodyPr wrap="square" lIns="0" tIns="0" rIns="0" bIns="0" rtlCol="0" anchor="t"/>
          <a:lstStyle/>
          <a:p>
            <a:pPr indent="0" marL="0">
              <a:buNone/>
            </a:pPr>
            <a:r>
              <a:rPr lang="en-US" sz="1300" dirty="0">
                <a:solidFill>
                  <a:srgbClr val="4F6660"/>
                </a:solidFill>
                <a:latin typeface="Calibri" pitchFamily="34" charset="0"/>
                <a:ea typeface="Calibri" pitchFamily="34" charset="-122"/>
                <a:cs typeface="Calibri" pitchFamily="34" charset="-120"/>
              </a:rPr>
              <a:t>statistics for each player</a:t>
            </a:r>
            <a:endParaRPr lang="en-US" sz="1300" dirty="0"/>
          </a:p>
        </p:txBody>
      </p:sp>
      <p:sp>
        <p:nvSpPr>
          <p:cNvPr id="25" name="Shape 22"/>
          <p:cNvSpPr/>
          <p:nvPr/>
        </p:nvSpPr>
        <p:spPr>
          <a:xfrm>
            <a:off x="8890000" y="4127500"/>
            <a:ext cx="38100" cy="952500"/>
          </a:xfrm>
          <a:prstGeom prst="rect">
            <a:avLst/>
          </a:prstGeom>
          <a:solidFill>
            <a:srgbClr val="0A7A5C"/>
          </a:solidFill>
          <a:ln w="12700">
            <a:solidFill>
              <a:srgbClr val="0A7A5C"/>
            </a:solidFill>
            <a:prstDash val="solid"/>
          </a:ln>
        </p:spPr>
      </p:sp>
      <p:sp>
        <p:nvSpPr>
          <p:cNvPr id="26" name="Text 23"/>
          <p:cNvSpPr txBox="1"/>
          <p:nvPr/>
        </p:nvSpPr>
        <p:spPr>
          <a:xfrm>
            <a:off x="9067800" y="4127500"/>
            <a:ext cx="2286000" cy="508000"/>
          </a:xfrm>
          <a:prstGeom prst="rect">
            <a:avLst/>
          </a:prstGeom>
          <a:noFill/>
          <a:ln/>
        </p:spPr>
        <p:txBody>
          <a:bodyPr wrap="square" lIns="0" tIns="0" rIns="0" bIns="0" rtlCol="0" anchor="t"/>
          <a:lstStyle/>
          <a:p>
            <a:pPr indent="0" marL="0">
              <a:buNone/>
            </a:pPr>
            <a:r>
              <a:rPr lang="en-US" sz="3200" b="1" dirty="0">
                <a:solidFill>
                  <a:srgbClr val="16302A"/>
                </a:solidFill>
                <a:latin typeface="Arial" pitchFamily="34" charset="0"/>
                <a:ea typeface="Arial" pitchFamily="34" charset="-122"/>
                <a:cs typeface="Arial" pitchFamily="34" charset="-120"/>
              </a:rPr>
              <a:t>33 min</a:t>
            </a:r>
            <a:endParaRPr lang="en-US" sz="3200" dirty="0"/>
          </a:p>
        </p:txBody>
      </p:sp>
      <p:sp>
        <p:nvSpPr>
          <p:cNvPr id="27" name="Text 24"/>
          <p:cNvSpPr txBox="1"/>
          <p:nvPr/>
        </p:nvSpPr>
        <p:spPr>
          <a:xfrm>
            <a:off x="9067800" y="4667250"/>
            <a:ext cx="2286000" cy="444500"/>
          </a:xfrm>
          <a:prstGeom prst="rect">
            <a:avLst/>
          </a:prstGeom>
          <a:noFill/>
          <a:ln/>
        </p:spPr>
        <p:txBody>
          <a:bodyPr wrap="square" lIns="0" tIns="0" rIns="0" bIns="0" rtlCol="0" anchor="t"/>
          <a:lstStyle/>
          <a:p>
            <a:pPr indent="0" marL="0">
              <a:buNone/>
            </a:pPr>
            <a:r>
              <a:rPr lang="en-US" sz="1300" dirty="0">
                <a:solidFill>
                  <a:srgbClr val="4F6660"/>
                </a:solidFill>
                <a:latin typeface="Calibri" pitchFamily="34" charset="0"/>
                <a:ea typeface="Calibri" pitchFamily="34" charset="-122"/>
                <a:cs typeface="Calibri" pitchFamily="34" charset="-120"/>
              </a:rPr>
              <a:t>to analyse a 45-minute half on one RTX 3090</a:t>
            </a:r>
            <a:endParaRPr lang="en-US" sz="1300" dirty="0"/>
          </a:p>
        </p:txBody>
      </p:sp>
      <p:sp>
        <p:nvSpPr>
          <p:cNvPr id="28" name="Text 25"/>
          <p:cNvSpPr txBox="1"/>
          <p:nvPr/>
        </p:nvSpPr>
        <p:spPr>
          <a:xfrm>
            <a:off x="6350000" y="6254750"/>
            <a:ext cx="3759200" cy="190500"/>
          </a:xfrm>
          <a:prstGeom prst="rect">
            <a:avLst/>
          </a:prstGeom>
          <a:noFill/>
          <a:ln/>
        </p:spPr>
        <p:txBody>
          <a:bodyPr wrap="square" lIns="0" tIns="0" rIns="0" bIns="0" rtlCol="0" anchor="t"/>
          <a:lstStyle/>
          <a:p>
            <a:pPr algn="r" indent="0" marL="0">
              <a:buNone/>
            </a:pPr>
            <a:r>
              <a:rPr lang="en-US" sz="1200" dirty="0">
                <a:solidFill>
                  <a:srgbClr val="4F6660"/>
                </a:solidFill>
                <a:latin typeface="Calibri" pitchFamily="34" charset="0"/>
                <a:ea typeface="Calibri" pitchFamily="34" charset="-122"/>
                <a:cs typeface="Calibri" pitchFamily="34" charset="-120"/>
              </a:rPr>
              <a:t>Demo match: Chelsea v Manchester United, 1st half</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6EFEA"/>
        </a:solidFill>
      </p:bgPr>
    </p:bg>
    <p:spTree>
      <p:nvGrpSpPr>
        <p:cNvPr id="1" name=""/>
        <p:cNvGrpSpPr/>
        <p:nvPr/>
      </p:nvGrpSpPr>
      <p:grpSpPr>
        <a:xfrm>
          <a:off x="0" y="0"/>
          <a:ext cx="0" cy="0"/>
          <a:chOff x="0" y="0"/>
          <a:chExt cx="0" cy="0"/>
        </a:xfrm>
      </p:grpSpPr>
      <p:sp>
        <p:nvSpPr>
          <p:cNvPr id="3" name="Text 0"/>
          <p:cNvSpPr txBox="1"/>
          <p:nvPr/>
        </p:nvSpPr>
        <p:spPr>
          <a:xfrm>
            <a:off x="812800" y="711200"/>
            <a:ext cx="10566400" cy="215900"/>
          </a:xfrm>
          <a:prstGeom prst="rect">
            <a:avLst/>
          </a:prstGeom>
          <a:noFill/>
          <a:ln/>
        </p:spPr>
        <p:txBody>
          <a:bodyPr wrap="square" lIns="0" tIns="0" rIns="0" bIns="0" rtlCol="0" anchor="t"/>
          <a:lstStyle/>
          <a:p>
            <a:pPr indent="0" marL="0">
              <a:buNone/>
            </a:pPr>
            <a:r>
              <a:rPr lang="en-US" sz="1200" b="1" spc="200" kern="0" dirty="0">
                <a:solidFill>
                  <a:srgbClr val="0A7A5C"/>
                </a:solidFill>
                <a:latin typeface="Calibri" pitchFamily="34" charset="0"/>
                <a:ea typeface="Calibri" pitchFamily="34" charset="-122"/>
                <a:cs typeface="Calibri" pitchFamily="34" charset="-120"/>
              </a:rPr>
              <a:t>WHAT YOU CAN DO IN THE APP</a:t>
            </a:r>
            <a:endParaRPr lang="en-US" sz="1200" dirty="0"/>
          </a:p>
        </p:txBody>
      </p:sp>
      <p:sp>
        <p:nvSpPr>
          <p:cNvPr id="4" name="Text 1"/>
          <p:cNvSpPr txBox="1"/>
          <p:nvPr/>
        </p:nvSpPr>
        <p:spPr>
          <a:xfrm>
            <a:off x="812800" y="965200"/>
            <a:ext cx="10566400" cy="571500"/>
          </a:xfrm>
          <a:prstGeom prst="rect">
            <a:avLst/>
          </a:prstGeom>
          <a:noFill/>
          <a:ln/>
        </p:spPr>
        <p:txBody>
          <a:bodyPr wrap="square" lIns="0" tIns="0" rIns="0" bIns="0" rtlCol="0" anchor="ctr"/>
          <a:lstStyle/>
          <a:p>
            <a:pPr indent="0" marL="0">
              <a:buNone/>
            </a:pPr>
            <a:r>
              <a:rPr lang="en-US" sz="3000" b="1" dirty="0">
                <a:solidFill>
                  <a:srgbClr val="16302A"/>
                </a:solidFill>
                <a:latin typeface="Arial" pitchFamily="34" charset="0"/>
                <a:ea typeface="Arial" pitchFamily="34" charset="-122"/>
                <a:cs typeface="Arial" pitchFamily="34" charset="-120"/>
              </a:rPr>
              <a:t>Six things the app gives you</a:t>
            </a:r>
            <a:endParaRPr lang="en-US" sz="3000" dirty="0"/>
          </a:p>
        </p:txBody>
      </p:sp>
      <p:sp>
        <p:nvSpPr>
          <p:cNvPr id="5" name="Text 2"/>
          <p:cNvSpPr txBox="1"/>
          <p:nvPr/>
        </p:nvSpPr>
        <p:spPr>
          <a:xfrm>
            <a:off x="812800" y="6254750"/>
            <a:ext cx="5715000" cy="190500"/>
          </a:xfrm>
          <a:prstGeom prst="rect">
            <a:avLst/>
          </a:prstGeom>
          <a:noFill/>
          <a:ln/>
        </p:spPr>
        <p:txBody>
          <a:bodyPr wrap="square" lIns="0" tIns="0" rIns="0" bIns="0" rtlCol="0" anchor="t"/>
          <a:lstStyle/>
          <a:p>
            <a:pPr indent="0" marL="0">
              <a:buNone/>
            </a:pPr>
            <a:r>
              <a:rPr lang="en-US" sz="1200" dirty="0">
                <a:solidFill>
                  <a:srgbClr val="4F6660"/>
                </a:solidFill>
                <a:latin typeface="Calibri" pitchFamily="34" charset="0"/>
                <a:ea typeface="Calibri" pitchFamily="34" charset="-122"/>
                <a:cs typeface="Calibri" pitchFamily="34" charset="-120"/>
              </a:rPr>
              <a:t>PitchProfile · AAI3001</a:t>
            </a:r>
            <a:endParaRPr lang="en-US" sz="1200" dirty="0"/>
          </a:p>
        </p:txBody>
      </p:sp>
      <p:sp>
        <p:nvSpPr>
          <p:cNvPr id="6" name="Text 3"/>
          <p:cNvSpPr txBox="1"/>
          <p:nvPr/>
        </p:nvSpPr>
        <p:spPr>
          <a:xfrm>
            <a:off x="10109200" y="6254750"/>
            <a:ext cx="1270000" cy="190500"/>
          </a:xfrm>
          <a:prstGeom prst="rect">
            <a:avLst/>
          </a:prstGeom>
          <a:noFill/>
          <a:ln/>
        </p:spPr>
        <p:txBody>
          <a:bodyPr wrap="square" lIns="0" tIns="0" rIns="0" bIns="0" rtlCol="0" anchor="t"/>
          <a:lstStyle/>
          <a:p>
            <a:pPr algn="r" indent="0" marL="0">
              <a:buNone/>
            </a:pPr>
            <a:r>
              <a:rPr lang="en-US" sz="1200" dirty="0">
                <a:solidFill>
                  <a:srgbClr val="4F6660"/>
                </a:solidFill>
                <a:latin typeface="Calibri" pitchFamily="34" charset="0"/>
                <a:ea typeface="Calibri" pitchFamily="34" charset="-122"/>
                <a:cs typeface="Calibri" pitchFamily="34" charset="-120"/>
              </a:rPr>
              <a:t>3</a:t>
            </a:r>
            <a:endParaRPr lang="en-US" sz="1200" dirty="0"/>
          </a:p>
        </p:txBody>
      </p:sp>
      <p:sp>
        <p:nvSpPr>
          <p:cNvPr id="7" name="Shape 4"/>
          <p:cNvSpPr/>
          <p:nvPr/>
        </p:nvSpPr>
        <p:spPr>
          <a:xfrm>
            <a:off x="812800" y="1905000"/>
            <a:ext cx="3403600" cy="1841500"/>
          </a:xfrm>
          <a:prstGeom prst="roundRect">
            <a:avLst>
              <a:gd name="adj" fmla="val 4966"/>
            </a:avLst>
          </a:prstGeom>
          <a:solidFill>
            <a:srgbClr val="FBFCFA"/>
          </a:solidFill>
          <a:ln w="9525">
            <a:solidFill>
              <a:srgbClr val="CBD9D1"/>
            </a:solidFill>
            <a:prstDash val="solid"/>
          </a:ln>
        </p:spPr>
      </p:sp>
      <p:sp>
        <p:nvSpPr>
          <p:cNvPr id="8" name="Text 5"/>
          <p:cNvSpPr txBox="1"/>
          <p:nvPr/>
        </p:nvSpPr>
        <p:spPr>
          <a:xfrm>
            <a:off x="990600" y="2070100"/>
            <a:ext cx="3048000" cy="317500"/>
          </a:xfrm>
          <a:prstGeom prst="rect">
            <a:avLst/>
          </a:prstGeom>
          <a:noFill/>
          <a:ln/>
        </p:spPr>
        <p:txBody>
          <a:bodyPr wrap="square" lIns="0" tIns="0" rIns="0" bIns="0" rtlCol="0" anchor="t"/>
          <a:lstStyle/>
          <a:p>
            <a:pPr indent="0" marL="0">
              <a:buNone/>
            </a:pPr>
            <a:r>
              <a:rPr lang="en-US" sz="1700" b="1" dirty="0">
                <a:solidFill>
                  <a:srgbClr val="16302A"/>
                </a:solidFill>
                <a:latin typeface="Arial" pitchFamily="34" charset="0"/>
                <a:ea typeface="Arial" pitchFamily="34" charset="-122"/>
                <a:cs typeface="Arial" pitchFamily="34" charset="-120"/>
              </a:rPr>
              <a:t>Upload and check</a:t>
            </a:r>
            <a:endParaRPr lang="en-US" sz="1700" dirty="0"/>
          </a:p>
        </p:txBody>
      </p:sp>
      <p:sp>
        <p:nvSpPr>
          <p:cNvPr id="9" name="Text 6"/>
          <p:cNvSpPr txBox="1"/>
          <p:nvPr/>
        </p:nvSpPr>
        <p:spPr>
          <a:xfrm>
            <a:off x="990600" y="2451100"/>
            <a:ext cx="3048000" cy="1206500"/>
          </a:xfrm>
          <a:prstGeom prst="rect">
            <a:avLst/>
          </a:prstGeom>
          <a:noFill/>
          <a:ln/>
        </p:spPr>
        <p:txBody>
          <a:bodyPr wrap="square" lIns="0" tIns="0" rIns="0" bIns="0" rtlCol="0" anchor="t"/>
          <a:lstStyle/>
          <a:p>
            <a:pPr indent="0" marL="0">
              <a:buNone/>
            </a:pPr>
            <a:r>
              <a:rPr lang="en-US" sz="1400" dirty="0">
                <a:solidFill>
                  <a:srgbClr val="4F6660"/>
                </a:solidFill>
                <a:latin typeface="Calibri" pitchFamily="34" charset="0"/>
                <a:ea typeface="Calibri" pitchFamily="34" charset="-122"/>
                <a:cs typeface="Calibri" pitchFamily="34" charset="-120"/>
              </a:rPr>
              <a:t>Length, resolution and format are checked. At least 10 minutes; a full half is best.</a:t>
            </a:r>
            <a:endParaRPr lang="en-US" sz="1400" dirty="0"/>
          </a:p>
        </p:txBody>
      </p:sp>
      <p:sp>
        <p:nvSpPr>
          <p:cNvPr id="10" name="Shape 7"/>
          <p:cNvSpPr/>
          <p:nvPr/>
        </p:nvSpPr>
        <p:spPr>
          <a:xfrm>
            <a:off x="4394200" y="1905000"/>
            <a:ext cx="3403600" cy="1841500"/>
          </a:xfrm>
          <a:prstGeom prst="roundRect">
            <a:avLst>
              <a:gd name="adj" fmla="val 4966"/>
            </a:avLst>
          </a:prstGeom>
          <a:solidFill>
            <a:srgbClr val="FBFCFA"/>
          </a:solidFill>
          <a:ln w="9525">
            <a:solidFill>
              <a:srgbClr val="CBD9D1"/>
            </a:solidFill>
            <a:prstDash val="solid"/>
          </a:ln>
        </p:spPr>
      </p:sp>
      <p:sp>
        <p:nvSpPr>
          <p:cNvPr id="11" name="Text 8"/>
          <p:cNvSpPr txBox="1"/>
          <p:nvPr/>
        </p:nvSpPr>
        <p:spPr>
          <a:xfrm>
            <a:off x="4572000" y="2070100"/>
            <a:ext cx="3048000" cy="317500"/>
          </a:xfrm>
          <a:prstGeom prst="rect">
            <a:avLst/>
          </a:prstGeom>
          <a:noFill/>
          <a:ln/>
        </p:spPr>
        <p:txBody>
          <a:bodyPr wrap="square" lIns="0" tIns="0" rIns="0" bIns="0" rtlCol="0" anchor="t"/>
          <a:lstStyle/>
          <a:p>
            <a:pPr indent="0" marL="0">
              <a:buNone/>
            </a:pPr>
            <a:r>
              <a:rPr lang="en-US" sz="1700" b="1" dirty="0">
                <a:solidFill>
                  <a:srgbClr val="16302A"/>
                </a:solidFill>
                <a:latin typeface="Arial" pitchFamily="34" charset="0"/>
                <a:ea typeface="Arial" pitchFamily="34" charset="-122"/>
                <a:cs typeface="Arial" pitchFamily="34" charset="-120"/>
              </a:rPr>
              <a:t>Match report</a:t>
            </a:r>
            <a:endParaRPr lang="en-US" sz="1700" dirty="0"/>
          </a:p>
        </p:txBody>
      </p:sp>
      <p:sp>
        <p:nvSpPr>
          <p:cNvPr id="12" name="Text 9"/>
          <p:cNvSpPr txBox="1"/>
          <p:nvPr/>
        </p:nvSpPr>
        <p:spPr>
          <a:xfrm>
            <a:off x="4572000" y="2451100"/>
            <a:ext cx="3048000" cy="1206500"/>
          </a:xfrm>
          <a:prstGeom prst="rect">
            <a:avLst/>
          </a:prstGeom>
          <a:noFill/>
          <a:ln/>
        </p:spPr>
        <p:txBody>
          <a:bodyPr wrap="square" lIns="0" tIns="0" rIns="0" bIns="0" rtlCol="0" anchor="t"/>
          <a:lstStyle/>
          <a:p>
            <a:pPr indent="0" marL="0">
              <a:buNone/>
            </a:pPr>
            <a:r>
              <a:rPr lang="en-US" sz="1400" dirty="0">
                <a:solidFill>
                  <a:srgbClr val="4F6660"/>
                </a:solidFill>
                <a:latin typeface="Calibri" pitchFamily="34" charset="0"/>
                <a:ea typeface="Calibri" pitchFamily="34" charset="-122"/>
                <a:cs typeface="Calibri" pitchFamily="34" charset="-120"/>
              </a:rPr>
              <a:t>Possession, passes, shots and pressures for both teams, plus standout players.</a:t>
            </a:r>
            <a:endParaRPr lang="en-US" sz="1400" dirty="0"/>
          </a:p>
        </p:txBody>
      </p:sp>
      <p:sp>
        <p:nvSpPr>
          <p:cNvPr id="13" name="Shape 10"/>
          <p:cNvSpPr/>
          <p:nvPr/>
        </p:nvSpPr>
        <p:spPr>
          <a:xfrm>
            <a:off x="7975600" y="1905000"/>
            <a:ext cx="3403600" cy="1841500"/>
          </a:xfrm>
          <a:prstGeom prst="roundRect">
            <a:avLst>
              <a:gd name="adj" fmla="val 4966"/>
            </a:avLst>
          </a:prstGeom>
          <a:solidFill>
            <a:srgbClr val="FBFCFA"/>
          </a:solidFill>
          <a:ln w="9525">
            <a:solidFill>
              <a:srgbClr val="CBD9D1"/>
            </a:solidFill>
            <a:prstDash val="solid"/>
          </a:ln>
        </p:spPr>
      </p:sp>
      <p:sp>
        <p:nvSpPr>
          <p:cNvPr id="14" name="Text 11"/>
          <p:cNvSpPr txBox="1"/>
          <p:nvPr/>
        </p:nvSpPr>
        <p:spPr>
          <a:xfrm>
            <a:off x="8153400" y="2070100"/>
            <a:ext cx="3048000" cy="317500"/>
          </a:xfrm>
          <a:prstGeom prst="rect">
            <a:avLst/>
          </a:prstGeom>
          <a:noFill/>
          <a:ln/>
        </p:spPr>
        <p:txBody>
          <a:bodyPr wrap="square" lIns="0" tIns="0" rIns="0" bIns="0" rtlCol="0" anchor="t"/>
          <a:lstStyle/>
          <a:p>
            <a:pPr indent="0" marL="0">
              <a:buNone/>
            </a:pPr>
            <a:r>
              <a:rPr lang="en-US" sz="1700" b="1" dirty="0">
                <a:solidFill>
                  <a:srgbClr val="16302A"/>
                </a:solidFill>
                <a:latin typeface="Arial" pitchFamily="34" charset="0"/>
                <a:ea typeface="Arial" pitchFamily="34" charset="-122"/>
                <a:cs typeface="Arial" pitchFamily="34" charset="-120"/>
              </a:rPr>
              <a:t>Player profiles</a:t>
            </a:r>
            <a:endParaRPr lang="en-US" sz="1700" dirty="0"/>
          </a:p>
        </p:txBody>
      </p:sp>
      <p:sp>
        <p:nvSpPr>
          <p:cNvPr id="15" name="Text 12"/>
          <p:cNvSpPr txBox="1"/>
          <p:nvPr/>
        </p:nvSpPr>
        <p:spPr>
          <a:xfrm>
            <a:off x="8153400" y="2451100"/>
            <a:ext cx="3048000" cy="1206500"/>
          </a:xfrm>
          <a:prstGeom prst="rect">
            <a:avLst/>
          </a:prstGeom>
          <a:noFill/>
          <a:ln/>
        </p:spPr>
        <p:txBody>
          <a:bodyPr wrap="square" lIns="0" tIns="0" rIns="0" bIns="0" rtlCol="0" anchor="t"/>
          <a:lstStyle/>
          <a:p>
            <a:pPr indent="0" marL="0">
              <a:buNone/>
            </a:pPr>
            <a:r>
              <a:rPr lang="en-US" sz="1400" dirty="0">
                <a:solidFill>
                  <a:srgbClr val="4F6660"/>
                </a:solidFill>
                <a:latin typeface="Calibri" pitchFamily="34" charset="0"/>
                <a:ea typeface="Calibri" pitchFamily="34" charset="-122"/>
                <a:cs typeface="Calibri" pitchFamily="34" charset="-120"/>
              </a:rPr>
              <a:t>Heatmap, distance, speed zones, passing, defending and off-ball runs for each player.</a:t>
            </a:r>
            <a:endParaRPr lang="en-US" sz="1400" dirty="0"/>
          </a:p>
        </p:txBody>
      </p:sp>
      <p:sp>
        <p:nvSpPr>
          <p:cNvPr id="16" name="Shape 13"/>
          <p:cNvSpPr/>
          <p:nvPr/>
        </p:nvSpPr>
        <p:spPr>
          <a:xfrm>
            <a:off x="812800" y="3924300"/>
            <a:ext cx="3403600" cy="1841500"/>
          </a:xfrm>
          <a:prstGeom prst="roundRect">
            <a:avLst>
              <a:gd name="adj" fmla="val 4966"/>
            </a:avLst>
          </a:prstGeom>
          <a:solidFill>
            <a:srgbClr val="FBFCFA"/>
          </a:solidFill>
          <a:ln w="9525">
            <a:solidFill>
              <a:srgbClr val="CBD9D1"/>
            </a:solidFill>
            <a:prstDash val="solid"/>
          </a:ln>
        </p:spPr>
      </p:sp>
      <p:sp>
        <p:nvSpPr>
          <p:cNvPr id="17" name="Text 14"/>
          <p:cNvSpPr txBox="1"/>
          <p:nvPr/>
        </p:nvSpPr>
        <p:spPr>
          <a:xfrm>
            <a:off x="990600" y="4089400"/>
            <a:ext cx="3048000" cy="317500"/>
          </a:xfrm>
          <a:prstGeom prst="rect">
            <a:avLst/>
          </a:prstGeom>
          <a:noFill/>
          <a:ln/>
        </p:spPr>
        <p:txBody>
          <a:bodyPr wrap="square" lIns="0" tIns="0" rIns="0" bIns="0" rtlCol="0" anchor="t"/>
          <a:lstStyle/>
          <a:p>
            <a:pPr indent="0" marL="0">
              <a:buNone/>
            </a:pPr>
            <a:r>
              <a:rPr lang="en-US" sz="1700" b="1" dirty="0">
                <a:solidFill>
                  <a:srgbClr val="16302A"/>
                </a:solidFill>
                <a:latin typeface="Arial" pitchFamily="34" charset="0"/>
                <a:ea typeface="Arial" pitchFamily="34" charset="-122"/>
                <a:cs typeface="Arial" pitchFamily="34" charset="-120"/>
              </a:rPr>
              <a:t>Event maps</a:t>
            </a:r>
            <a:endParaRPr lang="en-US" sz="1700" dirty="0"/>
          </a:p>
        </p:txBody>
      </p:sp>
      <p:sp>
        <p:nvSpPr>
          <p:cNvPr id="18" name="Text 15"/>
          <p:cNvSpPr txBox="1"/>
          <p:nvPr/>
        </p:nvSpPr>
        <p:spPr>
          <a:xfrm>
            <a:off x="990600" y="4470400"/>
            <a:ext cx="3048000" cy="1206500"/>
          </a:xfrm>
          <a:prstGeom prst="rect">
            <a:avLst/>
          </a:prstGeom>
          <a:noFill/>
          <a:ln/>
        </p:spPr>
        <p:txBody>
          <a:bodyPr wrap="square" lIns="0" tIns="0" rIns="0" bIns="0" rtlCol="0" anchor="t"/>
          <a:lstStyle/>
          <a:p>
            <a:pPr indent="0" marL="0">
              <a:buNone/>
            </a:pPr>
            <a:r>
              <a:rPr lang="en-US" sz="1400" dirty="0">
                <a:solidFill>
                  <a:srgbClr val="4F6660"/>
                </a:solidFill>
                <a:latin typeface="Calibri" pitchFamily="34" charset="0"/>
                <a:ea typeface="Calibri" pitchFamily="34" charset="-122"/>
                <a:cs typeface="Calibri" pitchFamily="34" charset="-120"/>
              </a:rPr>
              <a:t>Twelve event types as routes or heatmaps, filtered by team or player.</a:t>
            </a:r>
            <a:endParaRPr lang="en-US" sz="1400" dirty="0"/>
          </a:p>
        </p:txBody>
      </p:sp>
      <p:sp>
        <p:nvSpPr>
          <p:cNvPr id="19" name="Shape 16"/>
          <p:cNvSpPr/>
          <p:nvPr/>
        </p:nvSpPr>
        <p:spPr>
          <a:xfrm>
            <a:off x="4394200" y="3924300"/>
            <a:ext cx="3403600" cy="1841500"/>
          </a:xfrm>
          <a:prstGeom prst="roundRect">
            <a:avLst>
              <a:gd name="adj" fmla="val 4966"/>
            </a:avLst>
          </a:prstGeom>
          <a:solidFill>
            <a:srgbClr val="FBFCFA"/>
          </a:solidFill>
          <a:ln w="9525">
            <a:solidFill>
              <a:srgbClr val="CBD9D1"/>
            </a:solidFill>
            <a:prstDash val="solid"/>
          </a:ln>
        </p:spPr>
      </p:sp>
      <p:sp>
        <p:nvSpPr>
          <p:cNvPr id="20" name="Text 17"/>
          <p:cNvSpPr txBox="1"/>
          <p:nvPr/>
        </p:nvSpPr>
        <p:spPr>
          <a:xfrm>
            <a:off x="4572000" y="4089400"/>
            <a:ext cx="3048000" cy="317500"/>
          </a:xfrm>
          <a:prstGeom prst="rect">
            <a:avLst/>
          </a:prstGeom>
          <a:noFill/>
          <a:ln/>
        </p:spPr>
        <p:txBody>
          <a:bodyPr wrap="square" lIns="0" tIns="0" rIns="0" bIns="0" rtlCol="0" anchor="t"/>
          <a:lstStyle/>
          <a:p>
            <a:pPr indent="0" marL="0">
              <a:buNone/>
            </a:pPr>
            <a:r>
              <a:rPr lang="en-US" sz="1700" b="1" dirty="0">
                <a:solidFill>
                  <a:srgbClr val="16302A"/>
                </a:solidFill>
                <a:latin typeface="Arial" pitchFamily="34" charset="0"/>
                <a:ea typeface="Arial" pitchFamily="34" charset="-122"/>
                <a:cs typeface="Arial" pitchFamily="34" charset="-120"/>
              </a:rPr>
              <a:t>Live tracking</a:t>
            </a:r>
            <a:endParaRPr lang="en-US" sz="1700" dirty="0"/>
          </a:p>
        </p:txBody>
      </p:sp>
      <p:sp>
        <p:nvSpPr>
          <p:cNvPr id="21" name="Text 18"/>
          <p:cNvSpPr txBox="1"/>
          <p:nvPr/>
        </p:nvSpPr>
        <p:spPr>
          <a:xfrm>
            <a:off x="4572000" y="4470400"/>
            <a:ext cx="3048000" cy="1206500"/>
          </a:xfrm>
          <a:prstGeom prst="rect">
            <a:avLst/>
          </a:prstGeom>
          <a:noFill/>
          <a:ln/>
        </p:spPr>
        <p:txBody>
          <a:bodyPr wrap="square" lIns="0" tIns="0" rIns="0" bIns="0" rtlCol="0" anchor="t"/>
          <a:lstStyle/>
          <a:p>
            <a:pPr indent="0" marL="0">
              <a:buNone/>
            </a:pPr>
            <a:r>
              <a:rPr lang="en-US" sz="1400" dirty="0">
                <a:solidFill>
                  <a:srgbClr val="4F6660"/>
                </a:solidFill>
                <a:latin typeface="Calibri" pitchFamily="34" charset="0"/>
                <a:ea typeface="Calibri" pitchFamily="34" charset="-122"/>
                <a:cs typeface="Calibri" pitchFamily="34" charset="-120"/>
              </a:rPr>
              <a:t>The system’s boxes drawn over the original footage, beside the same players on the pitch.</a:t>
            </a:r>
            <a:endParaRPr lang="en-US" sz="1400" dirty="0"/>
          </a:p>
        </p:txBody>
      </p:sp>
      <p:sp>
        <p:nvSpPr>
          <p:cNvPr id="22" name="Shape 19"/>
          <p:cNvSpPr/>
          <p:nvPr/>
        </p:nvSpPr>
        <p:spPr>
          <a:xfrm>
            <a:off x="7975600" y="3924300"/>
            <a:ext cx="3403600" cy="1841500"/>
          </a:xfrm>
          <a:prstGeom prst="roundRect">
            <a:avLst>
              <a:gd name="adj" fmla="val 4966"/>
            </a:avLst>
          </a:prstGeom>
          <a:solidFill>
            <a:srgbClr val="FBFCFA"/>
          </a:solidFill>
          <a:ln w="9525">
            <a:solidFill>
              <a:srgbClr val="CBD9D1"/>
            </a:solidFill>
            <a:prstDash val="solid"/>
          </a:ln>
        </p:spPr>
      </p:sp>
      <p:sp>
        <p:nvSpPr>
          <p:cNvPr id="23" name="Text 20"/>
          <p:cNvSpPr txBox="1"/>
          <p:nvPr/>
        </p:nvSpPr>
        <p:spPr>
          <a:xfrm>
            <a:off x="8153400" y="4089400"/>
            <a:ext cx="3048000" cy="317500"/>
          </a:xfrm>
          <a:prstGeom prst="rect">
            <a:avLst/>
          </a:prstGeom>
          <a:noFill/>
          <a:ln/>
        </p:spPr>
        <p:txBody>
          <a:bodyPr wrap="square" lIns="0" tIns="0" rIns="0" bIns="0" rtlCol="0" anchor="t"/>
          <a:lstStyle/>
          <a:p>
            <a:pPr indent="0" marL="0">
              <a:buNone/>
            </a:pPr>
            <a:r>
              <a:rPr lang="en-US" sz="1700" b="1" dirty="0">
                <a:solidFill>
                  <a:srgbClr val="16302A"/>
                </a:solidFill>
                <a:latin typeface="Arial" pitchFamily="34" charset="0"/>
                <a:ea typeface="Arial" pitchFamily="34" charset="-122"/>
                <a:cs typeface="Arial" pitchFamily="34" charset="-120"/>
              </a:rPr>
              <a:t>Archetype profiling</a:t>
            </a:r>
            <a:endParaRPr lang="en-US" sz="1700" dirty="0"/>
          </a:p>
        </p:txBody>
      </p:sp>
      <p:sp>
        <p:nvSpPr>
          <p:cNvPr id="24" name="Text 21"/>
          <p:cNvSpPr txBox="1"/>
          <p:nvPr/>
        </p:nvSpPr>
        <p:spPr>
          <a:xfrm>
            <a:off x="8153400" y="4470400"/>
            <a:ext cx="3048000" cy="889000"/>
          </a:xfrm>
          <a:prstGeom prst="rect">
            <a:avLst/>
          </a:prstGeom>
          <a:noFill/>
          <a:ln/>
        </p:spPr>
        <p:txBody>
          <a:bodyPr wrap="square" lIns="0" tIns="0" rIns="0" bIns="0" rtlCol="0" anchor="t"/>
          <a:lstStyle/>
          <a:p>
            <a:pPr indent="0" marL="0">
              <a:buNone/>
            </a:pPr>
            <a:r>
              <a:rPr lang="en-US" sz="1400" dirty="0">
                <a:solidFill>
                  <a:srgbClr val="4F6660"/>
                </a:solidFill>
                <a:latin typeface="Calibri" pitchFamily="34" charset="0"/>
                <a:ea typeface="Calibri" pitchFamily="34" charset="-122"/>
                <a:cs typeface="Calibri" pitchFamily="34" charset="-120"/>
              </a:rPr>
              <a:t>Rate players against 42 roles; a semi-supervised model estimates the rest.</a:t>
            </a:r>
            <a:endParaRPr lang="en-US" sz="1400" dirty="0"/>
          </a:p>
        </p:txBody>
      </p:sp>
      <p:sp>
        <p:nvSpPr>
          <p:cNvPr id="25" name="Shape 22"/>
          <p:cNvSpPr/>
          <p:nvPr/>
        </p:nvSpPr>
        <p:spPr>
          <a:xfrm>
            <a:off x="8153400" y="5359400"/>
            <a:ext cx="2181860" cy="241300"/>
          </a:xfrm>
          <a:prstGeom prst="roundRect">
            <a:avLst>
              <a:gd name="adj" fmla="val 56842"/>
            </a:avLst>
          </a:prstGeom>
          <a:solidFill>
            <a:srgbClr val="FBE5C8"/>
          </a:solidFill>
          <a:ln w="6350">
            <a:solidFill>
              <a:srgbClr val="FBE5C8"/>
            </a:solidFill>
            <a:prstDash val="solid"/>
          </a:ln>
        </p:spPr>
      </p:sp>
      <p:sp>
        <p:nvSpPr>
          <p:cNvPr id="26" name="Text 23"/>
          <p:cNvSpPr txBox="1"/>
          <p:nvPr/>
        </p:nvSpPr>
        <p:spPr>
          <a:xfrm>
            <a:off x="8153400" y="5359400"/>
            <a:ext cx="2181860" cy="241300"/>
          </a:xfrm>
          <a:prstGeom prst="rect">
            <a:avLst/>
          </a:prstGeom>
          <a:noFill/>
          <a:ln/>
        </p:spPr>
        <p:txBody>
          <a:bodyPr wrap="square" lIns="0" tIns="0" rIns="0" bIns="0" rtlCol="0" anchor="ctr"/>
          <a:lstStyle/>
          <a:p>
            <a:pPr algn="ctr" indent="0" marL="0">
              <a:buNone/>
            </a:pPr>
            <a:r>
              <a:rPr lang="en-US" sz="1200" b="1" dirty="0">
                <a:solidFill>
                  <a:srgbClr val="7A3F05"/>
                </a:solidFill>
                <a:latin typeface="Calibri" pitchFamily="34" charset="0"/>
                <a:ea typeface="Calibri" pitchFamily="34" charset="-122"/>
                <a:cs typeface="Calibri" pitchFamily="34" charset="-120"/>
              </a:rPr>
              <a:t>Built, awaiting labels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6F2"/>
        </a:solidFill>
      </p:bgPr>
    </p:bg>
    <p:spTree>
      <p:nvGrpSpPr>
        <p:cNvPr id="1" name=""/>
        <p:cNvGrpSpPr/>
        <p:nvPr/>
      </p:nvGrpSpPr>
      <p:grpSpPr>
        <a:xfrm>
          <a:off x="0" y="0"/>
          <a:ext cx="0" cy="0"/>
          <a:chOff x="0" y="0"/>
          <a:chExt cx="0" cy="0"/>
        </a:xfrm>
      </p:grpSpPr>
      <p:sp>
        <p:nvSpPr>
          <p:cNvPr id="3" name="Text 0"/>
          <p:cNvSpPr txBox="1"/>
          <p:nvPr/>
        </p:nvSpPr>
        <p:spPr>
          <a:xfrm>
            <a:off x="812800" y="457200"/>
            <a:ext cx="10566400" cy="215900"/>
          </a:xfrm>
          <a:prstGeom prst="rect">
            <a:avLst/>
          </a:prstGeom>
          <a:noFill/>
          <a:ln/>
        </p:spPr>
        <p:txBody>
          <a:bodyPr wrap="square" lIns="0" tIns="0" rIns="0" bIns="0" rtlCol="0" anchor="t"/>
          <a:lstStyle/>
          <a:p>
            <a:pPr indent="0" marL="0">
              <a:buNone/>
            </a:pPr>
            <a:r>
              <a:rPr lang="en-US" sz="1200" b="1" spc="200" kern="0" dirty="0">
                <a:solidFill>
                  <a:srgbClr val="0A7A5C"/>
                </a:solidFill>
                <a:latin typeface="Calibri" pitchFamily="34" charset="0"/>
                <a:ea typeface="Calibri" pitchFamily="34" charset="-122"/>
                <a:cs typeface="Calibri" pitchFamily="34" charset="-120"/>
              </a:rPr>
              <a:t>HOW IT WORKS</a:t>
            </a:r>
            <a:endParaRPr lang="en-US" sz="1200" dirty="0"/>
          </a:p>
        </p:txBody>
      </p:sp>
      <p:sp>
        <p:nvSpPr>
          <p:cNvPr id="4" name="Text 1"/>
          <p:cNvSpPr txBox="1"/>
          <p:nvPr/>
        </p:nvSpPr>
        <p:spPr>
          <a:xfrm>
            <a:off x="812800" y="711200"/>
            <a:ext cx="10566400" cy="571500"/>
          </a:xfrm>
          <a:prstGeom prst="rect">
            <a:avLst/>
          </a:prstGeom>
          <a:noFill/>
          <a:ln/>
        </p:spPr>
        <p:txBody>
          <a:bodyPr wrap="square" lIns="0" tIns="0" rIns="0" bIns="0" rtlCol="0" anchor="ctr"/>
          <a:lstStyle/>
          <a:p>
            <a:pPr indent="0" marL="0">
              <a:buNone/>
            </a:pPr>
            <a:r>
              <a:rPr lang="en-US" sz="3000" b="1" dirty="0">
                <a:solidFill>
                  <a:srgbClr val="16302A"/>
                </a:solidFill>
                <a:latin typeface="Arial" pitchFamily="34" charset="0"/>
                <a:ea typeface="Arial" pitchFamily="34" charset="-122"/>
                <a:cs typeface="Arial" pitchFamily="34" charset="-120"/>
              </a:rPr>
              <a:t>The whole pipeline: video in, statistics out</a:t>
            </a:r>
            <a:endParaRPr lang="en-US" sz="3000" dirty="0"/>
          </a:p>
        </p:txBody>
      </p:sp>
      <p:sp>
        <p:nvSpPr>
          <p:cNvPr id="5" name="Text 2"/>
          <p:cNvSpPr txBox="1"/>
          <p:nvPr/>
        </p:nvSpPr>
        <p:spPr>
          <a:xfrm>
            <a:off x="812800" y="6254750"/>
            <a:ext cx="5715000" cy="190500"/>
          </a:xfrm>
          <a:prstGeom prst="rect">
            <a:avLst/>
          </a:prstGeom>
          <a:noFill/>
          <a:ln/>
        </p:spPr>
        <p:txBody>
          <a:bodyPr wrap="square" lIns="0" tIns="0" rIns="0" bIns="0" rtlCol="0" anchor="t"/>
          <a:lstStyle/>
          <a:p>
            <a:pPr indent="0" marL="0">
              <a:buNone/>
            </a:pPr>
            <a:r>
              <a:rPr lang="en-US" sz="1200" dirty="0">
                <a:solidFill>
                  <a:srgbClr val="4F6660"/>
                </a:solidFill>
                <a:latin typeface="Calibri" pitchFamily="34" charset="0"/>
                <a:ea typeface="Calibri" pitchFamily="34" charset="-122"/>
                <a:cs typeface="Calibri" pitchFamily="34" charset="-120"/>
              </a:rPr>
              <a:t>PitchProfile · AAI3001</a:t>
            </a:r>
            <a:endParaRPr lang="en-US" sz="1200" dirty="0"/>
          </a:p>
        </p:txBody>
      </p:sp>
      <p:sp>
        <p:nvSpPr>
          <p:cNvPr id="6" name="Text 3"/>
          <p:cNvSpPr txBox="1"/>
          <p:nvPr/>
        </p:nvSpPr>
        <p:spPr>
          <a:xfrm>
            <a:off x="10109200" y="6254750"/>
            <a:ext cx="1270000" cy="190500"/>
          </a:xfrm>
          <a:prstGeom prst="rect">
            <a:avLst/>
          </a:prstGeom>
          <a:noFill/>
          <a:ln/>
        </p:spPr>
        <p:txBody>
          <a:bodyPr wrap="square" lIns="0" tIns="0" rIns="0" bIns="0" rtlCol="0" anchor="t"/>
          <a:lstStyle/>
          <a:p>
            <a:pPr algn="r" indent="0" marL="0">
              <a:buNone/>
            </a:pPr>
            <a:r>
              <a:rPr lang="en-US" sz="1200" dirty="0">
                <a:solidFill>
                  <a:srgbClr val="4F6660"/>
                </a:solidFill>
                <a:latin typeface="Calibri" pitchFamily="34" charset="0"/>
                <a:ea typeface="Calibri" pitchFamily="34" charset="-122"/>
                <a:cs typeface="Calibri" pitchFamily="34" charset="-120"/>
              </a:rPr>
              <a:t>4</a:t>
            </a:r>
            <a:endParaRPr lang="en-US" sz="1200" dirty="0"/>
          </a:p>
        </p:txBody>
      </p:sp>
      <p:sp>
        <p:nvSpPr>
          <p:cNvPr id="7" name="Shape 4"/>
          <p:cNvSpPr/>
          <p:nvPr/>
        </p:nvSpPr>
        <p:spPr>
          <a:xfrm>
            <a:off x="812800" y="1447800"/>
            <a:ext cx="114300" cy="114300"/>
          </a:xfrm>
          <a:prstGeom prst="ellipse">
            <a:avLst/>
          </a:prstGeom>
          <a:solidFill>
            <a:srgbClr val="1D4F9F"/>
          </a:solidFill>
          <a:ln w="12700">
            <a:solidFill>
              <a:srgbClr val="1D4F9F"/>
            </a:solidFill>
            <a:prstDash val="solid"/>
          </a:ln>
        </p:spPr>
      </p:sp>
      <p:sp>
        <p:nvSpPr>
          <p:cNvPr id="8" name="Text 5"/>
          <p:cNvSpPr txBox="1"/>
          <p:nvPr/>
        </p:nvSpPr>
        <p:spPr>
          <a:xfrm>
            <a:off x="990600" y="1409700"/>
            <a:ext cx="1270000" cy="190500"/>
          </a:xfrm>
          <a:prstGeom prst="rect">
            <a:avLst/>
          </a:prstGeom>
          <a:noFill/>
          <a:ln/>
        </p:spPr>
        <p:txBody>
          <a:bodyPr wrap="square" lIns="0" tIns="0" rIns="0" bIns="0" rtlCol="0" anchor="ctr"/>
          <a:lstStyle/>
          <a:p>
            <a:pPr indent="0" marL="0">
              <a:buNone/>
            </a:pPr>
            <a:r>
              <a:rPr lang="en-US" sz="1200" dirty="0">
                <a:solidFill>
                  <a:srgbClr val="4F6660"/>
                </a:solidFill>
                <a:latin typeface="Calibri" pitchFamily="34" charset="0"/>
                <a:ea typeface="Calibri" pitchFamily="34" charset="-122"/>
                <a:cs typeface="Calibri" pitchFamily="34" charset="-120"/>
              </a:rPr>
              <a:t>Pretrained</a:t>
            </a:r>
            <a:endParaRPr lang="en-US" sz="1200" dirty="0"/>
          </a:p>
        </p:txBody>
      </p:sp>
      <p:sp>
        <p:nvSpPr>
          <p:cNvPr id="9" name="Shape 6"/>
          <p:cNvSpPr/>
          <p:nvPr/>
        </p:nvSpPr>
        <p:spPr>
          <a:xfrm>
            <a:off x="2400300" y="1447800"/>
            <a:ext cx="114300" cy="114300"/>
          </a:xfrm>
          <a:prstGeom prst="ellipse">
            <a:avLst/>
          </a:prstGeom>
          <a:solidFill>
            <a:srgbClr val="07573F"/>
          </a:solidFill>
          <a:ln w="12700">
            <a:solidFill>
              <a:srgbClr val="07573F"/>
            </a:solidFill>
            <a:prstDash val="solid"/>
          </a:ln>
        </p:spPr>
      </p:sp>
      <p:sp>
        <p:nvSpPr>
          <p:cNvPr id="10" name="Text 7"/>
          <p:cNvSpPr txBox="1"/>
          <p:nvPr/>
        </p:nvSpPr>
        <p:spPr>
          <a:xfrm>
            <a:off x="2578100" y="1409700"/>
            <a:ext cx="1270000" cy="190500"/>
          </a:xfrm>
          <a:prstGeom prst="rect">
            <a:avLst/>
          </a:prstGeom>
          <a:noFill/>
          <a:ln/>
        </p:spPr>
        <p:txBody>
          <a:bodyPr wrap="square" lIns="0" tIns="0" rIns="0" bIns="0" rtlCol="0" anchor="ctr"/>
          <a:lstStyle/>
          <a:p>
            <a:pPr indent="0" marL="0">
              <a:buNone/>
            </a:pPr>
            <a:r>
              <a:rPr lang="en-US" sz="1200" dirty="0">
                <a:solidFill>
                  <a:srgbClr val="4F6660"/>
                </a:solidFill>
                <a:latin typeface="Calibri" pitchFamily="34" charset="0"/>
                <a:ea typeface="Calibri" pitchFamily="34" charset="-122"/>
                <a:cs typeface="Calibri" pitchFamily="34" charset="-120"/>
              </a:rPr>
              <a:t>Trained here</a:t>
            </a:r>
            <a:endParaRPr lang="en-US" sz="1200" dirty="0"/>
          </a:p>
        </p:txBody>
      </p:sp>
      <p:sp>
        <p:nvSpPr>
          <p:cNvPr id="11" name="Shape 8"/>
          <p:cNvSpPr/>
          <p:nvPr/>
        </p:nvSpPr>
        <p:spPr>
          <a:xfrm>
            <a:off x="3987800" y="1447800"/>
            <a:ext cx="114300" cy="114300"/>
          </a:xfrm>
          <a:prstGeom prst="ellipse">
            <a:avLst/>
          </a:prstGeom>
          <a:solidFill>
            <a:srgbClr val="4F6660"/>
          </a:solidFill>
          <a:ln w="12700">
            <a:solidFill>
              <a:srgbClr val="4F6660"/>
            </a:solidFill>
            <a:prstDash val="solid"/>
          </a:ln>
        </p:spPr>
      </p:sp>
      <p:sp>
        <p:nvSpPr>
          <p:cNvPr id="12" name="Text 9"/>
          <p:cNvSpPr txBox="1"/>
          <p:nvPr/>
        </p:nvSpPr>
        <p:spPr>
          <a:xfrm>
            <a:off x="4165600" y="1409700"/>
            <a:ext cx="1270000" cy="190500"/>
          </a:xfrm>
          <a:prstGeom prst="rect">
            <a:avLst/>
          </a:prstGeom>
          <a:noFill/>
          <a:ln/>
        </p:spPr>
        <p:txBody>
          <a:bodyPr wrap="square" lIns="0" tIns="0" rIns="0" bIns="0" rtlCol="0" anchor="ctr"/>
          <a:lstStyle/>
          <a:p>
            <a:pPr indent="0" marL="0">
              <a:buNone/>
            </a:pPr>
            <a:r>
              <a:rPr lang="en-US" sz="1200" dirty="0">
                <a:solidFill>
                  <a:srgbClr val="4F6660"/>
                </a:solidFill>
                <a:latin typeface="Calibri" pitchFamily="34" charset="0"/>
                <a:ea typeface="Calibri" pitchFamily="34" charset="-122"/>
                <a:cs typeface="Calibri" pitchFamily="34" charset="-120"/>
              </a:rPr>
              <a:t>Not learned</a:t>
            </a:r>
            <a:endParaRPr lang="en-US" sz="1200" dirty="0"/>
          </a:p>
        </p:txBody>
      </p:sp>
      <p:sp>
        <p:nvSpPr>
          <p:cNvPr id="13" name="Text 10"/>
          <p:cNvSpPr txBox="1"/>
          <p:nvPr/>
        </p:nvSpPr>
        <p:spPr>
          <a:xfrm>
            <a:off x="812800" y="1746250"/>
            <a:ext cx="5080000" cy="177800"/>
          </a:xfrm>
          <a:prstGeom prst="rect">
            <a:avLst/>
          </a:prstGeom>
          <a:noFill/>
          <a:ln/>
        </p:spPr>
        <p:txBody>
          <a:bodyPr wrap="square" lIns="0" tIns="0" rIns="0" bIns="0" rtlCol="0" anchor="t"/>
          <a:lstStyle/>
          <a:p>
            <a:pPr indent="0" marL="0">
              <a:buNone/>
            </a:pPr>
            <a:r>
              <a:rPr lang="en-US" sz="1100" b="1" spc="150" kern="0" dirty="0">
                <a:solidFill>
                  <a:srgbClr val="0A7A5C"/>
                </a:solidFill>
                <a:latin typeface="Calibri" pitchFamily="34" charset="0"/>
                <a:ea typeface="Calibri" pitchFamily="34" charset="-122"/>
                <a:cs typeface="Calibri" pitchFamily="34" charset="-120"/>
              </a:rPr>
              <a:t>A · SEE THE PITCH</a:t>
            </a:r>
            <a:endParaRPr lang="en-US" sz="1100" dirty="0"/>
          </a:p>
        </p:txBody>
      </p:sp>
      <p:sp>
        <p:nvSpPr>
          <p:cNvPr id="14" name="Shape 11"/>
          <p:cNvSpPr/>
          <p:nvPr/>
        </p:nvSpPr>
        <p:spPr>
          <a:xfrm>
            <a:off x="812800" y="1949450"/>
            <a:ext cx="2374900" cy="1270000"/>
          </a:xfrm>
          <a:prstGeom prst="roundRect">
            <a:avLst>
              <a:gd name="adj" fmla="val 7200"/>
            </a:avLst>
          </a:prstGeom>
          <a:solidFill>
            <a:srgbClr val="FBFCFA"/>
          </a:solidFill>
          <a:ln w="9525">
            <a:solidFill>
              <a:srgbClr val="D5E1DA"/>
            </a:solidFill>
            <a:prstDash val="solid"/>
          </a:ln>
        </p:spPr>
      </p:sp>
      <p:sp>
        <p:nvSpPr>
          <p:cNvPr id="15" name="Shape 12"/>
          <p:cNvSpPr/>
          <p:nvPr/>
        </p:nvSpPr>
        <p:spPr>
          <a:xfrm>
            <a:off x="939800" y="2051050"/>
            <a:ext cx="254000" cy="254000"/>
          </a:xfrm>
          <a:prstGeom prst="ellipse">
            <a:avLst/>
          </a:prstGeom>
          <a:solidFill>
            <a:srgbClr val="0F241D"/>
          </a:solidFill>
          <a:ln w="6350">
            <a:solidFill>
              <a:srgbClr val="0F241D"/>
            </a:solidFill>
            <a:prstDash val="solid"/>
          </a:ln>
        </p:spPr>
      </p:sp>
      <p:sp>
        <p:nvSpPr>
          <p:cNvPr id="16" name="Text 13"/>
          <p:cNvSpPr txBox="1"/>
          <p:nvPr/>
        </p:nvSpPr>
        <p:spPr>
          <a:xfrm>
            <a:off x="939800" y="2051050"/>
            <a:ext cx="254000" cy="254000"/>
          </a:xfrm>
          <a:prstGeom prst="rect">
            <a:avLst/>
          </a:prstGeom>
          <a:noFill/>
          <a:ln/>
        </p:spPr>
        <p:txBody>
          <a:bodyPr wrap="square" lIns="0" tIns="0" rIns="0" bIns="0" rtlCol="0" anchor="ctr"/>
          <a:lstStyle/>
          <a:p>
            <a:pPr algn="ctr" indent="0" marL="0">
              <a:buNone/>
            </a:pPr>
            <a:r>
              <a:rPr lang="en-US" sz="1100" b="1" dirty="0">
                <a:solidFill>
                  <a:srgbClr val="8CE3B6"/>
                </a:solidFill>
                <a:latin typeface="Calibri" pitchFamily="34" charset="0"/>
                <a:ea typeface="Calibri" pitchFamily="34" charset="-122"/>
                <a:cs typeface="Calibri" pitchFamily="34" charset="-120"/>
              </a:rPr>
              <a:t>1</a:t>
            </a:r>
            <a:endParaRPr lang="en-US" sz="1100" dirty="0"/>
          </a:p>
        </p:txBody>
      </p:sp>
      <p:sp>
        <p:nvSpPr>
          <p:cNvPr id="17" name="Text 14"/>
          <p:cNvSpPr txBox="1"/>
          <p:nvPr/>
        </p:nvSpPr>
        <p:spPr>
          <a:xfrm>
            <a:off x="1270000" y="2051050"/>
            <a:ext cx="1816100" cy="254000"/>
          </a:xfrm>
          <a:prstGeom prst="rect">
            <a:avLst/>
          </a:prstGeom>
          <a:noFill/>
          <a:ln/>
        </p:spPr>
        <p:txBody>
          <a:bodyPr wrap="square" lIns="0" tIns="0" rIns="0" bIns="0" rtlCol="0" anchor="ctr"/>
          <a:lstStyle/>
          <a:p>
            <a:pPr indent="0" marL="0">
              <a:buNone/>
            </a:pPr>
            <a:r>
              <a:rPr lang="en-US" sz="1500" b="1" dirty="0">
                <a:solidFill>
                  <a:srgbClr val="16302A"/>
                </a:solidFill>
                <a:latin typeface="Arial" pitchFamily="34" charset="0"/>
                <a:ea typeface="Arial" pitchFamily="34" charset="-122"/>
                <a:cs typeface="Arial" pitchFamily="34" charset="-120"/>
              </a:rPr>
              <a:t>Sample</a:t>
            </a:r>
            <a:endParaRPr lang="en-US" sz="1500" dirty="0"/>
          </a:p>
        </p:txBody>
      </p:sp>
      <p:sp>
        <p:nvSpPr>
          <p:cNvPr id="18" name="Text 15"/>
          <p:cNvSpPr txBox="1"/>
          <p:nvPr/>
        </p:nvSpPr>
        <p:spPr>
          <a:xfrm>
            <a:off x="939800" y="2393950"/>
            <a:ext cx="2120900" cy="381000"/>
          </a:xfrm>
          <a:prstGeom prst="rect">
            <a:avLst/>
          </a:prstGeom>
          <a:noFill/>
          <a:ln/>
        </p:spPr>
        <p:txBody>
          <a:bodyPr wrap="square" lIns="0" tIns="0" rIns="0" bIns="0" rtlCol="0" anchor="t"/>
          <a:lstStyle/>
          <a:p>
            <a:pPr indent="0" marL="0">
              <a:buNone/>
            </a:pPr>
            <a:r>
              <a:rPr lang="en-US" sz="1200" dirty="0">
                <a:solidFill>
                  <a:srgbClr val="4F6660"/>
                </a:solidFill>
                <a:latin typeface="Calibri" pitchFamily="34" charset="0"/>
                <a:ea typeface="Calibri" pitchFamily="34" charset="-122"/>
                <a:cs typeface="Calibri" pitchFamily="34" charset="-120"/>
              </a:rPr>
              <a:t>12.5 frames per second from 25 fps video</a:t>
            </a:r>
            <a:endParaRPr lang="en-US" sz="1200" dirty="0"/>
          </a:p>
        </p:txBody>
      </p:sp>
      <p:sp>
        <p:nvSpPr>
          <p:cNvPr id="19" name="Shape 16"/>
          <p:cNvSpPr/>
          <p:nvPr/>
        </p:nvSpPr>
        <p:spPr>
          <a:xfrm>
            <a:off x="939800" y="2863850"/>
            <a:ext cx="1276350" cy="215900"/>
          </a:xfrm>
          <a:prstGeom prst="roundRect">
            <a:avLst>
              <a:gd name="adj" fmla="val 63529"/>
            </a:avLst>
          </a:prstGeom>
          <a:solidFill>
            <a:srgbClr val="E4E9E6"/>
          </a:solidFill>
          <a:ln w="6350">
            <a:solidFill>
              <a:srgbClr val="E4E9E6"/>
            </a:solidFill>
            <a:prstDash val="solid"/>
          </a:ln>
        </p:spPr>
      </p:sp>
      <p:sp>
        <p:nvSpPr>
          <p:cNvPr id="20" name="Text 17"/>
          <p:cNvSpPr txBox="1"/>
          <p:nvPr/>
        </p:nvSpPr>
        <p:spPr>
          <a:xfrm>
            <a:off x="939800" y="2863850"/>
            <a:ext cx="1276350" cy="215900"/>
          </a:xfrm>
          <a:prstGeom prst="rect">
            <a:avLst/>
          </a:prstGeom>
          <a:noFill/>
          <a:ln/>
        </p:spPr>
        <p:txBody>
          <a:bodyPr wrap="square" lIns="0" tIns="0" rIns="0" bIns="0" rtlCol="0" anchor="ctr"/>
          <a:lstStyle/>
          <a:p>
            <a:pPr algn="ctr" indent="0" marL="0">
              <a:buNone/>
            </a:pPr>
            <a:r>
              <a:rPr lang="en-US" sz="1000" b="1" dirty="0">
                <a:solidFill>
                  <a:srgbClr val="4F6660"/>
                </a:solidFill>
                <a:latin typeface="Calibri" pitchFamily="34" charset="0"/>
                <a:ea typeface="Calibri" pitchFamily="34" charset="-122"/>
                <a:cs typeface="Calibri" pitchFamily="34" charset="-120"/>
              </a:rPr>
              <a:t>Plain decoding</a:t>
            </a:r>
            <a:endParaRPr lang="en-US" sz="1000" dirty="0"/>
          </a:p>
        </p:txBody>
      </p:sp>
      <p:sp>
        <p:nvSpPr>
          <p:cNvPr id="21" name="Text 18"/>
          <p:cNvSpPr txBox="1"/>
          <p:nvPr/>
        </p:nvSpPr>
        <p:spPr>
          <a:xfrm>
            <a:off x="3225800" y="2457450"/>
            <a:ext cx="279400" cy="254000"/>
          </a:xfrm>
          <a:prstGeom prst="rect">
            <a:avLst/>
          </a:prstGeom>
          <a:noFill/>
          <a:ln/>
        </p:spPr>
        <p:txBody>
          <a:bodyPr wrap="square" lIns="0" tIns="0" rIns="0" bIns="0" rtlCol="0" anchor="t"/>
          <a:lstStyle/>
          <a:p>
            <a:pPr algn="ctr" indent="0" marL="0">
              <a:buNone/>
            </a:pPr>
            <a:r>
              <a:rPr lang="en-US" sz="2000" b="1" dirty="0">
                <a:solidFill>
                  <a:srgbClr val="0A7A5C"/>
                </a:solidFill>
                <a:latin typeface="Arial" pitchFamily="34" charset="0"/>
                <a:ea typeface="Arial" pitchFamily="34" charset="-122"/>
                <a:cs typeface="Arial" pitchFamily="34" charset="-120"/>
              </a:rPr>
              <a:t>→</a:t>
            </a:r>
            <a:endParaRPr lang="en-US" sz="2000" dirty="0"/>
          </a:p>
        </p:txBody>
      </p:sp>
      <p:sp>
        <p:nvSpPr>
          <p:cNvPr id="22" name="Shape 19"/>
          <p:cNvSpPr/>
          <p:nvPr/>
        </p:nvSpPr>
        <p:spPr>
          <a:xfrm>
            <a:off x="3543300" y="1949450"/>
            <a:ext cx="2374900" cy="1270000"/>
          </a:xfrm>
          <a:prstGeom prst="roundRect">
            <a:avLst>
              <a:gd name="adj" fmla="val 7200"/>
            </a:avLst>
          </a:prstGeom>
          <a:solidFill>
            <a:srgbClr val="FBFCFA"/>
          </a:solidFill>
          <a:ln w="9525">
            <a:solidFill>
              <a:srgbClr val="D5E1DA"/>
            </a:solidFill>
            <a:prstDash val="solid"/>
          </a:ln>
        </p:spPr>
      </p:sp>
      <p:sp>
        <p:nvSpPr>
          <p:cNvPr id="23" name="Shape 20"/>
          <p:cNvSpPr/>
          <p:nvPr/>
        </p:nvSpPr>
        <p:spPr>
          <a:xfrm>
            <a:off x="3670300" y="2051050"/>
            <a:ext cx="254000" cy="254000"/>
          </a:xfrm>
          <a:prstGeom prst="ellipse">
            <a:avLst/>
          </a:prstGeom>
          <a:solidFill>
            <a:srgbClr val="0F241D"/>
          </a:solidFill>
          <a:ln w="6350">
            <a:solidFill>
              <a:srgbClr val="0F241D"/>
            </a:solidFill>
            <a:prstDash val="solid"/>
          </a:ln>
        </p:spPr>
      </p:sp>
      <p:sp>
        <p:nvSpPr>
          <p:cNvPr id="24" name="Text 21"/>
          <p:cNvSpPr txBox="1"/>
          <p:nvPr/>
        </p:nvSpPr>
        <p:spPr>
          <a:xfrm>
            <a:off x="3670300" y="2051050"/>
            <a:ext cx="254000" cy="254000"/>
          </a:xfrm>
          <a:prstGeom prst="rect">
            <a:avLst/>
          </a:prstGeom>
          <a:noFill/>
          <a:ln/>
        </p:spPr>
        <p:txBody>
          <a:bodyPr wrap="square" lIns="0" tIns="0" rIns="0" bIns="0" rtlCol="0" anchor="ctr"/>
          <a:lstStyle/>
          <a:p>
            <a:pPr algn="ctr" indent="0" marL="0">
              <a:buNone/>
            </a:pPr>
            <a:r>
              <a:rPr lang="en-US" sz="1100" b="1" dirty="0">
                <a:solidFill>
                  <a:srgbClr val="8CE3B6"/>
                </a:solidFill>
                <a:latin typeface="Calibri" pitchFamily="34" charset="0"/>
                <a:ea typeface="Calibri" pitchFamily="34" charset="-122"/>
                <a:cs typeface="Calibri" pitchFamily="34" charset="-120"/>
              </a:rPr>
              <a:t>2</a:t>
            </a:r>
            <a:endParaRPr lang="en-US" sz="1100" dirty="0"/>
          </a:p>
        </p:txBody>
      </p:sp>
      <p:sp>
        <p:nvSpPr>
          <p:cNvPr id="25" name="Text 22"/>
          <p:cNvSpPr txBox="1"/>
          <p:nvPr/>
        </p:nvSpPr>
        <p:spPr>
          <a:xfrm>
            <a:off x="4000500" y="2051050"/>
            <a:ext cx="1816100" cy="254000"/>
          </a:xfrm>
          <a:prstGeom prst="rect">
            <a:avLst/>
          </a:prstGeom>
          <a:noFill/>
          <a:ln/>
        </p:spPr>
        <p:txBody>
          <a:bodyPr wrap="square" lIns="0" tIns="0" rIns="0" bIns="0" rtlCol="0" anchor="ctr"/>
          <a:lstStyle/>
          <a:p>
            <a:pPr indent="0" marL="0">
              <a:buNone/>
            </a:pPr>
            <a:r>
              <a:rPr lang="en-US" sz="1500" b="1" dirty="0">
                <a:solidFill>
                  <a:srgbClr val="16302A"/>
                </a:solidFill>
                <a:latin typeface="Arial" pitchFamily="34" charset="0"/>
                <a:ea typeface="Arial" pitchFamily="34" charset="-122"/>
                <a:cs typeface="Arial" pitchFamily="34" charset="-120"/>
              </a:rPr>
              <a:t>Detect</a:t>
            </a:r>
            <a:endParaRPr lang="en-US" sz="1500" dirty="0"/>
          </a:p>
        </p:txBody>
      </p:sp>
      <p:sp>
        <p:nvSpPr>
          <p:cNvPr id="26" name="Text 23"/>
          <p:cNvSpPr txBox="1"/>
          <p:nvPr/>
        </p:nvSpPr>
        <p:spPr>
          <a:xfrm>
            <a:off x="3670300" y="2393950"/>
            <a:ext cx="2120900" cy="381000"/>
          </a:xfrm>
          <a:prstGeom prst="rect">
            <a:avLst/>
          </a:prstGeom>
          <a:noFill/>
          <a:ln/>
        </p:spPr>
        <p:txBody>
          <a:bodyPr wrap="square" lIns="0" tIns="0" rIns="0" bIns="0" rtlCol="0" anchor="t"/>
          <a:lstStyle/>
          <a:p>
            <a:pPr indent="0" marL="0">
              <a:buNone/>
            </a:pPr>
            <a:r>
              <a:rPr lang="en-US" sz="1200" dirty="0">
                <a:solidFill>
                  <a:srgbClr val="4F6660"/>
                </a:solidFill>
                <a:latin typeface="Calibri" pitchFamily="34" charset="0"/>
                <a:ea typeface="Calibri" pitchFamily="34" charset="-122"/>
                <a:cs typeface="Calibri" pitchFamily="34" charset="-120"/>
              </a:rPr>
              <a:t>Players, goalkeepers, referees and ball in every frame</a:t>
            </a:r>
            <a:endParaRPr lang="en-US" sz="1200" dirty="0"/>
          </a:p>
        </p:txBody>
      </p:sp>
      <p:sp>
        <p:nvSpPr>
          <p:cNvPr id="27" name="Shape 24"/>
          <p:cNvSpPr/>
          <p:nvPr/>
        </p:nvSpPr>
        <p:spPr>
          <a:xfrm>
            <a:off x="3670300" y="2863850"/>
            <a:ext cx="1568450" cy="215900"/>
          </a:xfrm>
          <a:prstGeom prst="roundRect">
            <a:avLst>
              <a:gd name="adj" fmla="val 63529"/>
            </a:avLst>
          </a:prstGeom>
          <a:solidFill>
            <a:srgbClr val="DCE8FA"/>
          </a:solidFill>
          <a:ln w="6350">
            <a:solidFill>
              <a:srgbClr val="DCE8FA"/>
            </a:solidFill>
            <a:prstDash val="solid"/>
          </a:ln>
        </p:spPr>
      </p:sp>
      <p:sp>
        <p:nvSpPr>
          <p:cNvPr id="28" name="Text 25"/>
          <p:cNvSpPr txBox="1"/>
          <p:nvPr/>
        </p:nvSpPr>
        <p:spPr>
          <a:xfrm>
            <a:off x="3670300" y="2863850"/>
            <a:ext cx="1568450" cy="215900"/>
          </a:xfrm>
          <a:prstGeom prst="rect">
            <a:avLst/>
          </a:prstGeom>
          <a:noFill/>
          <a:ln/>
        </p:spPr>
        <p:txBody>
          <a:bodyPr wrap="square" lIns="0" tIns="0" rIns="0" bIns="0" rtlCol="0" anchor="ctr"/>
          <a:lstStyle/>
          <a:p>
            <a:pPr algn="ctr" indent="0" marL="0">
              <a:buNone/>
            </a:pPr>
            <a:r>
              <a:rPr lang="en-US" sz="1000" b="1" dirty="0">
                <a:solidFill>
                  <a:srgbClr val="1D4F9F"/>
                </a:solidFill>
                <a:latin typeface="Calibri" pitchFamily="34" charset="0"/>
                <a:ea typeface="Calibri" pitchFamily="34" charset="-122"/>
                <a:cs typeface="Calibri" pitchFamily="34" charset="-120"/>
              </a:rPr>
              <a:t>YOLOv8x at 1280 px</a:t>
            </a:r>
            <a:endParaRPr lang="en-US" sz="1000" dirty="0"/>
          </a:p>
        </p:txBody>
      </p:sp>
      <p:sp>
        <p:nvSpPr>
          <p:cNvPr id="29" name="Text 26"/>
          <p:cNvSpPr txBox="1"/>
          <p:nvPr/>
        </p:nvSpPr>
        <p:spPr>
          <a:xfrm>
            <a:off x="5956300" y="2457450"/>
            <a:ext cx="279400" cy="254000"/>
          </a:xfrm>
          <a:prstGeom prst="rect">
            <a:avLst/>
          </a:prstGeom>
          <a:noFill/>
          <a:ln/>
        </p:spPr>
        <p:txBody>
          <a:bodyPr wrap="square" lIns="0" tIns="0" rIns="0" bIns="0" rtlCol="0" anchor="t"/>
          <a:lstStyle/>
          <a:p>
            <a:pPr algn="ctr" indent="0" marL="0">
              <a:buNone/>
            </a:pPr>
            <a:r>
              <a:rPr lang="en-US" sz="2000" b="1" dirty="0">
                <a:solidFill>
                  <a:srgbClr val="0A7A5C"/>
                </a:solidFill>
                <a:latin typeface="Arial" pitchFamily="34" charset="0"/>
                <a:ea typeface="Arial" pitchFamily="34" charset="-122"/>
                <a:cs typeface="Arial" pitchFamily="34" charset="-120"/>
              </a:rPr>
              <a:t>→</a:t>
            </a:r>
            <a:endParaRPr lang="en-US" sz="2000" dirty="0"/>
          </a:p>
        </p:txBody>
      </p:sp>
      <p:sp>
        <p:nvSpPr>
          <p:cNvPr id="30" name="Shape 27"/>
          <p:cNvSpPr/>
          <p:nvPr/>
        </p:nvSpPr>
        <p:spPr>
          <a:xfrm>
            <a:off x="6273800" y="1949450"/>
            <a:ext cx="2374900" cy="1270000"/>
          </a:xfrm>
          <a:prstGeom prst="roundRect">
            <a:avLst>
              <a:gd name="adj" fmla="val 7200"/>
            </a:avLst>
          </a:prstGeom>
          <a:solidFill>
            <a:srgbClr val="FBFCFA"/>
          </a:solidFill>
          <a:ln w="9525">
            <a:solidFill>
              <a:srgbClr val="D5E1DA"/>
            </a:solidFill>
            <a:prstDash val="solid"/>
          </a:ln>
        </p:spPr>
      </p:sp>
      <p:sp>
        <p:nvSpPr>
          <p:cNvPr id="31" name="Shape 28"/>
          <p:cNvSpPr/>
          <p:nvPr/>
        </p:nvSpPr>
        <p:spPr>
          <a:xfrm>
            <a:off x="6400800" y="2051050"/>
            <a:ext cx="254000" cy="254000"/>
          </a:xfrm>
          <a:prstGeom prst="ellipse">
            <a:avLst/>
          </a:prstGeom>
          <a:solidFill>
            <a:srgbClr val="0F241D"/>
          </a:solidFill>
          <a:ln w="6350">
            <a:solidFill>
              <a:srgbClr val="0F241D"/>
            </a:solidFill>
            <a:prstDash val="solid"/>
          </a:ln>
        </p:spPr>
      </p:sp>
      <p:sp>
        <p:nvSpPr>
          <p:cNvPr id="32" name="Text 29"/>
          <p:cNvSpPr txBox="1"/>
          <p:nvPr/>
        </p:nvSpPr>
        <p:spPr>
          <a:xfrm>
            <a:off x="6400800" y="2051050"/>
            <a:ext cx="254000" cy="254000"/>
          </a:xfrm>
          <a:prstGeom prst="rect">
            <a:avLst/>
          </a:prstGeom>
          <a:noFill/>
          <a:ln/>
        </p:spPr>
        <p:txBody>
          <a:bodyPr wrap="square" lIns="0" tIns="0" rIns="0" bIns="0" rtlCol="0" anchor="ctr"/>
          <a:lstStyle/>
          <a:p>
            <a:pPr algn="ctr" indent="0" marL="0">
              <a:buNone/>
            </a:pPr>
            <a:r>
              <a:rPr lang="en-US" sz="1100" b="1" dirty="0">
                <a:solidFill>
                  <a:srgbClr val="8CE3B6"/>
                </a:solidFill>
                <a:latin typeface="Calibri" pitchFamily="34" charset="0"/>
                <a:ea typeface="Calibri" pitchFamily="34" charset="-122"/>
                <a:cs typeface="Calibri" pitchFamily="34" charset="-120"/>
              </a:rPr>
              <a:t>3</a:t>
            </a:r>
            <a:endParaRPr lang="en-US" sz="1100" dirty="0"/>
          </a:p>
        </p:txBody>
      </p:sp>
      <p:sp>
        <p:nvSpPr>
          <p:cNvPr id="33" name="Text 30"/>
          <p:cNvSpPr txBox="1"/>
          <p:nvPr/>
        </p:nvSpPr>
        <p:spPr>
          <a:xfrm>
            <a:off x="6731000" y="2051050"/>
            <a:ext cx="1816100" cy="254000"/>
          </a:xfrm>
          <a:prstGeom prst="rect">
            <a:avLst/>
          </a:prstGeom>
          <a:noFill/>
          <a:ln/>
        </p:spPr>
        <p:txBody>
          <a:bodyPr wrap="square" lIns="0" tIns="0" rIns="0" bIns="0" rtlCol="0" anchor="ctr"/>
          <a:lstStyle/>
          <a:p>
            <a:pPr indent="0" marL="0">
              <a:buNone/>
            </a:pPr>
            <a:r>
              <a:rPr lang="en-US" sz="1500" b="1" dirty="0">
                <a:solidFill>
                  <a:srgbClr val="16302A"/>
                </a:solidFill>
                <a:latin typeface="Arial" pitchFamily="34" charset="0"/>
                <a:ea typeface="Arial" pitchFamily="34" charset="-122"/>
                <a:cs typeface="Arial" pitchFamily="34" charset="-120"/>
              </a:rPr>
              <a:t>Cuts, track</a:t>
            </a:r>
            <a:endParaRPr lang="en-US" sz="1500" dirty="0"/>
          </a:p>
        </p:txBody>
      </p:sp>
      <p:sp>
        <p:nvSpPr>
          <p:cNvPr id="34" name="Text 31"/>
          <p:cNvSpPr txBox="1"/>
          <p:nvPr/>
        </p:nvSpPr>
        <p:spPr>
          <a:xfrm>
            <a:off x="6400800" y="2393950"/>
            <a:ext cx="2120900" cy="381000"/>
          </a:xfrm>
          <a:prstGeom prst="rect">
            <a:avLst/>
          </a:prstGeom>
          <a:noFill/>
          <a:ln/>
        </p:spPr>
        <p:txBody>
          <a:bodyPr wrap="square" lIns="0" tIns="0" rIns="0" bIns="0" rtlCol="0" anchor="t"/>
          <a:lstStyle/>
          <a:p>
            <a:pPr indent="0" marL="0">
              <a:buNone/>
            </a:pPr>
            <a:r>
              <a:rPr lang="en-US" sz="1200" dirty="0">
                <a:solidFill>
                  <a:srgbClr val="4F6660"/>
                </a:solidFill>
                <a:latin typeface="Calibri" pitchFamily="34" charset="0"/>
                <a:ea typeface="Calibri" pitchFamily="34" charset="-122"/>
                <a:cs typeface="Calibri" pitchFamily="34" charset="-120"/>
              </a:rPr>
              <a:t>A camera cut resets tracks; boxes become tracklets</a:t>
            </a:r>
            <a:endParaRPr lang="en-US" sz="1200" dirty="0"/>
          </a:p>
        </p:txBody>
      </p:sp>
      <p:sp>
        <p:nvSpPr>
          <p:cNvPr id="35" name="Shape 32"/>
          <p:cNvSpPr/>
          <p:nvPr/>
        </p:nvSpPr>
        <p:spPr>
          <a:xfrm>
            <a:off x="6400800" y="2863850"/>
            <a:ext cx="838200" cy="215900"/>
          </a:xfrm>
          <a:prstGeom prst="roundRect">
            <a:avLst>
              <a:gd name="adj" fmla="val 63529"/>
            </a:avLst>
          </a:prstGeom>
          <a:solidFill>
            <a:srgbClr val="E4E9E6"/>
          </a:solidFill>
          <a:ln w="6350">
            <a:solidFill>
              <a:srgbClr val="E4E9E6"/>
            </a:solidFill>
            <a:prstDash val="solid"/>
          </a:ln>
        </p:spPr>
      </p:sp>
      <p:sp>
        <p:nvSpPr>
          <p:cNvPr id="36" name="Text 33"/>
          <p:cNvSpPr txBox="1"/>
          <p:nvPr/>
        </p:nvSpPr>
        <p:spPr>
          <a:xfrm>
            <a:off x="6400800" y="2863850"/>
            <a:ext cx="838200" cy="215900"/>
          </a:xfrm>
          <a:prstGeom prst="rect">
            <a:avLst/>
          </a:prstGeom>
          <a:noFill/>
          <a:ln/>
        </p:spPr>
        <p:txBody>
          <a:bodyPr wrap="square" lIns="0" tIns="0" rIns="0" bIns="0" rtlCol="0" anchor="ctr"/>
          <a:lstStyle/>
          <a:p>
            <a:pPr algn="ctr" indent="0" marL="0">
              <a:buNone/>
            </a:pPr>
            <a:r>
              <a:rPr lang="en-US" sz="1000" b="1" dirty="0">
                <a:solidFill>
                  <a:srgbClr val="4F6660"/>
                </a:solidFill>
                <a:latin typeface="Calibri" pitchFamily="34" charset="0"/>
                <a:ea typeface="Calibri" pitchFamily="34" charset="-122"/>
                <a:cs typeface="Calibri" pitchFamily="34" charset="-120"/>
              </a:rPr>
              <a:t>BoT-SORT</a:t>
            </a:r>
            <a:endParaRPr lang="en-US" sz="1000" dirty="0"/>
          </a:p>
        </p:txBody>
      </p:sp>
      <p:sp>
        <p:nvSpPr>
          <p:cNvPr id="37" name="Text 34"/>
          <p:cNvSpPr txBox="1"/>
          <p:nvPr/>
        </p:nvSpPr>
        <p:spPr>
          <a:xfrm>
            <a:off x="8686800" y="2457450"/>
            <a:ext cx="279400" cy="254000"/>
          </a:xfrm>
          <a:prstGeom prst="rect">
            <a:avLst/>
          </a:prstGeom>
          <a:noFill/>
          <a:ln/>
        </p:spPr>
        <p:txBody>
          <a:bodyPr wrap="square" lIns="0" tIns="0" rIns="0" bIns="0" rtlCol="0" anchor="t"/>
          <a:lstStyle/>
          <a:p>
            <a:pPr algn="ctr" indent="0" marL="0">
              <a:buNone/>
            </a:pPr>
            <a:r>
              <a:rPr lang="en-US" sz="2000" b="1" dirty="0">
                <a:solidFill>
                  <a:srgbClr val="0A7A5C"/>
                </a:solidFill>
                <a:latin typeface="Arial" pitchFamily="34" charset="0"/>
                <a:ea typeface="Arial" pitchFamily="34" charset="-122"/>
                <a:cs typeface="Arial" pitchFamily="34" charset="-120"/>
              </a:rPr>
              <a:t>→</a:t>
            </a:r>
            <a:endParaRPr lang="en-US" sz="2000" dirty="0"/>
          </a:p>
        </p:txBody>
      </p:sp>
      <p:sp>
        <p:nvSpPr>
          <p:cNvPr id="38" name="Shape 35"/>
          <p:cNvSpPr/>
          <p:nvPr/>
        </p:nvSpPr>
        <p:spPr>
          <a:xfrm>
            <a:off x="9004300" y="1949450"/>
            <a:ext cx="2374900" cy="1270000"/>
          </a:xfrm>
          <a:prstGeom prst="roundRect">
            <a:avLst>
              <a:gd name="adj" fmla="val 7200"/>
            </a:avLst>
          </a:prstGeom>
          <a:solidFill>
            <a:srgbClr val="FBFCFA"/>
          </a:solidFill>
          <a:ln w="9525">
            <a:solidFill>
              <a:srgbClr val="D5E1DA"/>
            </a:solidFill>
            <a:prstDash val="solid"/>
          </a:ln>
        </p:spPr>
      </p:sp>
      <p:sp>
        <p:nvSpPr>
          <p:cNvPr id="39" name="Shape 36"/>
          <p:cNvSpPr/>
          <p:nvPr/>
        </p:nvSpPr>
        <p:spPr>
          <a:xfrm>
            <a:off x="9131300" y="2051050"/>
            <a:ext cx="254000" cy="254000"/>
          </a:xfrm>
          <a:prstGeom prst="ellipse">
            <a:avLst/>
          </a:prstGeom>
          <a:solidFill>
            <a:srgbClr val="0F241D"/>
          </a:solidFill>
          <a:ln w="6350">
            <a:solidFill>
              <a:srgbClr val="0F241D"/>
            </a:solidFill>
            <a:prstDash val="solid"/>
          </a:ln>
        </p:spPr>
      </p:sp>
      <p:sp>
        <p:nvSpPr>
          <p:cNvPr id="40" name="Text 37"/>
          <p:cNvSpPr txBox="1"/>
          <p:nvPr/>
        </p:nvSpPr>
        <p:spPr>
          <a:xfrm>
            <a:off x="9131300" y="2051050"/>
            <a:ext cx="254000" cy="254000"/>
          </a:xfrm>
          <a:prstGeom prst="rect">
            <a:avLst/>
          </a:prstGeom>
          <a:noFill/>
          <a:ln/>
        </p:spPr>
        <p:txBody>
          <a:bodyPr wrap="square" lIns="0" tIns="0" rIns="0" bIns="0" rtlCol="0" anchor="ctr"/>
          <a:lstStyle/>
          <a:p>
            <a:pPr algn="ctr" indent="0" marL="0">
              <a:buNone/>
            </a:pPr>
            <a:r>
              <a:rPr lang="en-US" sz="1100" b="1" dirty="0">
                <a:solidFill>
                  <a:srgbClr val="8CE3B6"/>
                </a:solidFill>
                <a:latin typeface="Calibri" pitchFamily="34" charset="0"/>
                <a:ea typeface="Calibri" pitchFamily="34" charset="-122"/>
                <a:cs typeface="Calibri" pitchFamily="34" charset="-120"/>
              </a:rPr>
              <a:t>4</a:t>
            </a:r>
            <a:endParaRPr lang="en-US" sz="1100" dirty="0"/>
          </a:p>
        </p:txBody>
      </p:sp>
      <p:sp>
        <p:nvSpPr>
          <p:cNvPr id="41" name="Text 38"/>
          <p:cNvSpPr txBox="1"/>
          <p:nvPr/>
        </p:nvSpPr>
        <p:spPr>
          <a:xfrm>
            <a:off x="9461500" y="2051050"/>
            <a:ext cx="1816100" cy="254000"/>
          </a:xfrm>
          <a:prstGeom prst="rect">
            <a:avLst/>
          </a:prstGeom>
          <a:noFill/>
          <a:ln/>
        </p:spPr>
        <p:txBody>
          <a:bodyPr wrap="square" lIns="0" tIns="0" rIns="0" bIns="0" rtlCol="0" anchor="ctr"/>
          <a:lstStyle/>
          <a:p>
            <a:pPr indent="0" marL="0">
              <a:buNone/>
            </a:pPr>
            <a:r>
              <a:rPr lang="en-US" sz="1500" b="1" dirty="0">
                <a:solidFill>
                  <a:srgbClr val="16302A"/>
                </a:solidFill>
                <a:latin typeface="Arial" pitchFamily="34" charset="0"/>
                <a:ea typeface="Arial" pitchFamily="34" charset="-122"/>
                <a:cs typeface="Arial" pitchFamily="34" charset="-120"/>
              </a:rPr>
              <a:t>Calibrate</a:t>
            </a:r>
            <a:endParaRPr lang="en-US" sz="1500" dirty="0"/>
          </a:p>
        </p:txBody>
      </p:sp>
      <p:sp>
        <p:nvSpPr>
          <p:cNvPr id="42" name="Text 39"/>
          <p:cNvSpPr txBox="1"/>
          <p:nvPr/>
        </p:nvSpPr>
        <p:spPr>
          <a:xfrm>
            <a:off x="9131300" y="2393950"/>
            <a:ext cx="2120900" cy="381000"/>
          </a:xfrm>
          <a:prstGeom prst="rect">
            <a:avLst/>
          </a:prstGeom>
          <a:noFill/>
          <a:ln/>
        </p:spPr>
        <p:txBody>
          <a:bodyPr wrap="square" lIns="0" tIns="0" rIns="0" bIns="0" rtlCol="0" anchor="t"/>
          <a:lstStyle/>
          <a:p>
            <a:pPr indent="0" marL="0">
              <a:buNone/>
            </a:pPr>
            <a:r>
              <a:rPr lang="en-US" sz="1200" dirty="0">
                <a:solidFill>
                  <a:srgbClr val="4F6660"/>
                </a:solidFill>
                <a:latin typeface="Calibri" pitchFamily="34" charset="0"/>
                <a:ea typeface="Calibri" pitchFamily="34" charset="-122"/>
                <a:cs typeface="Calibri" pitchFamily="34" charset="-120"/>
              </a:rPr>
              <a:t>57 pitch keypoints turn pixels into metres</a:t>
            </a:r>
            <a:endParaRPr lang="en-US" sz="1200" dirty="0"/>
          </a:p>
        </p:txBody>
      </p:sp>
      <p:sp>
        <p:nvSpPr>
          <p:cNvPr id="43" name="Shape 40"/>
          <p:cNvSpPr/>
          <p:nvPr/>
        </p:nvSpPr>
        <p:spPr>
          <a:xfrm>
            <a:off x="9131300" y="2863850"/>
            <a:ext cx="1057275" cy="215900"/>
          </a:xfrm>
          <a:prstGeom prst="roundRect">
            <a:avLst>
              <a:gd name="adj" fmla="val 63529"/>
            </a:avLst>
          </a:prstGeom>
          <a:solidFill>
            <a:srgbClr val="DCE8FA"/>
          </a:solidFill>
          <a:ln w="6350">
            <a:solidFill>
              <a:srgbClr val="DCE8FA"/>
            </a:solidFill>
            <a:prstDash val="solid"/>
          </a:ln>
        </p:spPr>
      </p:sp>
      <p:sp>
        <p:nvSpPr>
          <p:cNvPr id="44" name="Text 41"/>
          <p:cNvSpPr txBox="1"/>
          <p:nvPr/>
        </p:nvSpPr>
        <p:spPr>
          <a:xfrm>
            <a:off x="9131300" y="2863850"/>
            <a:ext cx="1057275" cy="215900"/>
          </a:xfrm>
          <a:prstGeom prst="rect">
            <a:avLst/>
          </a:prstGeom>
          <a:noFill/>
          <a:ln/>
        </p:spPr>
        <p:txBody>
          <a:bodyPr wrap="square" lIns="0" tIns="0" rIns="0" bIns="0" rtlCol="0" anchor="ctr"/>
          <a:lstStyle/>
          <a:p>
            <a:pPr algn="ctr" indent="0" marL="0">
              <a:buNone/>
            </a:pPr>
            <a:r>
              <a:rPr lang="en-US" sz="1000" b="1" dirty="0">
                <a:solidFill>
                  <a:srgbClr val="1D4F9F"/>
                </a:solidFill>
                <a:latin typeface="Calibri" pitchFamily="34" charset="0"/>
                <a:ea typeface="Calibri" pitchFamily="34" charset="-122"/>
                <a:cs typeface="Calibri" pitchFamily="34" charset="-120"/>
              </a:rPr>
              <a:t>HRNetV2-W48</a:t>
            </a:r>
            <a:endParaRPr lang="en-US" sz="1000" dirty="0"/>
          </a:p>
        </p:txBody>
      </p:sp>
      <p:sp>
        <p:nvSpPr>
          <p:cNvPr id="45" name="Text 42"/>
          <p:cNvSpPr txBox="1"/>
          <p:nvPr/>
        </p:nvSpPr>
        <p:spPr>
          <a:xfrm>
            <a:off x="812800" y="3257550"/>
            <a:ext cx="5080000" cy="177800"/>
          </a:xfrm>
          <a:prstGeom prst="rect">
            <a:avLst/>
          </a:prstGeom>
          <a:noFill/>
          <a:ln/>
        </p:spPr>
        <p:txBody>
          <a:bodyPr wrap="square" lIns="0" tIns="0" rIns="0" bIns="0" rtlCol="0" anchor="t"/>
          <a:lstStyle/>
          <a:p>
            <a:pPr indent="0" marL="0">
              <a:buNone/>
            </a:pPr>
            <a:r>
              <a:rPr lang="en-US" sz="1100" b="1" spc="150" kern="0" dirty="0">
                <a:solidFill>
                  <a:srgbClr val="0A7A5C"/>
                </a:solidFill>
                <a:latin typeface="Calibri" pitchFamily="34" charset="0"/>
                <a:ea typeface="Calibri" pitchFamily="34" charset="-122"/>
                <a:cs typeface="Calibri" pitchFamily="34" charset="-120"/>
              </a:rPr>
              <a:t>B · FOLLOW THE PLAY</a:t>
            </a:r>
            <a:endParaRPr lang="en-US" sz="1100" dirty="0"/>
          </a:p>
        </p:txBody>
      </p:sp>
      <p:sp>
        <p:nvSpPr>
          <p:cNvPr id="46" name="Shape 43"/>
          <p:cNvSpPr/>
          <p:nvPr/>
        </p:nvSpPr>
        <p:spPr>
          <a:xfrm>
            <a:off x="812800" y="3460750"/>
            <a:ext cx="2374900" cy="1270000"/>
          </a:xfrm>
          <a:prstGeom prst="roundRect">
            <a:avLst>
              <a:gd name="adj" fmla="val 7200"/>
            </a:avLst>
          </a:prstGeom>
          <a:solidFill>
            <a:srgbClr val="FBFCFA"/>
          </a:solidFill>
          <a:ln w="9525">
            <a:solidFill>
              <a:srgbClr val="D5E1DA"/>
            </a:solidFill>
            <a:prstDash val="solid"/>
          </a:ln>
        </p:spPr>
      </p:sp>
      <p:sp>
        <p:nvSpPr>
          <p:cNvPr id="47" name="Shape 44"/>
          <p:cNvSpPr/>
          <p:nvPr/>
        </p:nvSpPr>
        <p:spPr>
          <a:xfrm>
            <a:off x="939800" y="3562350"/>
            <a:ext cx="254000" cy="254000"/>
          </a:xfrm>
          <a:prstGeom prst="ellipse">
            <a:avLst/>
          </a:prstGeom>
          <a:solidFill>
            <a:srgbClr val="0F241D"/>
          </a:solidFill>
          <a:ln w="6350">
            <a:solidFill>
              <a:srgbClr val="0F241D"/>
            </a:solidFill>
            <a:prstDash val="solid"/>
          </a:ln>
        </p:spPr>
      </p:sp>
      <p:sp>
        <p:nvSpPr>
          <p:cNvPr id="48" name="Text 45"/>
          <p:cNvSpPr txBox="1"/>
          <p:nvPr/>
        </p:nvSpPr>
        <p:spPr>
          <a:xfrm>
            <a:off x="939800" y="3562350"/>
            <a:ext cx="254000" cy="254000"/>
          </a:xfrm>
          <a:prstGeom prst="rect">
            <a:avLst/>
          </a:prstGeom>
          <a:noFill/>
          <a:ln/>
        </p:spPr>
        <p:txBody>
          <a:bodyPr wrap="square" lIns="0" tIns="0" rIns="0" bIns="0" rtlCol="0" anchor="ctr"/>
          <a:lstStyle/>
          <a:p>
            <a:pPr algn="ctr" indent="0" marL="0">
              <a:buNone/>
            </a:pPr>
            <a:r>
              <a:rPr lang="en-US" sz="1100" b="1" dirty="0">
                <a:solidFill>
                  <a:srgbClr val="8CE3B6"/>
                </a:solidFill>
                <a:latin typeface="Calibri" pitchFamily="34" charset="0"/>
                <a:ea typeface="Calibri" pitchFamily="34" charset="-122"/>
                <a:cs typeface="Calibri" pitchFamily="34" charset="-120"/>
              </a:rPr>
              <a:t>5</a:t>
            </a:r>
            <a:endParaRPr lang="en-US" sz="1100" dirty="0"/>
          </a:p>
        </p:txBody>
      </p:sp>
      <p:sp>
        <p:nvSpPr>
          <p:cNvPr id="49" name="Text 46"/>
          <p:cNvSpPr txBox="1"/>
          <p:nvPr/>
        </p:nvSpPr>
        <p:spPr>
          <a:xfrm>
            <a:off x="1270000" y="3562350"/>
            <a:ext cx="1816100" cy="254000"/>
          </a:xfrm>
          <a:prstGeom prst="rect">
            <a:avLst/>
          </a:prstGeom>
          <a:noFill/>
          <a:ln/>
        </p:spPr>
        <p:txBody>
          <a:bodyPr wrap="square" lIns="0" tIns="0" rIns="0" bIns="0" rtlCol="0" anchor="ctr"/>
          <a:lstStyle/>
          <a:p>
            <a:pPr indent="0" marL="0">
              <a:buNone/>
            </a:pPr>
            <a:r>
              <a:rPr lang="en-US" sz="1500" b="1" dirty="0">
                <a:solidFill>
                  <a:srgbClr val="16302A"/>
                </a:solidFill>
                <a:latin typeface="Arial" pitchFamily="34" charset="0"/>
                <a:ea typeface="Arial" pitchFamily="34" charset="-122"/>
                <a:cs typeface="Arial" pitchFamily="34" charset="-120"/>
              </a:rPr>
              <a:t>Teams</a:t>
            </a:r>
            <a:endParaRPr lang="en-US" sz="1500" dirty="0"/>
          </a:p>
        </p:txBody>
      </p:sp>
      <p:sp>
        <p:nvSpPr>
          <p:cNvPr id="50" name="Text 47"/>
          <p:cNvSpPr txBox="1"/>
          <p:nvPr/>
        </p:nvSpPr>
        <p:spPr>
          <a:xfrm>
            <a:off x="939800" y="3905250"/>
            <a:ext cx="2120900" cy="381000"/>
          </a:xfrm>
          <a:prstGeom prst="rect">
            <a:avLst/>
          </a:prstGeom>
          <a:noFill/>
          <a:ln/>
        </p:spPr>
        <p:txBody>
          <a:bodyPr wrap="square" lIns="0" tIns="0" rIns="0" bIns="0" rtlCol="0" anchor="t"/>
          <a:lstStyle/>
          <a:p>
            <a:pPr indent="0" marL="0">
              <a:buNone/>
            </a:pPr>
            <a:r>
              <a:rPr lang="en-US" sz="1200" dirty="0">
                <a:solidFill>
                  <a:srgbClr val="4F6660"/>
                </a:solidFill>
                <a:latin typeface="Calibri" pitchFamily="34" charset="0"/>
                <a:ea typeface="Calibri" pitchFamily="34" charset="-122"/>
                <a:cs typeface="Calibri" pitchFamily="34" charset="-120"/>
              </a:rPr>
              <a:t>Shirt colour splits two kits; referees by class</a:t>
            </a:r>
            <a:endParaRPr lang="en-US" sz="1200" dirty="0"/>
          </a:p>
        </p:txBody>
      </p:sp>
      <p:sp>
        <p:nvSpPr>
          <p:cNvPr id="51" name="Shape 48"/>
          <p:cNvSpPr/>
          <p:nvPr/>
        </p:nvSpPr>
        <p:spPr>
          <a:xfrm>
            <a:off x="939800" y="4375150"/>
            <a:ext cx="765175" cy="215900"/>
          </a:xfrm>
          <a:prstGeom prst="roundRect">
            <a:avLst>
              <a:gd name="adj" fmla="val 63529"/>
            </a:avLst>
          </a:prstGeom>
          <a:solidFill>
            <a:srgbClr val="E4E9E6"/>
          </a:solidFill>
          <a:ln w="6350">
            <a:solidFill>
              <a:srgbClr val="E4E9E6"/>
            </a:solidFill>
            <a:prstDash val="solid"/>
          </a:ln>
        </p:spPr>
      </p:sp>
      <p:sp>
        <p:nvSpPr>
          <p:cNvPr id="52" name="Text 49"/>
          <p:cNvSpPr txBox="1"/>
          <p:nvPr/>
        </p:nvSpPr>
        <p:spPr>
          <a:xfrm>
            <a:off x="939800" y="4375150"/>
            <a:ext cx="765175" cy="215900"/>
          </a:xfrm>
          <a:prstGeom prst="rect">
            <a:avLst/>
          </a:prstGeom>
          <a:noFill/>
          <a:ln/>
        </p:spPr>
        <p:txBody>
          <a:bodyPr wrap="square" lIns="0" tIns="0" rIns="0" bIns="0" rtlCol="0" anchor="ctr"/>
          <a:lstStyle/>
          <a:p>
            <a:pPr algn="ctr" indent="0" marL="0">
              <a:buNone/>
            </a:pPr>
            <a:r>
              <a:rPr lang="en-US" sz="1000" b="1" dirty="0">
                <a:solidFill>
                  <a:srgbClr val="4F6660"/>
                </a:solidFill>
                <a:latin typeface="Calibri" pitchFamily="34" charset="0"/>
                <a:ea typeface="Calibri" pitchFamily="34" charset="-122"/>
                <a:cs typeface="Calibri" pitchFamily="34" charset="-120"/>
              </a:rPr>
              <a:t>K-means</a:t>
            </a:r>
            <a:endParaRPr lang="en-US" sz="1000" dirty="0"/>
          </a:p>
        </p:txBody>
      </p:sp>
      <p:sp>
        <p:nvSpPr>
          <p:cNvPr id="53" name="Text 50"/>
          <p:cNvSpPr txBox="1"/>
          <p:nvPr/>
        </p:nvSpPr>
        <p:spPr>
          <a:xfrm>
            <a:off x="3225800" y="3968750"/>
            <a:ext cx="279400" cy="254000"/>
          </a:xfrm>
          <a:prstGeom prst="rect">
            <a:avLst/>
          </a:prstGeom>
          <a:noFill/>
          <a:ln/>
        </p:spPr>
        <p:txBody>
          <a:bodyPr wrap="square" lIns="0" tIns="0" rIns="0" bIns="0" rtlCol="0" anchor="t"/>
          <a:lstStyle/>
          <a:p>
            <a:pPr algn="ctr" indent="0" marL="0">
              <a:buNone/>
            </a:pPr>
            <a:r>
              <a:rPr lang="en-US" sz="2000" b="1" dirty="0">
                <a:solidFill>
                  <a:srgbClr val="0A7A5C"/>
                </a:solidFill>
                <a:latin typeface="Arial" pitchFamily="34" charset="0"/>
                <a:ea typeface="Arial" pitchFamily="34" charset="-122"/>
                <a:cs typeface="Arial" pitchFamily="34" charset="-120"/>
              </a:rPr>
              <a:t>→</a:t>
            </a:r>
            <a:endParaRPr lang="en-US" sz="2000" dirty="0"/>
          </a:p>
        </p:txBody>
      </p:sp>
      <p:sp>
        <p:nvSpPr>
          <p:cNvPr id="54" name="Shape 51"/>
          <p:cNvSpPr/>
          <p:nvPr/>
        </p:nvSpPr>
        <p:spPr>
          <a:xfrm>
            <a:off x="3543300" y="3460750"/>
            <a:ext cx="2374900" cy="1270000"/>
          </a:xfrm>
          <a:prstGeom prst="roundRect">
            <a:avLst>
              <a:gd name="adj" fmla="val 7200"/>
            </a:avLst>
          </a:prstGeom>
          <a:solidFill>
            <a:srgbClr val="FBFCFA"/>
          </a:solidFill>
          <a:ln w="9525">
            <a:solidFill>
              <a:srgbClr val="D5E1DA"/>
            </a:solidFill>
            <a:prstDash val="solid"/>
          </a:ln>
        </p:spPr>
      </p:sp>
      <p:sp>
        <p:nvSpPr>
          <p:cNvPr id="55" name="Shape 52"/>
          <p:cNvSpPr/>
          <p:nvPr/>
        </p:nvSpPr>
        <p:spPr>
          <a:xfrm>
            <a:off x="3670300" y="3562350"/>
            <a:ext cx="254000" cy="254000"/>
          </a:xfrm>
          <a:prstGeom prst="ellipse">
            <a:avLst/>
          </a:prstGeom>
          <a:solidFill>
            <a:srgbClr val="0F241D"/>
          </a:solidFill>
          <a:ln w="6350">
            <a:solidFill>
              <a:srgbClr val="0F241D"/>
            </a:solidFill>
            <a:prstDash val="solid"/>
          </a:ln>
        </p:spPr>
      </p:sp>
      <p:sp>
        <p:nvSpPr>
          <p:cNvPr id="56" name="Text 53"/>
          <p:cNvSpPr txBox="1"/>
          <p:nvPr/>
        </p:nvSpPr>
        <p:spPr>
          <a:xfrm>
            <a:off x="3670300" y="3562350"/>
            <a:ext cx="254000" cy="254000"/>
          </a:xfrm>
          <a:prstGeom prst="rect">
            <a:avLst/>
          </a:prstGeom>
          <a:noFill/>
          <a:ln/>
        </p:spPr>
        <p:txBody>
          <a:bodyPr wrap="square" lIns="0" tIns="0" rIns="0" bIns="0" rtlCol="0" anchor="ctr"/>
          <a:lstStyle/>
          <a:p>
            <a:pPr algn="ctr" indent="0" marL="0">
              <a:buNone/>
            </a:pPr>
            <a:r>
              <a:rPr lang="en-US" sz="1100" b="1" dirty="0">
                <a:solidFill>
                  <a:srgbClr val="8CE3B6"/>
                </a:solidFill>
                <a:latin typeface="Calibri" pitchFamily="34" charset="0"/>
                <a:ea typeface="Calibri" pitchFamily="34" charset="-122"/>
                <a:cs typeface="Calibri" pitchFamily="34" charset="-120"/>
              </a:rPr>
              <a:t>6</a:t>
            </a:r>
            <a:endParaRPr lang="en-US" sz="1100" dirty="0"/>
          </a:p>
        </p:txBody>
      </p:sp>
      <p:sp>
        <p:nvSpPr>
          <p:cNvPr id="57" name="Text 54"/>
          <p:cNvSpPr txBox="1"/>
          <p:nvPr/>
        </p:nvSpPr>
        <p:spPr>
          <a:xfrm>
            <a:off x="4000500" y="3562350"/>
            <a:ext cx="1816100" cy="254000"/>
          </a:xfrm>
          <a:prstGeom prst="rect">
            <a:avLst/>
          </a:prstGeom>
          <a:noFill/>
          <a:ln/>
        </p:spPr>
        <p:txBody>
          <a:bodyPr wrap="square" lIns="0" tIns="0" rIns="0" bIns="0" rtlCol="0" anchor="ctr"/>
          <a:lstStyle/>
          <a:p>
            <a:pPr indent="0" marL="0">
              <a:buNone/>
            </a:pPr>
            <a:r>
              <a:rPr lang="en-US" sz="1500" b="1" dirty="0">
                <a:solidFill>
                  <a:srgbClr val="16302A"/>
                </a:solidFill>
                <a:latin typeface="Arial" pitchFamily="34" charset="0"/>
                <a:ea typeface="Arial" pitchFamily="34" charset="-122"/>
                <a:cs typeface="Arial" pitchFamily="34" charset="-120"/>
              </a:rPr>
              <a:t>Ball path</a:t>
            </a:r>
            <a:endParaRPr lang="en-US" sz="1500" dirty="0"/>
          </a:p>
        </p:txBody>
      </p:sp>
      <p:sp>
        <p:nvSpPr>
          <p:cNvPr id="58" name="Text 55"/>
          <p:cNvSpPr txBox="1"/>
          <p:nvPr/>
        </p:nvSpPr>
        <p:spPr>
          <a:xfrm>
            <a:off x="3670300" y="3905250"/>
            <a:ext cx="2120900" cy="381000"/>
          </a:xfrm>
          <a:prstGeom prst="rect">
            <a:avLst/>
          </a:prstGeom>
          <a:noFill/>
          <a:ln/>
        </p:spPr>
        <p:txBody>
          <a:bodyPr wrap="square" lIns="0" tIns="0" rIns="0" bIns="0" rtlCol="0" anchor="t"/>
          <a:lstStyle/>
          <a:p>
            <a:pPr indent="0" marL="0">
              <a:buNone/>
            </a:pPr>
            <a:r>
              <a:rPr lang="en-US" sz="1200" dirty="0">
                <a:solidFill>
                  <a:srgbClr val="4F6660"/>
                </a:solidFill>
                <a:latin typeface="Calibri" pitchFamily="34" charset="0"/>
                <a:ea typeface="Calibri" pitchFamily="34" charset="-122"/>
                <a:cs typeface="Calibri" pitchFamily="34" charset="-120"/>
              </a:rPr>
              <a:t>One most-likely ball path over the half</a:t>
            </a:r>
            <a:endParaRPr lang="en-US" sz="1200" dirty="0"/>
          </a:p>
        </p:txBody>
      </p:sp>
      <p:sp>
        <p:nvSpPr>
          <p:cNvPr id="59" name="Shape 56"/>
          <p:cNvSpPr/>
          <p:nvPr/>
        </p:nvSpPr>
        <p:spPr>
          <a:xfrm>
            <a:off x="3670300" y="4375150"/>
            <a:ext cx="1203325" cy="215900"/>
          </a:xfrm>
          <a:prstGeom prst="roundRect">
            <a:avLst>
              <a:gd name="adj" fmla="val 63529"/>
            </a:avLst>
          </a:prstGeom>
          <a:solidFill>
            <a:srgbClr val="E4E9E6"/>
          </a:solidFill>
          <a:ln w="6350">
            <a:solidFill>
              <a:srgbClr val="E4E9E6"/>
            </a:solidFill>
            <a:prstDash val="solid"/>
          </a:ln>
        </p:spPr>
      </p:sp>
      <p:sp>
        <p:nvSpPr>
          <p:cNvPr id="60" name="Text 57"/>
          <p:cNvSpPr txBox="1"/>
          <p:nvPr/>
        </p:nvSpPr>
        <p:spPr>
          <a:xfrm>
            <a:off x="3670300" y="4375150"/>
            <a:ext cx="1203325" cy="215900"/>
          </a:xfrm>
          <a:prstGeom prst="rect">
            <a:avLst/>
          </a:prstGeom>
          <a:noFill/>
          <a:ln/>
        </p:spPr>
        <p:txBody>
          <a:bodyPr wrap="square" lIns="0" tIns="0" rIns="0" bIns="0" rtlCol="0" anchor="ctr"/>
          <a:lstStyle/>
          <a:p>
            <a:pPr algn="ctr" indent="0" marL="0">
              <a:buNone/>
            </a:pPr>
            <a:r>
              <a:rPr lang="en-US" sz="1000" b="1" dirty="0">
                <a:solidFill>
                  <a:srgbClr val="4F6660"/>
                </a:solidFill>
                <a:latin typeface="Calibri" pitchFamily="34" charset="0"/>
                <a:ea typeface="Calibri" pitchFamily="34" charset="-122"/>
                <a:cs typeface="Calibri" pitchFamily="34" charset="-120"/>
              </a:rPr>
              <a:t>Shortest path</a:t>
            </a:r>
            <a:endParaRPr lang="en-US" sz="1000" dirty="0"/>
          </a:p>
        </p:txBody>
      </p:sp>
      <p:sp>
        <p:nvSpPr>
          <p:cNvPr id="61" name="Text 58"/>
          <p:cNvSpPr txBox="1"/>
          <p:nvPr/>
        </p:nvSpPr>
        <p:spPr>
          <a:xfrm>
            <a:off x="5956300" y="3968750"/>
            <a:ext cx="279400" cy="254000"/>
          </a:xfrm>
          <a:prstGeom prst="rect">
            <a:avLst/>
          </a:prstGeom>
          <a:noFill/>
          <a:ln/>
        </p:spPr>
        <p:txBody>
          <a:bodyPr wrap="square" lIns="0" tIns="0" rIns="0" bIns="0" rtlCol="0" anchor="t"/>
          <a:lstStyle/>
          <a:p>
            <a:pPr algn="ctr" indent="0" marL="0">
              <a:buNone/>
            </a:pPr>
            <a:r>
              <a:rPr lang="en-US" sz="2000" b="1" dirty="0">
                <a:solidFill>
                  <a:srgbClr val="0A7A5C"/>
                </a:solidFill>
                <a:latin typeface="Arial" pitchFamily="34" charset="0"/>
                <a:ea typeface="Arial" pitchFamily="34" charset="-122"/>
                <a:cs typeface="Arial" pitchFamily="34" charset="-120"/>
              </a:rPr>
              <a:t>→</a:t>
            </a:r>
            <a:endParaRPr lang="en-US" sz="2000" dirty="0"/>
          </a:p>
        </p:txBody>
      </p:sp>
      <p:sp>
        <p:nvSpPr>
          <p:cNvPr id="62" name="Shape 59"/>
          <p:cNvSpPr/>
          <p:nvPr/>
        </p:nvSpPr>
        <p:spPr>
          <a:xfrm>
            <a:off x="6273800" y="3460750"/>
            <a:ext cx="2374900" cy="1270000"/>
          </a:xfrm>
          <a:prstGeom prst="roundRect">
            <a:avLst>
              <a:gd name="adj" fmla="val 7200"/>
            </a:avLst>
          </a:prstGeom>
          <a:solidFill>
            <a:srgbClr val="FBFCFA"/>
          </a:solidFill>
          <a:ln w="9525">
            <a:solidFill>
              <a:srgbClr val="D5E1DA"/>
            </a:solidFill>
            <a:prstDash val="solid"/>
          </a:ln>
        </p:spPr>
      </p:sp>
      <p:sp>
        <p:nvSpPr>
          <p:cNvPr id="63" name="Shape 60"/>
          <p:cNvSpPr/>
          <p:nvPr/>
        </p:nvSpPr>
        <p:spPr>
          <a:xfrm>
            <a:off x="6400800" y="3562350"/>
            <a:ext cx="254000" cy="254000"/>
          </a:xfrm>
          <a:prstGeom prst="ellipse">
            <a:avLst/>
          </a:prstGeom>
          <a:solidFill>
            <a:srgbClr val="0F241D"/>
          </a:solidFill>
          <a:ln w="6350">
            <a:solidFill>
              <a:srgbClr val="0F241D"/>
            </a:solidFill>
            <a:prstDash val="solid"/>
          </a:ln>
        </p:spPr>
      </p:sp>
      <p:sp>
        <p:nvSpPr>
          <p:cNvPr id="64" name="Text 61"/>
          <p:cNvSpPr txBox="1"/>
          <p:nvPr/>
        </p:nvSpPr>
        <p:spPr>
          <a:xfrm>
            <a:off x="6400800" y="3562350"/>
            <a:ext cx="254000" cy="254000"/>
          </a:xfrm>
          <a:prstGeom prst="rect">
            <a:avLst/>
          </a:prstGeom>
          <a:noFill/>
          <a:ln/>
        </p:spPr>
        <p:txBody>
          <a:bodyPr wrap="square" lIns="0" tIns="0" rIns="0" bIns="0" rtlCol="0" anchor="ctr"/>
          <a:lstStyle/>
          <a:p>
            <a:pPr algn="ctr" indent="0" marL="0">
              <a:buNone/>
            </a:pPr>
            <a:r>
              <a:rPr lang="en-US" sz="1100" b="1" dirty="0">
                <a:solidFill>
                  <a:srgbClr val="8CE3B6"/>
                </a:solidFill>
                <a:latin typeface="Calibri" pitchFamily="34" charset="0"/>
                <a:ea typeface="Calibri" pitchFamily="34" charset="-122"/>
                <a:cs typeface="Calibri" pitchFamily="34" charset="-120"/>
              </a:rPr>
              <a:t>7</a:t>
            </a:r>
            <a:endParaRPr lang="en-US" sz="1100" dirty="0"/>
          </a:p>
        </p:txBody>
      </p:sp>
      <p:sp>
        <p:nvSpPr>
          <p:cNvPr id="65" name="Text 62"/>
          <p:cNvSpPr txBox="1"/>
          <p:nvPr/>
        </p:nvSpPr>
        <p:spPr>
          <a:xfrm>
            <a:off x="6731000" y="3562350"/>
            <a:ext cx="1816100" cy="254000"/>
          </a:xfrm>
          <a:prstGeom prst="rect">
            <a:avLst/>
          </a:prstGeom>
          <a:noFill/>
          <a:ln/>
        </p:spPr>
        <p:txBody>
          <a:bodyPr wrap="square" lIns="0" tIns="0" rIns="0" bIns="0" rtlCol="0" anchor="ctr"/>
          <a:lstStyle/>
          <a:p>
            <a:pPr indent="0" marL="0">
              <a:buNone/>
            </a:pPr>
            <a:r>
              <a:rPr lang="en-US" sz="1500" b="1" dirty="0">
                <a:solidFill>
                  <a:srgbClr val="16302A"/>
                </a:solidFill>
                <a:latin typeface="Arial" pitchFamily="34" charset="0"/>
                <a:ea typeface="Arial" pitchFamily="34" charset="-122"/>
                <a:cs typeface="Arial" pitchFamily="34" charset="-120"/>
              </a:rPr>
              <a:t>Events</a:t>
            </a:r>
            <a:endParaRPr lang="en-US" sz="1500" dirty="0"/>
          </a:p>
        </p:txBody>
      </p:sp>
      <p:sp>
        <p:nvSpPr>
          <p:cNvPr id="66" name="Text 63"/>
          <p:cNvSpPr txBox="1"/>
          <p:nvPr/>
        </p:nvSpPr>
        <p:spPr>
          <a:xfrm>
            <a:off x="6400800" y="3905250"/>
            <a:ext cx="2120900" cy="381000"/>
          </a:xfrm>
          <a:prstGeom prst="rect">
            <a:avLst/>
          </a:prstGeom>
          <a:noFill/>
          <a:ln/>
        </p:spPr>
        <p:txBody>
          <a:bodyPr wrap="square" lIns="0" tIns="0" rIns="0" bIns="0" rtlCol="0" anchor="t"/>
          <a:lstStyle/>
          <a:p>
            <a:pPr indent="0" marL="0">
              <a:buNone/>
            </a:pPr>
            <a:r>
              <a:rPr lang="en-US" sz="1200" dirty="0">
                <a:solidFill>
                  <a:srgbClr val="4F6660"/>
                </a:solidFill>
                <a:latin typeface="Calibri" pitchFamily="34" charset="0"/>
                <a:ea typeface="Calibri" pitchFamily="34" charset="-122"/>
                <a:cs typeface="Calibri" pitchFamily="34" charset="-120"/>
              </a:rPr>
              <a:t>Possession, passes, carries, take-ons, pressures</a:t>
            </a:r>
            <a:endParaRPr lang="en-US" sz="1200" dirty="0"/>
          </a:p>
        </p:txBody>
      </p:sp>
      <p:sp>
        <p:nvSpPr>
          <p:cNvPr id="67" name="Shape 64"/>
          <p:cNvSpPr/>
          <p:nvPr/>
        </p:nvSpPr>
        <p:spPr>
          <a:xfrm>
            <a:off x="6400800" y="4375150"/>
            <a:ext cx="1568450" cy="215900"/>
          </a:xfrm>
          <a:prstGeom prst="roundRect">
            <a:avLst>
              <a:gd name="adj" fmla="val 63529"/>
            </a:avLst>
          </a:prstGeom>
          <a:solidFill>
            <a:srgbClr val="E4E9E6"/>
          </a:solidFill>
          <a:ln w="6350">
            <a:solidFill>
              <a:srgbClr val="E4E9E6"/>
            </a:solidFill>
            <a:prstDash val="solid"/>
          </a:ln>
        </p:spPr>
      </p:sp>
      <p:sp>
        <p:nvSpPr>
          <p:cNvPr id="68" name="Text 65"/>
          <p:cNvSpPr txBox="1"/>
          <p:nvPr/>
        </p:nvSpPr>
        <p:spPr>
          <a:xfrm>
            <a:off x="6400800" y="4375150"/>
            <a:ext cx="1568450" cy="215900"/>
          </a:xfrm>
          <a:prstGeom prst="rect">
            <a:avLst/>
          </a:prstGeom>
          <a:noFill/>
          <a:ln/>
        </p:spPr>
        <p:txBody>
          <a:bodyPr wrap="square" lIns="0" tIns="0" rIns="0" bIns="0" rtlCol="0" anchor="ctr"/>
          <a:lstStyle/>
          <a:p>
            <a:pPr algn="ctr" indent="0" marL="0">
              <a:buNone/>
            </a:pPr>
            <a:r>
              <a:rPr lang="en-US" sz="1000" b="1" dirty="0">
                <a:solidFill>
                  <a:srgbClr val="4F6660"/>
                </a:solidFill>
                <a:latin typeface="Calibri" pitchFamily="34" charset="0"/>
                <a:ea typeface="Calibri" pitchFamily="34" charset="-122"/>
                <a:cs typeface="Calibri" pitchFamily="34" charset="-120"/>
              </a:rPr>
              <a:t>Rules on positions</a:t>
            </a:r>
            <a:endParaRPr lang="en-US" sz="1000" dirty="0"/>
          </a:p>
        </p:txBody>
      </p:sp>
      <p:sp>
        <p:nvSpPr>
          <p:cNvPr id="69" name="Text 66"/>
          <p:cNvSpPr txBox="1"/>
          <p:nvPr/>
        </p:nvSpPr>
        <p:spPr>
          <a:xfrm>
            <a:off x="8686800" y="3968750"/>
            <a:ext cx="279400" cy="254000"/>
          </a:xfrm>
          <a:prstGeom prst="rect">
            <a:avLst/>
          </a:prstGeom>
          <a:noFill/>
          <a:ln/>
        </p:spPr>
        <p:txBody>
          <a:bodyPr wrap="square" lIns="0" tIns="0" rIns="0" bIns="0" rtlCol="0" anchor="t"/>
          <a:lstStyle/>
          <a:p>
            <a:pPr algn="ctr" indent="0" marL="0">
              <a:buNone/>
            </a:pPr>
            <a:r>
              <a:rPr lang="en-US" sz="2000" b="1" dirty="0">
                <a:solidFill>
                  <a:srgbClr val="0A7A5C"/>
                </a:solidFill>
                <a:latin typeface="Arial" pitchFamily="34" charset="0"/>
                <a:ea typeface="Arial" pitchFamily="34" charset="-122"/>
                <a:cs typeface="Arial" pitchFamily="34" charset="-120"/>
              </a:rPr>
              <a:t>→</a:t>
            </a:r>
            <a:endParaRPr lang="en-US" sz="2000" dirty="0"/>
          </a:p>
        </p:txBody>
      </p:sp>
      <p:sp>
        <p:nvSpPr>
          <p:cNvPr id="70" name="Shape 67"/>
          <p:cNvSpPr/>
          <p:nvPr/>
        </p:nvSpPr>
        <p:spPr>
          <a:xfrm>
            <a:off x="9004300" y="3460750"/>
            <a:ext cx="2374900" cy="1270000"/>
          </a:xfrm>
          <a:prstGeom prst="roundRect">
            <a:avLst>
              <a:gd name="adj" fmla="val 7200"/>
            </a:avLst>
          </a:prstGeom>
          <a:solidFill>
            <a:srgbClr val="FBFCFA"/>
          </a:solidFill>
          <a:ln w="9525">
            <a:solidFill>
              <a:srgbClr val="D5E1DA"/>
            </a:solidFill>
            <a:prstDash val="solid"/>
          </a:ln>
        </p:spPr>
      </p:sp>
      <p:sp>
        <p:nvSpPr>
          <p:cNvPr id="71" name="Shape 68"/>
          <p:cNvSpPr/>
          <p:nvPr/>
        </p:nvSpPr>
        <p:spPr>
          <a:xfrm>
            <a:off x="9131300" y="3562350"/>
            <a:ext cx="254000" cy="254000"/>
          </a:xfrm>
          <a:prstGeom prst="ellipse">
            <a:avLst/>
          </a:prstGeom>
          <a:solidFill>
            <a:srgbClr val="0F241D"/>
          </a:solidFill>
          <a:ln w="6350">
            <a:solidFill>
              <a:srgbClr val="0F241D"/>
            </a:solidFill>
            <a:prstDash val="solid"/>
          </a:ln>
        </p:spPr>
      </p:sp>
      <p:sp>
        <p:nvSpPr>
          <p:cNvPr id="72" name="Text 69"/>
          <p:cNvSpPr txBox="1"/>
          <p:nvPr/>
        </p:nvSpPr>
        <p:spPr>
          <a:xfrm>
            <a:off x="9131300" y="3562350"/>
            <a:ext cx="254000" cy="254000"/>
          </a:xfrm>
          <a:prstGeom prst="rect">
            <a:avLst/>
          </a:prstGeom>
          <a:noFill/>
          <a:ln/>
        </p:spPr>
        <p:txBody>
          <a:bodyPr wrap="square" lIns="0" tIns="0" rIns="0" bIns="0" rtlCol="0" anchor="ctr"/>
          <a:lstStyle/>
          <a:p>
            <a:pPr algn="ctr" indent="0" marL="0">
              <a:buNone/>
            </a:pPr>
            <a:r>
              <a:rPr lang="en-US" sz="1100" b="1" dirty="0">
                <a:solidFill>
                  <a:srgbClr val="8CE3B6"/>
                </a:solidFill>
                <a:latin typeface="Calibri" pitchFamily="34" charset="0"/>
                <a:ea typeface="Calibri" pitchFamily="34" charset="-122"/>
                <a:cs typeface="Calibri" pitchFamily="34" charset="-120"/>
              </a:rPr>
              <a:t>8</a:t>
            </a:r>
            <a:endParaRPr lang="en-US" sz="1100" dirty="0"/>
          </a:p>
        </p:txBody>
      </p:sp>
      <p:sp>
        <p:nvSpPr>
          <p:cNvPr id="73" name="Text 70"/>
          <p:cNvSpPr txBox="1"/>
          <p:nvPr/>
        </p:nvSpPr>
        <p:spPr>
          <a:xfrm>
            <a:off x="9461500" y="3562350"/>
            <a:ext cx="1816100" cy="254000"/>
          </a:xfrm>
          <a:prstGeom prst="rect">
            <a:avLst/>
          </a:prstGeom>
          <a:noFill/>
          <a:ln/>
        </p:spPr>
        <p:txBody>
          <a:bodyPr wrap="square" lIns="0" tIns="0" rIns="0" bIns="0" rtlCol="0" anchor="ctr"/>
          <a:lstStyle/>
          <a:p>
            <a:pPr indent="0" marL="0">
              <a:buNone/>
            </a:pPr>
            <a:r>
              <a:rPr lang="en-US" sz="1500" b="1" dirty="0">
                <a:solidFill>
                  <a:srgbClr val="16302A"/>
                </a:solidFill>
                <a:latin typeface="Arial" pitchFamily="34" charset="0"/>
                <a:ea typeface="Arial" pitchFamily="34" charset="-122"/>
                <a:cs typeface="Arial" pitchFamily="34" charset="-120"/>
              </a:rPr>
              <a:t>Spot actions</a:t>
            </a:r>
            <a:endParaRPr lang="en-US" sz="1500" dirty="0"/>
          </a:p>
        </p:txBody>
      </p:sp>
      <p:sp>
        <p:nvSpPr>
          <p:cNvPr id="74" name="Text 71"/>
          <p:cNvSpPr txBox="1"/>
          <p:nvPr/>
        </p:nvSpPr>
        <p:spPr>
          <a:xfrm>
            <a:off x="9131300" y="3905250"/>
            <a:ext cx="2120900" cy="381000"/>
          </a:xfrm>
          <a:prstGeom prst="rect">
            <a:avLst/>
          </a:prstGeom>
          <a:noFill/>
          <a:ln/>
        </p:spPr>
        <p:txBody>
          <a:bodyPr wrap="square" lIns="0" tIns="0" rIns="0" bIns="0" rtlCol="0" anchor="t"/>
          <a:lstStyle/>
          <a:p>
            <a:pPr indent="0" marL="0">
              <a:buNone/>
            </a:pPr>
            <a:r>
              <a:rPr lang="en-US" sz="1200" dirty="0">
                <a:solidFill>
                  <a:srgbClr val="4F6660"/>
                </a:solidFill>
                <a:latin typeface="Calibri" pitchFamily="34" charset="0"/>
                <a:ea typeface="Calibri" pitchFamily="34" charset="-122"/>
                <a:cs typeface="Calibri" pitchFamily="34" charset="-120"/>
              </a:rPr>
              <a:t>Shots, tackles, blocks, headers, crosses</a:t>
            </a:r>
            <a:endParaRPr lang="en-US" sz="1200" dirty="0"/>
          </a:p>
        </p:txBody>
      </p:sp>
      <p:sp>
        <p:nvSpPr>
          <p:cNvPr id="75" name="Shape 72"/>
          <p:cNvSpPr/>
          <p:nvPr/>
        </p:nvSpPr>
        <p:spPr>
          <a:xfrm>
            <a:off x="9131300" y="4375150"/>
            <a:ext cx="1568450" cy="215900"/>
          </a:xfrm>
          <a:prstGeom prst="roundRect">
            <a:avLst>
              <a:gd name="adj" fmla="val 63529"/>
            </a:avLst>
          </a:prstGeom>
          <a:solidFill>
            <a:srgbClr val="CDEEDD"/>
          </a:solidFill>
          <a:ln w="6350">
            <a:solidFill>
              <a:srgbClr val="CDEEDD"/>
            </a:solidFill>
            <a:prstDash val="solid"/>
          </a:ln>
        </p:spPr>
      </p:sp>
      <p:sp>
        <p:nvSpPr>
          <p:cNvPr id="76" name="Text 73"/>
          <p:cNvSpPr txBox="1"/>
          <p:nvPr/>
        </p:nvSpPr>
        <p:spPr>
          <a:xfrm>
            <a:off x="9131300" y="4375150"/>
            <a:ext cx="1568450" cy="215900"/>
          </a:xfrm>
          <a:prstGeom prst="rect">
            <a:avLst/>
          </a:prstGeom>
          <a:noFill/>
          <a:ln/>
        </p:spPr>
        <p:txBody>
          <a:bodyPr wrap="square" lIns="0" tIns="0" rIns="0" bIns="0" rtlCol="0" anchor="ctr"/>
          <a:lstStyle/>
          <a:p>
            <a:pPr algn="ctr" indent="0" marL="0">
              <a:buNone/>
            </a:pPr>
            <a:r>
              <a:rPr lang="en-US" sz="1000" b="1" dirty="0">
                <a:solidFill>
                  <a:srgbClr val="07573F"/>
                </a:solidFill>
                <a:latin typeface="Calibri" pitchFamily="34" charset="0"/>
                <a:ea typeface="Calibri" pitchFamily="34" charset="-122"/>
                <a:cs typeface="Calibri" pitchFamily="34" charset="-120"/>
              </a:rPr>
              <a:t>T-DEED, fine-tuned</a:t>
            </a:r>
            <a:endParaRPr lang="en-US" sz="1000" dirty="0"/>
          </a:p>
        </p:txBody>
      </p:sp>
      <p:sp>
        <p:nvSpPr>
          <p:cNvPr id="77" name="Text 74"/>
          <p:cNvSpPr txBox="1"/>
          <p:nvPr/>
        </p:nvSpPr>
        <p:spPr>
          <a:xfrm>
            <a:off x="812800" y="4768850"/>
            <a:ext cx="5080000" cy="177800"/>
          </a:xfrm>
          <a:prstGeom prst="rect">
            <a:avLst/>
          </a:prstGeom>
          <a:noFill/>
          <a:ln/>
        </p:spPr>
        <p:txBody>
          <a:bodyPr wrap="square" lIns="0" tIns="0" rIns="0" bIns="0" rtlCol="0" anchor="t"/>
          <a:lstStyle/>
          <a:p>
            <a:pPr indent="0" marL="0">
              <a:buNone/>
            </a:pPr>
            <a:r>
              <a:rPr lang="en-US" sz="1100" b="1" spc="150" kern="0" dirty="0">
                <a:solidFill>
                  <a:srgbClr val="0A7A5C"/>
                </a:solidFill>
                <a:latin typeface="Calibri" pitchFamily="34" charset="0"/>
                <a:ea typeface="Calibri" pitchFamily="34" charset="-122"/>
                <a:cs typeface="Calibri" pitchFamily="34" charset="-120"/>
              </a:rPr>
              <a:t>C · KNOW WHO, THEN COUNT</a:t>
            </a:r>
            <a:endParaRPr lang="en-US" sz="1100" dirty="0"/>
          </a:p>
        </p:txBody>
      </p:sp>
      <p:sp>
        <p:nvSpPr>
          <p:cNvPr id="78" name="Shape 75"/>
          <p:cNvSpPr/>
          <p:nvPr/>
        </p:nvSpPr>
        <p:spPr>
          <a:xfrm>
            <a:off x="812800" y="4972050"/>
            <a:ext cx="2374900" cy="1270000"/>
          </a:xfrm>
          <a:prstGeom prst="roundRect">
            <a:avLst>
              <a:gd name="adj" fmla="val 7200"/>
            </a:avLst>
          </a:prstGeom>
          <a:solidFill>
            <a:srgbClr val="FBFCFA"/>
          </a:solidFill>
          <a:ln w="9525">
            <a:solidFill>
              <a:srgbClr val="D5E1DA"/>
            </a:solidFill>
            <a:prstDash val="solid"/>
          </a:ln>
        </p:spPr>
      </p:sp>
      <p:sp>
        <p:nvSpPr>
          <p:cNvPr id="79" name="Shape 76"/>
          <p:cNvSpPr/>
          <p:nvPr/>
        </p:nvSpPr>
        <p:spPr>
          <a:xfrm>
            <a:off x="939800" y="5073650"/>
            <a:ext cx="254000" cy="254000"/>
          </a:xfrm>
          <a:prstGeom prst="ellipse">
            <a:avLst/>
          </a:prstGeom>
          <a:solidFill>
            <a:srgbClr val="0F241D"/>
          </a:solidFill>
          <a:ln w="6350">
            <a:solidFill>
              <a:srgbClr val="0F241D"/>
            </a:solidFill>
            <a:prstDash val="solid"/>
          </a:ln>
        </p:spPr>
      </p:sp>
      <p:sp>
        <p:nvSpPr>
          <p:cNvPr id="80" name="Text 77"/>
          <p:cNvSpPr txBox="1"/>
          <p:nvPr/>
        </p:nvSpPr>
        <p:spPr>
          <a:xfrm>
            <a:off x="939800" y="5073650"/>
            <a:ext cx="254000" cy="254000"/>
          </a:xfrm>
          <a:prstGeom prst="rect">
            <a:avLst/>
          </a:prstGeom>
          <a:noFill/>
          <a:ln/>
        </p:spPr>
        <p:txBody>
          <a:bodyPr wrap="square" lIns="0" tIns="0" rIns="0" bIns="0" rtlCol="0" anchor="ctr"/>
          <a:lstStyle/>
          <a:p>
            <a:pPr algn="ctr" indent="0" marL="0">
              <a:buNone/>
            </a:pPr>
            <a:r>
              <a:rPr lang="en-US" sz="1100" b="1" dirty="0">
                <a:solidFill>
                  <a:srgbClr val="8CE3B6"/>
                </a:solidFill>
                <a:latin typeface="Calibri" pitchFamily="34" charset="0"/>
                <a:ea typeface="Calibri" pitchFamily="34" charset="-122"/>
                <a:cs typeface="Calibri" pitchFamily="34" charset="-120"/>
              </a:rPr>
              <a:t>9</a:t>
            </a:r>
            <a:endParaRPr lang="en-US" sz="1100" dirty="0"/>
          </a:p>
        </p:txBody>
      </p:sp>
      <p:sp>
        <p:nvSpPr>
          <p:cNvPr id="81" name="Text 78"/>
          <p:cNvSpPr txBox="1"/>
          <p:nvPr/>
        </p:nvSpPr>
        <p:spPr>
          <a:xfrm>
            <a:off x="1270000" y="5073650"/>
            <a:ext cx="1816100" cy="254000"/>
          </a:xfrm>
          <a:prstGeom prst="rect">
            <a:avLst/>
          </a:prstGeom>
          <a:noFill/>
          <a:ln/>
        </p:spPr>
        <p:txBody>
          <a:bodyPr wrap="square" lIns="0" tIns="0" rIns="0" bIns="0" rtlCol="0" anchor="ctr"/>
          <a:lstStyle/>
          <a:p>
            <a:pPr indent="0" marL="0">
              <a:buNone/>
            </a:pPr>
            <a:r>
              <a:rPr lang="en-US" sz="1500" b="1" dirty="0">
                <a:solidFill>
                  <a:srgbClr val="16302A"/>
                </a:solidFill>
                <a:latin typeface="Arial" pitchFamily="34" charset="0"/>
                <a:ea typeface="Arial" pitchFamily="34" charset="-122"/>
                <a:cs typeface="Arial" pitchFamily="34" charset="-120"/>
              </a:rPr>
              <a:t>Thumbnails</a:t>
            </a:r>
            <a:endParaRPr lang="en-US" sz="1500" dirty="0"/>
          </a:p>
        </p:txBody>
      </p:sp>
      <p:sp>
        <p:nvSpPr>
          <p:cNvPr id="82" name="Text 79"/>
          <p:cNvSpPr txBox="1"/>
          <p:nvPr/>
        </p:nvSpPr>
        <p:spPr>
          <a:xfrm>
            <a:off x="939800" y="5416550"/>
            <a:ext cx="2120900" cy="381000"/>
          </a:xfrm>
          <a:prstGeom prst="rect">
            <a:avLst/>
          </a:prstGeom>
          <a:noFill/>
          <a:ln/>
        </p:spPr>
        <p:txBody>
          <a:bodyPr wrap="square" lIns="0" tIns="0" rIns="0" bIns="0" rtlCol="0" anchor="t"/>
          <a:lstStyle/>
          <a:p>
            <a:pPr indent="0" marL="0">
              <a:buNone/>
            </a:pPr>
            <a:r>
              <a:rPr lang="en-US" sz="1200" dirty="0">
                <a:solidFill>
                  <a:srgbClr val="4F6660"/>
                </a:solidFill>
                <a:latin typeface="Calibri" pitchFamily="34" charset="0"/>
                <a:ea typeface="Calibri" pitchFamily="34" charset="-122"/>
                <a:cs typeface="Calibri" pitchFamily="34" charset="-120"/>
              </a:rPr>
              <a:t>Up to 24 player crops per tracklet</a:t>
            </a:r>
            <a:endParaRPr lang="en-US" sz="1200" dirty="0"/>
          </a:p>
        </p:txBody>
      </p:sp>
      <p:sp>
        <p:nvSpPr>
          <p:cNvPr id="83" name="Shape 80"/>
          <p:cNvSpPr/>
          <p:nvPr/>
        </p:nvSpPr>
        <p:spPr>
          <a:xfrm>
            <a:off x="939800" y="5886450"/>
            <a:ext cx="1495425" cy="215900"/>
          </a:xfrm>
          <a:prstGeom prst="roundRect">
            <a:avLst>
              <a:gd name="adj" fmla="val 63529"/>
            </a:avLst>
          </a:prstGeom>
          <a:solidFill>
            <a:srgbClr val="E4E9E6"/>
          </a:solidFill>
          <a:ln w="6350">
            <a:solidFill>
              <a:srgbClr val="E4E9E6"/>
            </a:solidFill>
            <a:prstDash val="solid"/>
          </a:ln>
        </p:spPr>
      </p:sp>
      <p:sp>
        <p:nvSpPr>
          <p:cNvPr id="84" name="Text 81"/>
          <p:cNvSpPr txBox="1"/>
          <p:nvPr/>
        </p:nvSpPr>
        <p:spPr>
          <a:xfrm>
            <a:off x="939800" y="5886450"/>
            <a:ext cx="1495425" cy="215900"/>
          </a:xfrm>
          <a:prstGeom prst="rect">
            <a:avLst/>
          </a:prstGeom>
          <a:noFill/>
          <a:ln/>
        </p:spPr>
        <p:txBody>
          <a:bodyPr wrap="square" lIns="0" tIns="0" rIns="0" bIns="0" rtlCol="0" anchor="ctr"/>
          <a:lstStyle/>
          <a:p>
            <a:pPr algn="ctr" indent="0" marL="0">
              <a:buNone/>
            </a:pPr>
            <a:r>
              <a:rPr lang="en-US" sz="1000" b="1" dirty="0">
                <a:solidFill>
                  <a:srgbClr val="4F6660"/>
                </a:solidFill>
                <a:latin typeface="Calibri" pitchFamily="34" charset="0"/>
                <a:ea typeface="Calibri" pitchFamily="34" charset="-122"/>
                <a:cs typeface="Calibri" pitchFamily="34" charset="-120"/>
              </a:rPr>
              <a:t>Re-cut from boxes</a:t>
            </a:r>
            <a:endParaRPr lang="en-US" sz="1000" dirty="0"/>
          </a:p>
        </p:txBody>
      </p:sp>
      <p:sp>
        <p:nvSpPr>
          <p:cNvPr id="85" name="Text 82"/>
          <p:cNvSpPr txBox="1"/>
          <p:nvPr/>
        </p:nvSpPr>
        <p:spPr>
          <a:xfrm>
            <a:off x="3225800" y="5480050"/>
            <a:ext cx="279400" cy="254000"/>
          </a:xfrm>
          <a:prstGeom prst="rect">
            <a:avLst/>
          </a:prstGeom>
          <a:noFill/>
          <a:ln/>
        </p:spPr>
        <p:txBody>
          <a:bodyPr wrap="square" lIns="0" tIns="0" rIns="0" bIns="0" rtlCol="0" anchor="t"/>
          <a:lstStyle/>
          <a:p>
            <a:pPr algn="ctr" indent="0" marL="0">
              <a:buNone/>
            </a:pPr>
            <a:r>
              <a:rPr lang="en-US" sz="2000" b="1" dirty="0">
                <a:solidFill>
                  <a:srgbClr val="0A7A5C"/>
                </a:solidFill>
                <a:latin typeface="Arial" pitchFamily="34" charset="0"/>
                <a:ea typeface="Arial" pitchFamily="34" charset="-122"/>
                <a:cs typeface="Arial" pitchFamily="34" charset="-120"/>
              </a:rPr>
              <a:t>→</a:t>
            </a:r>
            <a:endParaRPr lang="en-US" sz="2000" dirty="0"/>
          </a:p>
        </p:txBody>
      </p:sp>
      <p:sp>
        <p:nvSpPr>
          <p:cNvPr id="86" name="Shape 83"/>
          <p:cNvSpPr/>
          <p:nvPr/>
        </p:nvSpPr>
        <p:spPr>
          <a:xfrm>
            <a:off x="3543300" y="4972050"/>
            <a:ext cx="2374900" cy="1270000"/>
          </a:xfrm>
          <a:prstGeom prst="roundRect">
            <a:avLst>
              <a:gd name="adj" fmla="val 7200"/>
            </a:avLst>
          </a:prstGeom>
          <a:solidFill>
            <a:srgbClr val="FBFCFA"/>
          </a:solidFill>
          <a:ln w="9525">
            <a:solidFill>
              <a:srgbClr val="D5E1DA"/>
            </a:solidFill>
            <a:prstDash val="solid"/>
          </a:ln>
        </p:spPr>
      </p:sp>
      <p:sp>
        <p:nvSpPr>
          <p:cNvPr id="87" name="Shape 84"/>
          <p:cNvSpPr/>
          <p:nvPr/>
        </p:nvSpPr>
        <p:spPr>
          <a:xfrm>
            <a:off x="3670300" y="5073650"/>
            <a:ext cx="254000" cy="254000"/>
          </a:xfrm>
          <a:prstGeom prst="ellipse">
            <a:avLst/>
          </a:prstGeom>
          <a:solidFill>
            <a:srgbClr val="0F241D"/>
          </a:solidFill>
          <a:ln w="6350">
            <a:solidFill>
              <a:srgbClr val="0F241D"/>
            </a:solidFill>
            <a:prstDash val="solid"/>
          </a:ln>
        </p:spPr>
      </p:sp>
      <p:sp>
        <p:nvSpPr>
          <p:cNvPr id="88" name="Text 85"/>
          <p:cNvSpPr txBox="1"/>
          <p:nvPr/>
        </p:nvSpPr>
        <p:spPr>
          <a:xfrm>
            <a:off x="3670300" y="5073650"/>
            <a:ext cx="254000" cy="254000"/>
          </a:xfrm>
          <a:prstGeom prst="rect">
            <a:avLst/>
          </a:prstGeom>
          <a:noFill/>
          <a:ln/>
        </p:spPr>
        <p:txBody>
          <a:bodyPr wrap="square" lIns="0" tIns="0" rIns="0" bIns="0" rtlCol="0" anchor="ctr"/>
          <a:lstStyle/>
          <a:p>
            <a:pPr algn="ctr" indent="0" marL="0">
              <a:buNone/>
            </a:pPr>
            <a:r>
              <a:rPr lang="en-US" sz="1100" b="1" dirty="0">
                <a:solidFill>
                  <a:srgbClr val="8CE3B6"/>
                </a:solidFill>
                <a:latin typeface="Calibri" pitchFamily="34" charset="0"/>
                <a:ea typeface="Calibri" pitchFamily="34" charset="-122"/>
                <a:cs typeface="Calibri" pitchFamily="34" charset="-120"/>
              </a:rPr>
              <a:t>10</a:t>
            </a:r>
            <a:endParaRPr lang="en-US" sz="1100" dirty="0"/>
          </a:p>
        </p:txBody>
      </p:sp>
      <p:sp>
        <p:nvSpPr>
          <p:cNvPr id="89" name="Text 86"/>
          <p:cNvSpPr txBox="1"/>
          <p:nvPr/>
        </p:nvSpPr>
        <p:spPr>
          <a:xfrm>
            <a:off x="4000500" y="5073650"/>
            <a:ext cx="1816100" cy="254000"/>
          </a:xfrm>
          <a:prstGeom prst="rect">
            <a:avLst/>
          </a:prstGeom>
          <a:noFill/>
          <a:ln/>
        </p:spPr>
        <p:txBody>
          <a:bodyPr wrap="square" lIns="0" tIns="0" rIns="0" bIns="0" rtlCol="0" anchor="ctr"/>
          <a:lstStyle/>
          <a:p>
            <a:pPr indent="0" marL="0">
              <a:buNone/>
            </a:pPr>
            <a:r>
              <a:rPr lang="en-US" sz="1500" b="1" dirty="0">
                <a:solidFill>
                  <a:srgbClr val="16302A"/>
                </a:solidFill>
                <a:latin typeface="Arial" pitchFamily="34" charset="0"/>
                <a:ea typeface="Arial" pitchFamily="34" charset="-122"/>
                <a:cs typeface="Arial" pitchFamily="34" charset="-120"/>
              </a:rPr>
              <a:t>Shirt numbers</a:t>
            </a:r>
            <a:endParaRPr lang="en-US" sz="1500" dirty="0"/>
          </a:p>
        </p:txBody>
      </p:sp>
      <p:sp>
        <p:nvSpPr>
          <p:cNvPr id="90" name="Text 87"/>
          <p:cNvSpPr txBox="1"/>
          <p:nvPr/>
        </p:nvSpPr>
        <p:spPr>
          <a:xfrm>
            <a:off x="3670300" y="5416550"/>
            <a:ext cx="2120900" cy="381000"/>
          </a:xfrm>
          <a:prstGeom prst="rect">
            <a:avLst/>
          </a:prstGeom>
          <a:noFill/>
          <a:ln/>
        </p:spPr>
        <p:txBody>
          <a:bodyPr wrap="square" lIns="0" tIns="0" rIns="0" bIns="0" rtlCol="0" anchor="t"/>
          <a:lstStyle/>
          <a:p>
            <a:pPr indent="0" marL="0">
              <a:buNone/>
            </a:pPr>
            <a:r>
              <a:rPr lang="en-US" sz="1200" dirty="0">
                <a:solidFill>
                  <a:srgbClr val="4F6660"/>
                </a:solidFill>
                <a:latin typeface="Calibri" pitchFamily="34" charset="0"/>
                <a:ea typeface="Calibri" pitchFamily="34" charset="-122"/>
                <a:cs typeface="Calibri" pitchFamily="34" charset="-120"/>
              </a:rPr>
              <a:t>Is the number legible? If so, read it</a:t>
            </a:r>
            <a:endParaRPr lang="en-US" sz="1200" dirty="0"/>
          </a:p>
        </p:txBody>
      </p:sp>
      <p:sp>
        <p:nvSpPr>
          <p:cNvPr id="91" name="Shape 88"/>
          <p:cNvSpPr/>
          <p:nvPr/>
        </p:nvSpPr>
        <p:spPr>
          <a:xfrm>
            <a:off x="3670300" y="5886450"/>
            <a:ext cx="1568450" cy="215900"/>
          </a:xfrm>
          <a:prstGeom prst="roundRect">
            <a:avLst>
              <a:gd name="adj" fmla="val 63529"/>
            </a:avLst>
          </a:prstGeom>
          <a:solidFill>
            <a:srgbClr val="DCE8FA"/>
          </a:solidFill>
          <a:ln w="6350">
            <a:solidFill>
              <a:srgbClr val="DCE8FA"/>
            </a:solidFill>
            <a:prstDash val="solid"/>
          </a:ln>
        </p:spPr>
      </p:sp>
      <p:sp>
        <p:nvSpPr>
          <p:cNvPr id="92" name="Text 89"/>
          <p:cNvSpPr txBox="1"/>
          <p:nvPr/>
        </p:nvSpPr>
        <p:spPr>
          <a:xfrm>
            <a:off x="3670300" y="5886450"/>
            <a:ext cx="1568450" cy="215900"/>
          </a:xfrm>
          <a:prstGeom prst="rect">
            <a:avLst/>
          </a:prstGeom>
          <a:noFill/>
          <a:ln/>
        </p:spPr>
        <p:txBody>
          <a:bodyPr wrap="square" lIns="0" tIns="0" rIns="0" bIns="0" rtlCol="0" anchor="ctr"/>
          <a:lstStyle/>
          <a:p>
            <a:pPr algn="ctr" indent="0" marL="0">
              <a:buNone/>
            </a:pPr>
            <a:r>
              <a:rPr lang="en-US" sz="1000" b="1" dirty="0">
                <a:solidFill>
                  <a:srgbClr val="1D4F9F"/>
                </a:solidFill>
                <a:latin typeface="Calibri" pitchFamily="34" charset="0"/>
                <a:ea typeface="Calibri" pitchFamily="34" charset="-122"/>
                <a:cs typeface="Calibri" pitchFamily="34" charset="-120"/>
              </a:rPr>
              <a:t>ResNet-34 + PARSeq</a:t>
            </a:r>
            <a:endParaRPr lang="en-US" sz="1000" dirty="0"/>
          </a:p>
        </p:txBody>
      </p:sp>
      <p:sp>
        <p:nvSpPr>
          <p:cNvPr id="93" name="Text 90"/>
          <p:cNvSpPr txBox="1"/>
          <p:nvPr/>
        </p:nvSpPr>
        <p:spPr>
          <a:xfrm>
            <a:off x="5956300" y="5480050"/>
            <a:ext cx="279400" cy="254000"/>
          </a:xfrm>
          <a:prstGeom prst="rect">
            <a:avLst/>
          </a:prstGeom>
          <a:noFill/>
          <a:ln/>
        </p:spPr>
        <p:txBody>
          <a:bodyPr wrap="square" lIns="0" tIns="0" rIns="0" bIns="0" rtlCol="0" anchor="t"/>
          <a:lstStyle/>
          <a:p>
            <a:pPr algn="ctr" indent="0" marL="0">
              <a:buNone/>
            </a:pPr>
            <a:r>
              <a:rPr lang="en-US" sz="2000" b="1" dirty="0">
                <a:solidFill>
                  <a:srgbClr val="0A7A5C"/>
                </a:solidFill>
                <a:latin typeface="Arial" pitchFamily="34" charset="0"/>
                <a:ea typeface="Arial" pitchFamily="34" charset="-122"/>
                <a:cs typeface="Arial" pitchFamily="34" charset="-120"/>
              </a:rPr>
              <a:t>→</a:t>
            </a:r>
            <a:endParaRPr lang="en-US" sz="2000" dirty="0"/>
          </a:p>
        </p:txBody>
      </p:sp>
      <p:sp>
        <p:nvSpPr>
          <p:cNvPr id="94" name="Shape 91"/>
          <p:cNvSpPr/>
          <p:nvPr/>
        </p:nvSpPr>
        <p:spPr>
          <a:xfrm>
            <a:off x="6273800" y="4972050"/>
            <a:ext cx="2374900" cy="1270000"/>
          </a:xfrm>
          <a:prstGeom prst="roundRect">
            <a:avLst>
              <a:gd name="adj" fmla="val 7200"/>
            </a:avLst>
          </a:prstGeom>
          <a:solidFill>
            <a:srgbClr val="FBFCFA"/>
          </a:solidFill>
          <a:ln w="9525">
            <a:solidFill>
              <a:srgbClr val="D5E1DA"/>
            </a:solidFill>
            <a:prstDash val="solid"/>
          </a:ln>
        </p:spPr>
      </p:sp>
      <p:sp>
        <p:nvSpPr>
          <p:cNvPr id="95" name="Shape 92"/>
          <p:cNvSpPr/>
          <p:nvPr/>
        </p:nvSpPr>
        <p:spPr>
          <a:xfrm>
            <a:off x="6400800" y="5073650"/>
            <a:ext cx="254000" cy="254000"/>
          </a:xfrm>
          <a:prstGeom prst="ellipse">
            <a:avLst/>
          </a:prstGeom>
          <a:solidFill>
            <a:srgbClr val="0F241D"/>
          </a:solidFill>
          <a:ln w="6350">
            <a:solidFill>
              <a:srgbClr val="0F241D"/>
            </a:solidFill>
            <a:prstDash val="solid"/>
          </a:ln>
        </p:spPr>
      </p:sp>
      <p:sp>
        <p:nvSpPr>
          <p:cNvPr id="96" name="Text 93"/>
          <p:cNvSpPr txBox="1"/>
          <p:nvPr/>
        </p:nvSpPr>
        <p:spPr>
          <a:xfrm>
            <a:off x="6400800" y="5073650"/>
            <a:ext cx="254000" cy="254000"/>
          </a:xfrm>
          <a:prstGeom prst="rect">
            <a:avLst/>
          </a:prstGeom>
          <a:noFill/>
          <a:ln/>
        </p:spPr>
        <p:txBody>
          <a:bodyPr wrap="square" lIns="0" tIns="0" rIns="0" bIns="0" rtlCol="0" anchor="ctr"/>
          <a:lstStyle/>
          <a:p>
            <a:pPr algn="ctr" indent="0" marL="0">
              <a:buNone/>
            </a:pPr>
            <a:r>
              <a:rPr lang="en-US" sz="1100" b="1" dirty="0">
                <a:solidFill>
                  <a:srgbClr val="8CE3B6"/>
                </a:solidFill>
                <a:latin typeface="Calibri" pitchFamily="34" charset="0"/>
                <a:ea typeface="Calibri" pitchFamily="34" charset="-122"/>
                <a:cs typeface="Calibri" pitchFamily="34" charset="-120"/>
              </a:rPr>
              <a:t>11</a:t>
            </a:r>
            <a:endParaRPr lang="en-US" sz="1100" dirty="0"/>
          </a:p>
        </p:txBody>
      </p:sp>
      <p:sp>
        <p:nvSpPr>
          <p:cNvPr id="97" name="Text 94"/>
          <p:cNvSpPr txBox="1"/>
          <p:nvPr/>
        </p:nvSpPr>
        <p:spPr>
          <a:xfrm>
            <a:off x="6731000" y="5073650"/>
            <a:ext cx="1816100" cy="254000"/>
          </a:xfrm>
          <a:prstGeom prst="rect">
            <a:avLst/>
          </a:prstGeom>
          <a:noFill/>
          <a:ln/>
        </p:spPr>
        <p:txBody>
          <a:bodyPr wrap="square" lIns="0" tIns="0" rIns="0" bIns="0" rtlCol="0" anchor="ctr"/>
          <a:lstStyle/>
          <a:p>
            <a:pPr indent="0" marL="0">
              <a:buNone/>
            </a:pPr>
            <a:r>
              <a:rPr lang="en-US" sz="1500" b="1" dirty="0">
                <a:solidFill>
                  <a:srgbClr val="16302A"/>
                </a:solidFill>
                <a:latin typeface="Arial" pitchFamily="34" charset="0"/>
                <a:ea typeface="Arial" pitchFamily="34" charset="-122"/>
                <a:cs typeface="Arial" pitchFamily="34" charset="-120"/>
              </a:rPr>
              <a:t>Appearance</a:t>
            </a:r>
            <a:endParaRPr lang="en-US" sz="1500" dirty="0"/>
          </a:p>
        </p:txBody>
      </p:sp>
      <p:sp>
        <p:nvSpPr>
          <p:cNvPr id="98" name="Text 95"/>
          <p:cNvSpPr txBox="1"/>
          <p:nvPr/>
        </p:nvSpPr>
        <p:spPr>
          <a:xfrm>
            <a:off x="6400800" y="5416550"/>
            <a:ext cx="2120900" cy="381000"/>
          </a:xfrm>
          <a:prstGeom prst="rect">
            <a:avLst/>
          </a:prstGeom>
          <a:noFill/>
          <a:ln/>
        </p:spPr>
        <p:txBody>
          <a:bodyPr wrap="square" lIns="0" tIns="0" rIns="0" bIns="0" rtlCol="0" anchor="t"/>
          <a:lstStyle/>
          <a:p>
            <a:pPr indent="0" marL="0">
              <a:buNone/>
            </a:pPr>
            <a:r>
              <a:rPr lang="en-US" sz="1200" dirty="0">
                <a:solidFill>
                  <a:srgbClr val="4F6660"/>
                </a:solidFill>
                <a:latin typeface="Calibri" pitchFamily="34" charset="0"/>
                <a:ea typeface="Calibri" pitchFamily="34" charset="-122"/>
                <a:cs typeface="Calibri" pitchFamily="34" charset="-120"/>
              </a:rPr>
              <a:t>Link unnumbered segments; spot goalkeepers</a:t>
            </a:r>
            <a:endParaRPr lang="en-US" sz="1200" dirty="0"/>
          </a:p>
        </p:txBody>
      </p:sp>
      <p:sp>
        <p:nvSpPr>
          <p:cNvPr id="99" name="Shape 96"/>
          <p:cNvSpPr/>
          <p:nvPr/>
        </p:nvSpPr>
        <p:spPr>
          <a:xfrm>
            <a:off x="6400800" y="5886450"/>
            <a:ext cx="2079625" cy="215900"/>
          </a:xfrm>
          <a:prstGeom prst="roundRect">
            <a:avLst>
              <a:gd name="adj" fmla="val 63529"/>
            </a:avLst>
          </a:prstGeom>
          <a:solidFill>
            <a:srgbClr val="CDEEDD"/>
          </a:solidFill>
          <a:ln w="6350">
            <a:solidFill>
              <a:srgbClr val="CDEEDD"/>
            </a:solidFill>
            <a:prstDash val="solid"/>
          </a:ln>
        </p:spPr>
      </p:sp>
      <p:sp>
        <p:nvSpPr>
          <p:cNvPr id="100" name="Text 97"/>
          <p:cNvSpPr txBox="1"/>
          <p:nvPr/>
        </p:nvSpPr>
        <p:spPr>
          <a:xfrm>
            <a:off x="6400800" y="5886450"/>
            <a:ext cx="2079625" cy="215900"/>
          </a:xfrm>
          <a:prstGeom prst="rect">
            <a:avLst/>
          </a:prstGeom>
          <a:noFill/>
          <a:ln/>
        </p:spPr>
        <p:txBody>
          <a:bodyPr wrap="square" lIns="0" tIns="0" rIns="0" bIns="0" rtlCol="0" anchor="ctr"/>
          <a:lstStyle/>
          <a:p>
            <a:pPr algn="ctr" indent="0" marL="0">
              <a:buNone/>
            </a:pPr>
            <a:r>
              <a:rPr lang="en-US" sz="1000" b="1" dirty="0">
                <a:solidFill>
                  <a:srgbClr val="07573F"/>
                </a:solidFill>
                <a:latin typeface="Calibri" pitchFamily="34" charset="0"/>
                <a:ea typeface="Calibri" pitchFamily="34" charset="-122"/>
                <a:cs typeface="Calibri" pitchFamily="34" charset="-120"/>
              </a:rPr>
              <a:t>CLIP ViT-B/16, fine-tuned</a:t>
            </a:r>
            <a:endParaRPr lang="en-US" sz="1000" dirty="0"/>
          </a:p>
        </p:txBody>
      </p:sp>
      <p:sp>
        <p:nvSpPr>
          <p:cNvPr id="101" name="Text 98"/>
          <p:cNvSpPr txBox="1"/>
          <p:nvPr/>
        </p:nvSpPr>
        <p:spPr>
          <a:xfrm>
            <a:off x="8686800" y="5480050"/>
            <a:ext cx="279400" cy="254000"/>
          </a:xfrm>
          <a:prstGeom prst="rect">
            <a:avLst/>
          </a:prstGeom>
          <a:noFill/>
          <a:ln/>
        </p:spPr>
        <p:txBody>
          <a:bodyPr wrap="square" lIns="0" tIns="0" rIns="0" bIns="0" rtlCol="0" anchor="t"/>
          <a:lstStyle/>
          <a:p>
            <a:pPr algn="ctr" indent="0" marL="0">
              <a:buNone/>
            </a:pPr>
            <a:r>
              <a:rPr lang="en-US" sz="2000" b="1" dirty="0">
                <a:solidFill>
                  <a:srgbClr val="0A7A5C"/>
                </a:solidFill>
                <a:latin typeface="Arial" pitchFamily="34" charset="0"/>
                <a:ea typeface="Arial" pitchFamily="34" charset="-122"/>
                <a:cs typeface="Arial" pitchFamily="34" charset="-120"/>
              </a:rPr>
              <a:t>→</a:t>
            </a:r>
            <a:endParaRPr lang="en-US" sz="2000" dirty="0"/>
          </a:p>
        </p:txBody>
      </p:sp>
      <p:sp>
        <p:nvSpPr>
          <p:cNvPr id="102" name="Shape 99"/>
          <p:cNvSpPr/>
          <p:nvPr/>
        </p:nvSpPr>
        <p:spPr>
          <a:xfrm>
            <a:off x="9004300" y="4972050"/>
            <a:ext cx="2374900" cy="1270000"/>
          </a:xfrm>
          <a:prstGeom prst="roundRect">
            <a:avLst>
              <a:gd name="adj" fmla="val 7200"/>
            </a:avLst>
          </a:prstGeom>
          <a:solidFill>
            <a:srgbClr val="FBFCFA"/>
          </a:solidFill>
          <a:ln w="9525">
            <a:solidFill>
              <a:srgbClr val="D5E1DA"/>
            </a:solidFill>
            <a:prstDash val="solid"/>
          </a:ln>
        </p:spPr>
      </p:sp>
      <p:sp>
        <p:nvSpPr>
          <p:cNvPr id="103" name="Shape 100"/>
          <p:cNvSpPr/>
          <p:nvPr/>
        </p:nvSpPr>
        <p:spPr>
          <a:xfrm>
            <a:off x="9131300" y="5073650"/>
            <a:ext cx="254000" cy="254000"/>
          </a:xfrm>
          <a:prstGeom prst="ellipse">
            <a:avLst/>
          </a:prstGeom>
          <a:solidFill>
            <a:srgbClr val="0F241D"/>
          </a:solidFill>
          <a:ln w="6350">
            <a:solidFill>
              <a:srgbClr val="0F241D"/>
            </a:solidFill>
            <a:prstDash val="solid"/>
          </a:ln>
        </p:spPr>
      </p:sp>
      <p:sp>
        <p:nvSpPr>
          <p:cNvPr id="104" name="Text 101"/>
          <p:cNvSpPr txBox="1"/>
          <p:nvPr/>
        </p:nvSpPr>
        <p:spPr>
          <a:xfrm>
            <a:off x="9131300" y="5073650"/>
            <a:ext cx="254000" cy="254000"/>
          </a:xfrm>
          <a:prstGeom prst="rect">
            <a:avLst/>
          </a:prstGeom>
          <a:noFill/>
          <a:ln/>
        </p:spPr>
        <p:txBody>
          <a:bodyPr wrap="square" lIns="0" tIns="0" rIns="0" bIns="0" rtlCol="0" anchor="ctr"/>
          <a:lstStyle/>
          <a:p>
            <a:pPr algn="ctr" indent="0" marL="0">
              <a:buNone/>
            </a:pPr>
            <a:r>
              <a:rPr lang="en-US" sz="1100" b="1" dirty="0">
                <a:solidFill>
                  <a:srgbClr val="8CE3B6"/>
                </a:solidFill>
                <a:latin typeface="Calibri" pitchFamily="34" charset="0"/>
                <a:ea typeface="Calibri" pitchFamily="34" charset="-122"/>
                <a:cs typeface="Calibri" pitchFamily="34" charset="-120"/>
              </a:rPr>
              <a:t>12</a:t>
            </a:r>
            <a:endParaRPr lang="en-US" sz="1100" dirty="0"/>
          </a:p>
        </p:txBody>
      </p:sp>
      <p:sp>
        <p:nvSpPr>
          <p:cNvPr id="105" name="Text 102"/>
          <p:cNvSpPr txBox="1"/>
          <p:nvPr/>
        </p:nvSpPr>
        <p:spPr>
          <a:xfrm>
            <a:off x="9461500" y="5073650"/>
            <a:ext cx="1816100" cy="254000"/>
          </a:xfrm>
          <a:prstGeom prst="rect">
            <a:avLst/>
          </a:prstGeom>
          <a:noFill/>
          <a:ln/>
        </p:spPr>
        <p:txBody>
          <a:bodyPr wrap="square" lIns="0" tIns="0" rIns="0" bIns="0" rtlCol="0" anchor="ctr"/>
          <a:lstStyle/>
          <a:p>
            <a:pPr indent="0" marL="0">
              <a:buNone/>
            </a:pPr>
            <a:r>
              <a:rPr lang="en-US" sz="1500" b="1" dirty="0">
                <a:solidFill>
                  <a:srgbClr val="16302A"/>
                </a:solidFill>
                <a:latin typeface="Arial" pitchFamily="34" charset="0"/>
                <a:ea typeface="Arial" pitchFamily="34" charset="-122"/>
                <a:cs typeface="Arial" pitchFamily="34" charset="-120"/>
              </a:rPr>
              <a:t>Statistics</a:t>
            </a:r>
            <a:endParaRPr lang="en-US" sz="1500" dirty="0"/>
          </a:p>
        </p:txBody>
      </p:sp>
      <p:sp>
        <p:nvSpPr>
          <p:cNvPr id="106" name="Text 103"/>
          <p:cNvSpPr txBox="1"/>
          <p:nvPr/>
        </p:nvSpPr>
        <p:spPr>
          <a:xfrm>
            <a:off x="9131300" y="5416550"/>
            <a:ext cx="2120900" cy="381000"/>
          </a:xfrm>
          <a:prstGeom prst="rect">
            <a:avLst/>
          </a:prstGeom>
          <a:noFill/>
          <a:ln/>
        </p:spPr>
        <p:txBody>
          <a:bodyPr wrap="square" lIns="0" tIns="0" rIns="0" bIns="0" rtlCol="0" anchor="t"/>
          <a:lstStyle/>
          <a:p>
            <a:pPr indent="0" marL="0">
              <a:buNone/>
            </a:pPr>
            <a:r>
              <a:rPr lang="en-US" sz="1200" dirty="0">
                <a:solidFill>
                  <a:srgbClr val="4F6660"/>
                </a:solidFill>
                <a:latin typeface="Calibri" pitchFamily="34" charset="0"/>
                <a:ea typeface="Calibri" pitchFamily="34" charset="-122"/>
                <a:cs typeface="Calibri" pitchFamily="34" charset="-120"/>
              </a:rPr>
              <a:t>Per player and per team, totals and rates</a:t>
            </a:r>
            <a:endParaRPr lang="en-US" sz="1200" dirty="0"/>
          </a:p>
        </p:txBody>
      </p:sp>
      <p:sp>
        <p:nvSpPr>
          <p:cNvPr id="107" name="Shape 104"/>
          <p:cNvSpPr/>
          <p:nvPr/>
        </p:nvSpPr>
        <p:spPr>
          <a:xfrm>
            <a:off x="9131300" y="5886450"/>
            <a:ext cx="1568450" cy="215900"/>
          </a:xfrm>
          <a:prstGeom prst="roundRect">
            <a:avLst>
              <a:gd name="adj" fmla="val 63529"/>
            </a:avLst>
          </a:prstGeom>
          <a:solidFill>
            <a:srgbClr val="E4E9E6"/>
          </a:solidFill>
          <a:ln w="6350">
            <a:solidFill>
              <a:srgbClr val="E4E9E6"/>
            </a:solidFill>
            <a:prstDash val="solid"/>
          </a:ln>
        </p:spPr>
      </p:sp>
      <p:sp>
        <p:nvSpPr>
          <p:cNvPr id="108" name="Text 105"/>
          <p:cNvSpPr txBox="1"/>
          <p:nvPr/>
        </p:nvSpPr>
        <p:spPr>
          <a:xfrm>
            <a:off x="9131300" y="5886450"/>
            <a:ext cx="1568450" cy="215900"/>
          </a:xfrm>
          <a:prstGeom prst="rect">
            <a:avLst/>
          </a:prstGeom>
          <a:noFill/>
          <a:ln/>
        </p:spPr>
        <p:txBody>
          <a:bodyPr wrap="square" lIns="0" tIns="0" rIns="0" bIns="0" rtlCol="0" anchor="ctr"/>
          <a:lstStyle/>
          <a:p>
            <a:pPr algn="ctr" indent="0" marL="0">
              <a:buNone/>
            </a:pPr>
            <a:r>
              <a:rPr lang="en-US" sz="1000" b="1" dirty="0">
                <a:solidFill>
                  <a:srgbClr val="4F6660"/>
                </a:solidFill>
                <a:latin typeface="Calibri" pitchFamily="34" charset="0"/>
                <a:ea typeface="Calibri" pitchFamily="34" charset="-122"/>
                <a:cs typeface="Calibri" pitchFamily="34" charset="-120"/>
              </a:rPr>
              <a:t>Rules, percentiles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6EFEA"/>
        </a:solidFill>
      </p:bgPr>
    </p:bg>
    <p:spTree>
      <p:nvGrpSpPr>
        <p:cNvPr id="1" name=""/>
        <p:cNvGrpSpPr/>
        <p:nvPr/>
      </p:nvGrpSpPr>
      <p:grpSpPr>
        <a:xfrm>
          <a:off x="0" y="0"/>
          <a:ext cx="0" cy="0"/>
          <a:chOff x="0" y="0"/>
          <a:chExt cx="0" cy="0"/>
        </a:xfrm>
      </p:grpSpPr>
      <p:sp>
        <p:nvSpPr>
          <p:cNvPr id="3" name="Text 0"/>
          <p:cNvSpPr txBox="1"/>
          <p:nvPr/>
        </p:nvSpPr>
        <p:spPr>
          <a:xfrm>
            <a:off x="812800" y="508000"/>
            <a:ext cx="10566400" cy="215900"/>
          </a:xfrm>
          <a:prstGeom prst="rect">
            <a:avLst/>
          </a:prstGeom>
          <a:noFill/>
          <a:ln/>
        </p:spPr>
        <p:txBody>
          <a:bodyPr wrap="square" lIns="0" tIns="0" rIns="0" bIns="0" rtlCol="0" anchor="t"/>
          <a:lstStyle/>
          <a:p>
            <a:pPr indent="0" marL="0">
              <a:buNone/>
            </a:pPr>
            <a:r>
              <a:rPr lang="en-US" sz="1200" b="1" spc="200" kern="0" dirty="0">
                <a:solidFill>
                  <a:srgbClr val="0A7A5C"/>
                </a:solidFill>
                <a:latin typeface="Calibri" pitchFamily="34" charset="0"/>
                <a:ea typeface="Calibri" pitchFamily="34" charset="-122"/>
                <a:cs typeface="Calibri" pitchFamily="34" charset="-120"/>
              </a:rPr>
              <a:t>FROM RAW VIDEO TO STATISTICS</a:t>
            </a:r>
            <a:endParaRPr lang="en-US" sz="1200" dirty="0"/>
          </a:p>
        </p:txBody>
      </p:sp>
      <p:sp>
        <p:nvSpPr>
          <p:cNvPr id="4" name="Text 1"/>
          <p:cNvSpPr txBox="1"/>
          <p:nvPr/>
        </p:nvSpPr>
        <p:spPr>
          <a:xfrm>
            <a:off x="812800" y="762000"/>
            <a:ext cx="10566400" cy="571500"/>
          </a:xfrm>
          <a:prstGeom prst="rect">
            <a:avLst/>
          </a:prstGeom>
          <a:noFill/>
          <a:ln/>
        </p:spPr>
        <p:txBody>
          <a:bodyPr wrap="square" lIns="0" tIns="0" rIns="0" bIns="0" rtlCol="0" anchor="ctr"/>
          <a:lstStyle/>
          <a:p>
            <a:pPr indent="0" marL="0">
              <a:buNone/>
            </a:pPr>
            <a:r>
              <a:rPr lang="en-US" sz="3000" b="1" dirty="0">
                <a:solidFill>
                  <a:srgbClr val="16302A"/>
                </a:solidFill>
                <a:latin typeface="Arial" pitchFamily="34" charset="0"/>
                <a:ea typeface="Arial" pitchFamily="34" charset="-122"/>
                <a:cs typeface="Arial" pitchFamily="34" charset="-120"/>
              </a:rPr>
              <a:t>What the data looks like at every step</a:t>
            </a:r>
            <a:endParaRPr lang="en-US" sz="3000" dirty="0"/>
          </a:p>
        </p:txBody>
      </p:sp>
      <p:sp>
        <p:nvSpPr>
          <p:cNvPr id="5" name="Text 2"/>
          <p:cNvSpPr txBox="1"/>
          <p:nvPr/>
        </p:nvSpPr>
        <p:spPr>
          <a:xfrm>
            <a:off x="812800" y="6254750"/>
            <a:ext cx="5715000" cy="190500"/>
          </a:xfrm>
          <a:prstGeom prst="rect">
            <a:avLst/>
          </a:prstGeom>
          <a:noFill/>
          <a:ln/>
        </p:spPr>
        <p:txBody>
          <a:bodyPr wrap="square" lIns="0" tIns="0" rIns="0" bIns="0" rtlCol="0" anchor="t"/>
          <a:lstStyle/>
          <a:p>
            <a:pPr indent="0" marL="0">
              <a:buNone/>
            </a:pPr>
            <a:r>
              <a:rPr lang="en-US" sz="1200" dirty="0">
                <a:solidFill>
                  <a:srgbClr val="4F6660"/>
                </a:solidFill>
                <a:latin typeface="Calibri" pitchFamily="34" charset="0"/>
                <a:ea typeface="Calibri" pitchFamily="34" charset="-122"/>
                <a:cs typeface="Calibri" pitchFamily="34" charset="-120"/>
              </a:rPr>
              <a:t>PitchProfile · AAI3001</a:t>
            </a:r>
            <a:endParaRPr lang="en-US" sz="1200" dirty="0"/>
          </a:p>
        </p:txBody>
      </p:sp>
      <p:sp>
        <p:nvSpPr>
          <p:cNvPr id="6" name="Text 3"/>
          <p:cNvSpPr txBox="1"/>
          <p:nvPr/>
        </p:nvSpPr>
        <p:spPr>
          <a:xfrm>
            <a:off x="10109200" y="6254750"/>
            <a:ext cx="1270000" cy="190500"/>
          </a:xfrm>
          <a:prstGeom prst="rect">
            <a:avLst/>
          </a:prstGeom>
          <a:noFill/>
          <a:ln/>
        </p:spPr>
        <p:txBody>
          <a:bodyPr wrap="square" lIns="0" tIns="0" rIns="0" bIns="0" rtlCol="0" anchor="t"/>
          <a:lstStyle/>
          <a:p>
            <a:pPr algn="r" indent="0" marL="0">
              <a:buNone/>
            </a:pPr>
            <a:r>
              <a:rPr lang="en-US" sz="1200" dirty="0">
                <a:solidFill>
                  <a:srgbClr val="4F6660"/>
                </a:solidFill>
                <a:latin typeface="Calibri" pitchFamily="34" charset="0"/>
                <a:ea typeface="Calibri" pitchFamily="34" charset="-122"/>
                <a:cs typeface="Calibri" pitchFamily="34" charset="-120"/>
              </a:rPr>
              <a:t>5</a:t>
            </a:r>
            <a:endParaRPr lang="en-US" sz="1200" dirty="0"/>
          </a:p>
        </p:txBody>
      </p:sp>
      <p:sp>
        <p:nvSpPr>
          <p:cNvPr id="7" name="Shape 4"/>
          <p:cNvSpPr/>
          <p:nvPr/>
        </p:nvSpPr>
        <p:spPr>
          <a:xfrm>
            <a:off x="812800" y="1492250"/>
            <a:ext cx="10566400" cy="444500"/>
          </a:xfrm>
          <a:prstGeom prst="roundRect">
            <a:avLst>
              <a:gd name="adj" fmla="val 20571"/>
            </a:avLst>
          </a:prstGeom>
          <a:solidFill>
            <a:srgbClr val="FBFCFA"/>
          </a:solidFill>
          <a:ln w="9525">
            <a:solidFill>
              <a:srgbClr val="D5E1DA"/>
            </a:solidFill>
            <a:prstDash val="solid"/>
          </a:ln>
        </p:spPr>
      </p:sp>
      <p:sp>
        <p:nvSpPr>
          <p:cNvPr id="8" name="Shape 5"/>
          <p:cNvSpPr/>
          <p:nvPr/>
        </p:nvSpPr>
        <p:spPr>
          <a:xfrm>
            <a:off x="965200" y="1574800"/>
            <a:ext cx="279400" cy="279400"/>
          </a:xfrm>
          <a:prstGeom prst="ellipse">
            <a:avLst/>
          </a:prstGeom>
          <a:solidFill>
            <a:srgbClr val="0F241D"/>
          </a:solidFill>
          <a:ln w="6350">
            <a:solidFill>
              <a:srgbClr val="0F241D"/>
            </a:solidFill>
            <a:prstDash val="solid"/>
          </a:ln>
        </p:spPr>
      </p:sp>
      <p:sp>
        <p:nvSpPr>
          <p:cNvPr id="9" name="Text 6"/>
          <p:cNvSpPr txBox="1"/>
          <p:nvPr/>
        </p:nvSpPr>
        <p:spPr>
          <a:xfrm>
            <a:off x="965200" y="1574800"/>
            <a:ext cx="279400" cy="279400"/>
          </a:xfrm>
          <a:prstGeom prst="rect">
            <a:avLst/>
          </a:prstGeom>
          <a:noFill/>
          <a:ln/>
        </p:spPr>
        <p:txBody>
          <a:bodyPr wrap="square" lIns="0" tIns="0" rIns="0" bIns="0" rtlCol="0" anchor="ctr"/>
          <a:lstStyle/>
          <a:p>
            <a:pPr algn="ctr" indent="0" marL="0">
              <a:buNone/>
            </a:pPr>
            <a:r>
              <a:rPr lang="en-US" sz="1200" b="1" dirty="0">
                <a:solidFill>
                  <a:srgbClr val="8CE3B6"/>
                </a:solidFill>
                <a:latin typeface="Calibri" pitchFamily="34" charset="0"/>
                <a:ea typeface="Calibri" pitchFamily="34" charset="-122"/>
                <a:cs typeface="Calibri" pitchFamily="34" charset="-120"/>
              </a:rPr>
              <a:t>1</a:t>
            </a:r>
            <a:endParaRPr lang="en-US" sz="1200" dirty="0"/>
          </a:p>
        </p:txBody>
      </p:sp>
      <p:sp>
        <p:nvSpPr>
          <p:cNvPr id="10" name="Text 7"/>
          <p:cNvSpPr txBox="1"/>
          <p:nvPr/>
        </p:nvSpPr>
        <p:spPr>
          <a:xfrm>
            <a:off x="1371600" y="1492250"/>
            <a:ext cx="2095500" cy="444500"/>
          </a:xfrm>
          <a:prstGeom prst="rect">
            <a:avLst/>
          </a:prstGeom>
          <a:noFill/>
          <a:ln/>
        </p:spPr>
        <p:txBody>
          <a:bodyPr wrap="square" lIns="0" tIns="0" rIns="0" bIns="0" rtlCol="0" anchor="ctr"/>
          <a:lstStyle/>
          <a:p>
            <a:pPr indent="0" marL="0">
              <a:buNone/>
            </a:pPr>
            <a:r>
              <a:rPr lang="en-US" sz="1500" b="1" dirty="0">
                <a:solidFill>
                  <a:srgbClr val="16302A"/>
                </a:solidFill>
                <a:latin typeface="Arial" pitchFamily="34" charset="0"/>
                <a:ea typeface="Arial" pitchFamily="34" charset="-122"/>
                <a:cs typeface="Arial" pitchFamily="34" charset="-120"/>
              </a:rPr>
              <a:t>Raw video</a:t>
            </a:r>
            <a:endParaRPr lang="en-US" sz="1500" dirty="0"/>
          </a:p>
        </p:txBody>
      </p:sp>
      <p:sp>
        <p:nvSpPr>
          <p:cNvPr id="11" name="Text 8"/>
          <p:cNvSpPr txBox="1"/>
          <p:nvPr/>
        </p:nvSpPr>
        <p:spPr>
          <a:xfrm>
            <a:off x="3530600" y="1492250"/>
            <a:ext cx="4064000" cy="444500"/>
          </a:xfrm>
          <a:prstGeom prst="rect">
            <a:avLst/>
          </a:prstGeom>
          <a:noFill/>
          <a:ln/>
        </p:spPr>
        <p:txBody>
          <a:bodyPr wrap="square" lIns="0" tIns="0" rIns="0" bIns="0" rtlCol="0" anchor="ctr"/>
          <a:lstStyle/>
          <a:p>
            <a:pPr indent="0" marL="0">
              <a:buNone/>
            </a:pPr>
            <a:r>
              <a:rPr lang="en-US" sz="1300" dirty="0">
                <a:solidFill>
                  <a:srgbClr val="16302A"/>
                </a:solidFill>
                <a:latin typeface="Calibri" pitchFamily="34" charset="0"/>
                <a:ea typeface="Calibri" pitchFamily="34" charset="-122"/>
                <a:cs typeface="Calibri" pitchFamily="34" charset="-120"/>
              </a:rPr>
              <a:t>Pixels: 720p frames at 25 per second</a:t>
            </a:r>
            <a:endParaRPr lang="en-US" sz="1300" dirty="0"/>
          </a:p>
        </p:txBody>
      </p:sp>
      <p:sp>
        <p:nvSpPr>
          <p:cNvPr id="12" name="Text 9"/>
          <p:cNvSpPr txBox="1"/>
          <p:nvPr/>
        </p:nvSpPr>
        <p:spPr>
          <a:xfrm>
            <a:off x="7696200" y="1492250"/>
            <a:ext cx="2095500" cy="444500"/>
          </a:xfrm>
          <a:prstGeom prst="rect">
            <a:avLst/>
          </a:prstGeom>
          <a:noFill/>
          <a:ln/>
        </p:spPr>
        <p:txBody>
          <a:bodyPr wrap="square" lIns="0" tIns="0" rIns="0" bIns="0" rtlCol="0" anchor="ctr"/>
          <a:lstStyle/>
          <a:p>
            <a:pPr indent="0" marL="0">
              <a:buNone/>
            </a:pPr>
            <a:r>
              <a:rPr lang="en-US" sz="1200" dirty="0">
                <a:solidFill>
                  <a:srgbClr val="4F6660"/>
                </a:solidFill>
                <a:latin typeface="Calibri" pitchFamily="34" charset="0"/>
                <a:ea typeface="Calibri" pitchFamily="34" charset="-122"/>
                <a:cs typeface="Calibri" pitchFamily="34" charset="-120"/>
              </a:rPr>
              <a:t>About 67,500 frames in a 45-minute half</a:t>
            </a:r>
            <a:endParaRPr lang="en-US" sz="1200" dirty="0"/>
          </a:p>
        </p:txBody>
      </p:sp>
      <p:sp>
        <p:nvSpPr>
          <p:cNvPr id="13" name="Shape 10"/>
          <p:cNvSpPr/>
          <p:nvPr/>
        </p:nvSpPr>
        <p:spPr>
          <a:xfrm>
            <a:off x="9880600" y="1593850"/>
            <a:ext cx="619125" cy="215900"/>
          </a:xfrm>
          <a:prstGeom prst="roundRect">
            <a:avLst>
              <a:gd name="adj" fmla="val 63529"/>
            </a:avLst>
          </a:prstGeom>
          <a:solidFill>
            <a:srgbClr val="E4E9E6"/>
          </a:solidFill>
          <a:ln w="6350">
            <a:solidFill>
              <a:srgbClr val="E4E9E6"/>
            </a:solidFill>
            <a:prstDash val="solid"/>
          </a:ln>
        </p:spPr>
      </p:sp>
      <p:sp>
        <p:nvSpPr>
          <p:cNvPr id="14" name="Text 11"/>
          <p:cNvSpPr txBox="1"/>
          <p:nvPr/>
        </p:nvSpPr>
        <p:spPr>
          <a:xfrm>
            <a:off x="9880600" y="1593850"/>
            <a:ext cx="619125" cy="215900"/>
          </a:xfrm>
          <a:prstGeom prst="rect">
            <a:avLst/>
          </a:prstGeom>
          <a:noFill/>
          <a:ln/>
        </p:spPr>
        <p:txBody>
          <a:bodyPr wrap="square" lIns="0" tIns="0" rIns="0" bIns="0" rtlCol="0" anchor="ctr"/>
          <a:lstStyle/>
          <a:p>
            <a:pPr algn="ctr" indent="0" marL="0">
              <a:buNone/>
            </a:pPr>
            <a:r>
              <a:rPr lang="en-US" sz="1000" b="1" dirty="0">
                <a:solidFill>
                  <a:srgbClr val="4F6660"/>
                </a:solidFill>
                <a:latin typeface="Calibri" pitchFamily="34" charset="0"/>
                <a:ea typeface="Calibri" pitchFamily="34" charset="-122"/>
                <a:cs typeface="Calibri" pitchFamily="34" charset="-120"/>
              </a:rPr>
              <a:t>Input</a:t>
            </a:r>
            <a:endParaRPr lang="en-US" sz="1000" dirty="0"/>
          </a:p>
        </p:txBody>
      </p:sp>
      <p:sp>
        <p:nvSpPr>
          <p:cNvPr id="15" name="Shape 12"/>
          <p:cNvSpPr/>
          <p:nvPr/>
        </p:nvSpPr>
        <p:spPr>
          <a:xfrm>
            <a:off x="812800" y="2000250"/>
            <a:ext cx="10566400" cy="444500"/>
          </a:xfrm>
          <a:prstGeom prst="roundRect">
            <a:avLst>
              <a:gd name="adj" fmla="val 20571"/>
            </a:avLst>
          </a:prstGeom>
          <a:solidFill>
            <a:srgbClr val="FBFCFA"/>
          </a:solidFill>
          <a:ln w="9525">
            <a:solidFill>
              <a:srgbClr val="D5E1DA"/>
            </a:solidFill>
            <a:prstDash val="solid"/>
          </a:ln>
        </p:spPr>
      </p:sp>
      <p:sp>
        <p:nvSpPr>
          <p:cNvPr id="16" name="Shape 13"/>
          <p:cNvSpPr/>
          <p:nvPr/>
        </p:nvSpPr>
        <p:spPr>
          <a:xfrm>
            <a:off x="965200" y="2082800"/>
            <a:ext cx="279400" cy="279400"/>
          </a:xfrm>
          <a:prstGeom prst="ellipse">
            <a:avLst/>
          </a:prstGeom>
          <a:solidFill>
            <a:srgbClr val="0F241D"/>
          </a:solidFill>
          <a:ln w="6350">
            <a:solidFill>
              <a:srgbClr val="0F241D"/>
            </a:solidFill>
            <a:prstDash val="solid"/>
          </a:ln>
        </p:spPr>
      </p:sp>
      <p:sp>
        <p:nvSpPr>
          <p:cNvPr id="17" name="Text 14"/>
          <p:cNvSpPr txBox="1"/>
          <p:nvPr/>
        </p:nvSpPr>
        <p:spPr>
          <a:xfrm>
            <a:off x="965200" y="2082800"/>
            <a:ext cx="279400" cy="279400"/>
          </a:xfrm>
          <a:prstGeom prst="rect">
            <a:avLst/>
          </a:prstGeom>
          <a:noFill/>
          <a:ln/>
        </p:spPr>
        <p:txBody>
          <a:bodyPr wrap="square" lIns="0" tIns="0" rIns="0" bIns="0" rtlCol="0" anchor="ctr"/>
          <a:lstStyle/>
          <a:p>
            <a:pPr algn="ctr" indent="0" marL="0">
              <a:buNone/>
            </a:pPr>
            <a:r>
              <a:rPr lang="en-US" sz="1200" b="1" dirty="0">
                <a:solidFill>
                  <a:srgbClr val="8CE3B6"/>
                </a:solidFill>
                <a:latin typeface="Calibri" pitchFamily="34" charset="0"/>
                <a:ea typeface="Calibri" pitchFamily="34" charset="-122"/>
                <a:cs typeface="Calibri" pitchFamily="34" charset="-120"/>
              </a:rPr>
              <a:t>2</a:t>
            </a:r>
            <a:endParaRPr lang="en-US" sz="1200" dirty="0"/>
          </a:p>
        </p:txBody>
      </p:sp>
      <p:sp>
        <p:nvSpPr>
          <p:cNvPr id="18" name="Text 15"/>
          <p:cNvSpPr txBox="1"/>
          <p:nvPr/>
        </p:nvSpPr>
        <p:spPr>
          <a:xfrm>
            <a:off x="1371600" y="2000250"/>
            <a:ext cx="2095500" cy="444500"/>
          </a:xfrm>
          <a:prstGeom prst="rect">
            <a:avLst/>
          </a:prstGeom>
          <a:noFill/>
          <a:ln/>
        </p:spPr>
        <p:txBody>
          <a:bodyPr wrap="square" lIns="0" tIns="0" rIns="0" bIns="0" rtlCol="0" anchor="ctr"/>
          <a:lstStyle/>
          <a:p>
            <a:pPr indent="0" marL="0">
              <a:buNone/>
            </a:pPr>
            <a:r>
              <a:rPr lang="en-US" sz="1500" b="1" dirty="0">
                <a:solidFill>
                  <a:srgbClr val="16302A"/>
                </a:solidFill>
                <a:latin typeface="Arial" pitchFamily="34" charset="0"/>
                <a:ea typeface="Arial" pitchFamily="34" charset="-122"/>
                <a:cs typeface="Arial" pitchFamily="34" charset="-120"/>
              </a:rPr>
              <a:t>Sampled frames</a:t>
            </a:r>
            <a:endParaRPr lang="en-US" sz="1500" dirty="0"/>
          </a:p>
        </p:txBody>
      </p:sp>
      <p:sp>
        <p:nvSpPr>
          <p:cNvPr id="19" name="Text 16"/>
          <p:cNvSpPr txBox="1"/>
          <p:nvPr/>
        </p:nvSpPr>
        <p:spPr>
          <a:xfrm>
            <a:off x="3530600" y="2000250"/>
            <a:ext cx="4064000" cy="444500"/>
          </a:xfrm>
          <a:prstGeom prst="rect">
            <a:avLst/>
          </a:prstGeom>
          <a:noFill/>
          <a:ln/>
        </p:spPr>
        <p:txBody>
          <a:bodyPr wrap="square" lIns="0" tIns="0" rIns="0" bIns="0" rtlCol="0" anchor="ctr"/>
          <a:lstStyle/>
          <a:p>
            <a:pPr indent="0" marL="0">
              <a:buNone/>
            </a:pPr>
            <a:r>
              <a:rPr lang="en-US" sz="1300" dirty="0">
                <a:solidFill>
                  <a:srgbClr val="16302A"/>
                </a:solidFill>
                <a:latin typeface="Calibri" pitchFamily="34" charset="0"/>
                <a:ea typeface="Calibri" pitchFamily="34" charset="-122"/>
                <a:cs typeface="Calibri" pitchFamily="34" charset="-120"/>
              </a:rPr>
              <a:t>Every second frame, 12.5 per second</a:t>
            </a:r>
            <a:endParaRPr lang="en-US" sz="1300" dirty="0"/>
          </a:p>
        </p:txBody>
      </p:sp>
      <p:sp>
        <p:nvSpPr>
          <p:cNvPr id="20" name="Text 17"/>
          <p:cNvSpPr txBox="1"/>
          <p:nvPr/>
        </p:nvSpPr>
        <p:spPr>
          <a:xfrm>
            <a:off x="7696200" y="2000250"/>
            <a:ext cx="2095500" cy="444500"/>
          </a:xfrm>
          <a:prstGeom prst="rect">
            <a:avLst/>
          </a:prstGeom>
          <a:noFill/>
          <a:ln/>
        </p:spPr>
        <p:txBody>
          <a:bodyPr wrap="square" lIns="0" tIns="0" rIns="0" bIns="0" rtlCol="0" anchor="ctr"/>
          <a:lstStyle/>
          <a:p>
            <a:pPr indent="0" marL="0">
              <a:buNone/>
            </a:pPr>
            <a:r>
              <a:rPr lang="en-US" sz="1200" dirty="0">
                <a:solidFill>
                  <a:srgbClr val="4F6660"/>
                </a:solidFill>
                <a:latin typeface="Calibri" pitchFamily="34" charset="0"/>
                <a:ea typeface="Calibri" pitchFamily="34" charset="-122"/>
                <a:cs typeface="Calibri" pitchFamily="34" charset="-120"/>
              </a:rPr>
              <a:t>33,750 frames to analyse</a:t>
            </a:r>
            <a:endParaRPr lang="en-US" sz="1200" dirty="0"/>
          </a:p>
        </p:txBody>
      </p:sp>
      <p:sp>
        <p:nvSpPr>
          <p:cNvPr id="21" name="Shape 18"/>
          <p:cNvSpPr/>
          <p:nvPr/>
        </p:nvSpPr>
        <p:spPr>
          <a:xfrm>
            <a:off x="9880600" y="2101850"/>
            <a:ext cx="838200" cy="215900"/>
          </a:xfrm>
          <a:prstGeom prst="roundRect">
            <a:avLst>
              <a:gd name="adj" fmla="val 63529"/>
            </a:avLst>
          </a:prstGeom>
          <a:solidFill>
            <a:srgbClr val="E4E9E6"/>
          </a:solidFill>
          <a:ln w="6350">
            <a:solidFill>
              <a:srgbClr val="E4E9E6"/>
            </a:solidFill>
            <a:prstDash val="solid"/>
          </a:ln>
        </p:spPr>
      </p:sp>
      <p:sp>
        <p:nvSpPr>
          <p:cNvPr id="22" name="Text 19"/>
          <p:cNvSpPr txBox="1"/>
          <p:nvPr/>
        </p:nvSpPr>
        <p:spPr>
          <a:xfrm>
            <a:off x="9880600" y="2101850"/>
            <a:ext cx="838200" cy="215900"/>
          </a:xfrm>
          <a:prstGeom prst="rect">
            <a:avLst/>
          </a:prstGeom>
          <a:noFill/>
          <a:ln/>
        </p:spPr>
        <p:txBody>
          <a:bodyPr wrap="square" lIns="0" tIns="0" rIns="0" bIns="0" rtlCol="0" anchor="ctr"/>
          <a:lstStyle/>
          <a:p>
            <a:pPr algn="ctr" indent="0" marL="0">
              <a:buNone/>
            </a:pPr>
            <a:r>
              <a:rPr lang="en-US" sz="1000" b="1" dirty="0">
                <a:solidFill>
                  <a:srgbClr val="4F6660"/>
                </a:solidFill>
                <a:latin typeface="Calibri" pitchFamily="34" charset="0"/>
                <a:ea typeface="Calibri" pitchFamily="34" charset="-122"/>
                <a:cs typeface="Calibri" pitchFamily="34" charset="-120"/>
              </a:rPr>
              <a:t>Sampling</a:t>
            </a:r>
            <a:endParaRPr lang="en-US" sz="1000" dirty="0"/>
          </a:p>
        </p:txBody>
      </p:sp>
      <p:sp>
        <p:nvSpPr>
          <p:cNvPr id="23" name="Shape 20"/>
          <p:cNvSpPr/>
          <p:nvPr/>
        </p:nvSpPr>
        <p:spPr>
          <a:xfrm>
            <a:off x="812800" y="2508250"/>
            <a:ext cx="10566400" cy="444500"/>
          </a:xfrm>
          <a:prstGeom prst="roundRect">
            <a:avLst>
              <a:gd name="adj" fmla="val 20571"/>
            </a:avLst>
          </a:prstGeom>
          <a:solidFill>
            <a:srgbClr val="FBFCFA"/>
          </a:solidFill>
          <a:ln w="9525">
            <a:solidFill>
              <a:srgbClr val="D5E1DA"/>
            </a:solidFill>
            <a:prstDash val="solid"/>
          </a:ln>
        </p:spPr>
      </p:sp>
      <p:sp>
        <p:nvSpPr>
          <p:cNvPr id="24" name="Shape 21"/>
          <p:cNvSpPr/>
          <p:nvPr/>
        </p:nvSpPr>
        <p:spPr>
          <a:xfrm>
            <a:off x="965200" y="2590800"/>
            <a:ext cx="279400" cy="279400"/>
          </a:xfrm>
          <a:prstGeom prst="ellipse">
            <a:avLst/>
          </a:prstGeom>
          <a:solidFill>
            <a:srgbClr val="0F241D"/>
          </a:solidFill>
          <a:ln w="6350">
            <a:solidFill>
              <a:srgbClr val="0F241D"/>
            </a:solidFill>
            <a:prstDash val="solid"/>
          </a:ln>
        </p:spPr>
      </p:sp>
      <p:sp>
        <p:nvSpPr>
          <p:cNvPr id="25" name="Text 22"/>
          <p:cNvSpPr txBox="1"/>
          <p:nvPr/>
        </p:nvSpPr>
        <p:spPr>
          <a:xfrm>
            <a:off x="965200" y="2590800"/>
            <a:ext cx="279400" cy="279400"/>
          </a:xfrm>
          <a:prstGeom prst="rect">
            <a:avLst/>
          </a:prstGeom>
          <a:noFill/>
          <a:ln/>
        </p:spPr>
        <p:txBody>
          <a:bodyPr wrap="square" lIns="0" tIns="0" rIns="0" bIns="0" rtlCol="0" anchor="ctr"/>
          <a:lstStyle/>
          <a:p>
            <a:pPr algn="ctr" indent="0" marL="0">
              <a:buNone/>
            </a:pPr>
            <a:r>
              <a:rPr lang="en-US" sz="1200" b="1" dirty="0">
                <a:solidFill>
                  <a:srgbClr val="8CE3B6"/>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371600" y="2508250"/>
            <a:ext cx="2095500" cy="444500"/>
          </a:xfrm>
          <a:prstGeom prst="rect">
            <a:avLst/>
          </a:prstGeom>
          <a:noFill/>
          <a:ln/>
        </p:spPr>
        <p:txBody>
          <a:bodyPr wrap="square" lIns="0" tIns="0" rIns="0" bIns="0" rtlCol="0" anchor="ctr"/>
          <a:lstStyle/>
          <a:p>
            <a:pPr indent="0" marL="0">
              <a:buNone/>
            </a:pPr>
            <a:r>
              <a:rPr lang="en-US" sz="1500" b="1" dirty="0">
                <a:solidFill>
                  <a:srgbClr val="16302A"/>
                </a:solidFill>
                <a:latin typeface="Arial" pitchFamily="34" charset="0"/>
                <a:ea typeface="Arial" pitchFamily="34" charset="-122"/>
                <a:cs typeface="Arial" pitchFamily="34" charset="-120"/>
              </a:rPr>
              <a:t>Boxes</a:t>
            </a:r>
            <a:endParaRPr lang="en-US" sz="1500" dirty="0"/>
          </a:p>
        </p:txBody>
      </p:sp>
      <p:sp>
        <p:nvSpPr>
          <p:cNvPr id="27" name="Text 24"/>
          <p:cNvSpPr txBox="1"/>
          <p:nvPr/>
        </p:nvSpPr>
        <p:spPr>
          <a:xfrm>
            <a:off x="3530600" y="2508250"/>
            <a:ext cx="4064000" cy="444500"/>
          </a:xfrm>
          <a:prstGeom prst="rect">
            <a:avLst/>
          </a:prstGeom>
          <a:noFill/>
          <a:ln/>
        </p:spPr>
        <p:txBody>
          <a:bodyPr wrap="square" lIns="0" tIns="0" rIns="0" bIns="0" rtlCol="0" anchor="ctr"/>
          <a:lstStyle/>
          <a:p>
            <a:pPr indent="0" marL="0">
              <a:buNone/>
            </a:pPr>
            <a:r>
              <a:rPr lang="en-US" sz="1300" dirty="0">
                <a:solidFill>
                  <a:srgbClr val="16302A"/>
                </a:solidFill>
                <a:latin typeface="Calibri" pitchFamily="34" charset="0"/>
                <a:ea typeface="Calibri" pitchFamily="34" charset="-122"/>
                <a:cs typeface="Calibri" pitchFamily="34" charset="-120"/>
              </a:rPr>
              <a:t>Per frame: class, corners (x1 y1 x2 y2), confidence</a:t>
            </a:r>
            <a:endParaRPr lang="en-US" sz="1300" dirty="0"/>
          </a:p>
        </p:txBody>
      </p:sp>
      <p:sp>
        <p:nvSpPr>
          <p:cNvPr id="28" name="Text 25"/>
          <p:cNvSpPr txBox="1"/>
          <p:nvPr/>
        </p:nvSpPr>
        <p:spPr>
          <a:xfrm>
            <a:off x="7696200" y="2508250"/>
            <a:ext cx="2095500" cy="444500"/>
          </a:xfrm>
          <a:prstGeom prst="rect">
            <a:avLst/>
          </a:prstGeom>
          <a:noFill/>
          <a:ln/>
        </p:spPr>
        <p:txBody>
          <a:bodyPr wrap="square" lIns="0" tIns="0" rIns="0" bIns="0" rtlCol="0" anchor="ctr"/>
          <a:lstStyle/>
          <a:p>
            <a:pPr indent="0" marL="0">
              <a:buNone/>
            </a:pPr>
            <a:r>
              <a:rPr lang="en-US" sz="1200" dirty="0">
                <a:solidFill>
                  <a:srgbClr val="4F6660"/>
                </a:solidFill>
                <a:latin typeface="Calibri" pitchFamily="34" charset="0"/>
                <a:ea typeface="Calibri" pitchFamily="34" charset="-122"/>
                <a:cs typeface="Calibri" pitchFamily="34" charset="-120"/>
              </a:rPr>
              <a:t>People and ball, saved to disk</a:t>
            </a:r>
            <a:endParaRPr lang="en-US" sz="1200" dirty="0"/>
          </a:p>
        </p:txBody>
      </p:sp>
      <p:sp>
        <p:nvSpPr>
          <p:cNvPr id="29" name="Shape 26"/>
          <p:cNvSpPr/>
          <p:nvPr/>
        </p:nvSpPr>
        <p:spPr>
          <a:xfrm>
            <a:off x="9880600" y="2609850"/>
            <a:ext cx="765175" cy="215900"/>
          </a:xfrm>
          <a:prstGeom prst="roundRect">
            <a:avLst>
              <a:gd name="adj" fmla="val 63529"/>
            </a:avLst>
          </a:prstGeom>
          <a:solidFill>
            <a:srgbClr val="DCE8FA"/>
          </a:solidFill>
          <a:ln w="6350">
            <a:solidFill>
              <a:srgbClr val="DCE8FA"/>
            </a:solidFill>
            <a:prstDash val="solid"/>
          </a:ln>
        </p:spPr>
      </p:sp>
      <p:sp>
        <p:nvSpPr>
          <p:cNvPr id="30" name="Text 27"/>
          <p:cNvSpPr txBox="1"/>
          <p:nvPr/>
        </p:nvSpPr>
        <p:spPr>
          <a:xfrm>
            <a:off x="9880600" y="2609850"/>
            <a:ext cx="765175" cy="215900"/>
          </a:xfrm>
          <a:prstGeom prst="rect">
            <a:avLst/>
          </a:prstGeom>
          <a:noFill/>
          <a:ln/>
        </p:spPr>
        <p:txBody>
          <a:bodyPr wrap="square" lIns="0" tIns="0" rIns="0" bIns="0" rtlCol="0" anchor="ctr"/>
          <a:lstStyle/>
          <a:p>
            <a:pPr algn="ctr" indent="0" marL="0">
              <a:buNone/>
            </a:pPr>
            <a:r>
              <a:rPr lang="en-US" sz="1000" b="1" dirty="0">
                <a:solidFill>
                  <a:srgbClr val="1D4F9F"/>
                </a:solidFill>
                <a:latin typeface="Calibri" pitchFamily="34" charset="0"/>
                <a:ea typeface="Calibri" pitchFamily="34" charset="-122"/>
                <a:cs typeface="Calibri" pitchFamily="34" charset="-120"/>
              </a:rPr>
              <a:t>YOLOv8x</a:t>
            </a:r>
            <a:endParaRPr lang="en-US" sz="1000" dirty="0"/>
          </a:p>
        </p:txBody>
      </p:sp>
      <p:sp>
        <p:nvSpPr>
          <p:cNvPr id="31" name="Shape 28"/>
          <p:cNvSpPr/>
          <p:nvPr/>
        </p:nvSpPr>
        <p:spPr>
          <a:xfrm>
            <a:off x="812800" y="3016250"/>
            <a:ext cx="10566400" cy="444500"/>
          </a:xfrm>
          <a:prstGeom prst="roundRect">
            <a:avLst>
              <a:gd name="adj" fmla="val 20571"/>
            </a:avLst>
          </a:prstGeom>
          <a:solidFill>
            <a:srgbClr val="FBFCFA"/>
          </a:solidFill>
          <a:ln w="9525">
            <a:solidFill>
              <a:srgbClr val="D5E1DA"/>
            </a:solidFill>
            <a:prstDash val="solid"/>
          </a:ln>
        </p:spPr>
      </p:sp>
      <p:sp>
        <p:nvSpPr>
          <p:cNvPr id="32" name="Shape 29"/>
          <p:cNvSpPr/>
          <p:nvPr/>
        </p:nvSpPr>
        <p:spPr>
          <a:xfrm>
            <a:off x="965200" y="3098800"/>
            <a:ext cx="279400" cy="279400"/>
          </a:xfrm>
          <a:prstGeom prst="ellipse">
            <a:avLst/>
          </a:prstGeom>
          <a:solidFill>
            <a:srgbClr val="0F241D"/>
          </a:solidFill>
          <a:ln w="6350">
            <a:solidFill>
              <a:srgbClr val="0F241D"/>
            </a:solidFill>
            <a:prstDash val="solid"/>
          </a:ln>
        </p:spPr>
      </p:sp>
      <p:sp>
        <p:nvSpPr>
          <p:cNvPr id="33" name="Text 30"/>
          <p:cNvSpPr txBox="1"/>
          <p:nvPr/>
        </p:nvSpPr>
        <p:spPr>
          <a:xfrm>
            <a:off x="965200" y="3098800"/>
            <a:ext cx="279400" cy="279400"/>
          </a:xfrm>
          <a:prstGeom prst="rect">
            <a:avLst/>
          </a:prstGeom>
          <a:noFill/>
          <a:ln/>
        </p:spPr>
        <p:txBody>
          <a:bodyPr wrap="square" lIns="0" tIns="0" rIns="0" bIns="0" rtlCol="0" anchor="ctr"/>
          <a:lstStyle/>
          <a:p>
            <a:pPr algn="ctr" indent="0" marL="0">
              <a:buNone/>
            </a:pPr>
            <a:r>
              <a:rPr lang="en-US" sz="1200" b="1" dirty="0">
                <a:solidFill>
                  <a:srgbClr val="8CE3B6"/>
                </a:solidFill>
                <a:latin typeface="Calibri" pitchFamily="34" charset="0"/>
                <a:ea typeface="Calibri" pitchFamily="34" charset="-122"/>
                <a:cs typeface="Calibri" pitchFamily="34" charset="-120"/>
              </a:rPr>
              <a:t>4</a:t>
            </a:r>
            <a:endParaRPr lang="en-US" sz="1200" dirty="0"/>
          </a:p>
        </p:txBody>
      </p:sp>
      <p:sp>
        <p:nvSpPr>
          <p:cNvPr id="34" name="Text 31"/>
          <p:cNvSpPr txBox="1"/>
          <p:nvPr/>
        </p:nvSpPr>
        <p:spPr>
          <a:xfrm>
            <a:off x="1371600" y="3016250"/>
            <a:ext cx="2095500" cy="444500"/>
          </a:xfrm>
          <a:prstGeom prst="rect">
            <a:avLst/>
          </a:prstGeom>
          <a:noFill/>
          <a:ln/>
        </p:spPr>
        <p:txBody>
          <a:bodyPr wrap="square" lIns="0" tIns="0" rIns="0" bIns="0" rtlCol="0" anchor="ctr"/>
          <a:lstStyle/>
          <a:p>
            <a:pPr indent="0" marL="0">
              <a:buNone/>
            </a:pPr>
            <a:r>
              <a:rPr lang="en-US" sz="1500" b="1" dirty="0">
                <a:solidFill>
                  <a:srgbClr val="16302A"/>
                </a:solidFill>
                <a:latin typeface="Arial" pitchFamily="34" charset="0"/>
                <a:ea typeface="Arial" pitchFamily="34" charset="-122"/>
                <a:cs typeface="Arial" pitchFamily="34" charset="-120"/>
              </a:rPr>
              <a:t>Tracklets</a:t>
            </a:r>
            <a:endParaRPr lang="en-US" sz="1500" dirty="0"/>
          </a:p>
        </p:txBody>
      </p:sp>
      <p:sp>
        <p:nvSpPr>
          <p:cNvPr id="35" name="Text 32"/>
          <p:cNvSpPr txBox="1"/>
          <p:nvPr/>
        </p:nvSpPr>
        <p:spPr>
          <a:xfrm>
            <a:off x="3530600" y="3016250"/>
            <a:ext cx="4064000" cy="444500"/>
          </a:xfrm>
          <a:prstGeom prst="rect">
            <a:avLst/>
          </a:prstGeom>
          <a:noFill/>
          <a:ln/>
        </p:spPr>
        <p:txBody>
          <a:bodyPr wrap="square" lIns="0" tIns="0" rIns="0" bIns="0" rtlCol="0" anchor="ctr"/>
          <a:lstStyle/>
          <a:p>
            <a:pPr indent="0" marL="0">
              <a:buNone/>
            </a:pPr>
            <a:r>
              <a:rPr lang="en-US" sz="1300" dirty="0">
                <a:solidFill>
                  <a:srgbClr val="16302A"/>
                </a:solidFill>
                <a:latin typeface="Calibri" pitchFamily="34" charset="0"/>
                <a:ea typeface="Calibri" pitchFamily="34" charset="-122"/>
                <a:cs typeface="Calibri" pitchFamily="34" charset="-120"/>
              </a:rPr>
              <a:t>Box + track ID, kept only inside one camera shot</a:t>
            </a:r>
            <a:endParaRPr lang="en-US" sz="1300" dirty="0"/>
          </a:p>
        </p:txBody>
      </p:sp>
      <p:sp>
        <p:nvSpPr>
          <p:cNvPr id="36" name="Text 33"/>
          <p:cNvSpPr txBox="1"/>
          <p:nvPr/>
        </p:nvSpPr>
        <p:spPr>
          <a:xfrm>
            <a:off x="7696200" y="3016250"/>
            <a:ext cx="2095500" cy="444500"/>
          </a:xfrm>
          <a:prstGeom prst="rect">
            <a:avLst/>
          </a:prstGeom>
          <a:noFill/>
          <a:ln/>
        </p:spPr>
        <p:txBody>
          <a:bodyPr wrap="square" lIns="0" tIns="0" rIns="0" bIns="0" rtlCol="0" anchor="ctr"/>
          <a:lstStyle/>
          <a:p>
            <a:pPr indent="0" marL="0">
              <a:buNone/>
            </a:pPr>
            <a:r>
              <a:rPr lang="en-US" sz="1200" dirty="0">
                <a:solidFill>
                  <a:srgbClr val="4F6660"/>
                </a:solidFill>
                <a:latin typeface="Calibri" pitchFamily="34" charset="0"/>
                <a:ea typeface="Calibri" pitchFamily="34" charset="-122"/>
                <a:cs typeface="Calibri" pitchFamily="34" charset="-120"/>
              </a:rPr>
              <a:t>Camera cuts about every 3.5 s</a:t>
            </a:r>
            <a:endParaRPr lang="en-US" sz="1200" dirty="0"/>
          </a:p>
        </p:txBody>
      </p:sp>
      <p:sp>
        <p:nvSpPr>
          <p:cNvPr id="37" name="Shape 34"/>
          <p:cNvSpPr/>
          <p:nvPr/>
        </p:nvSpPr>
        <p:spPr>
          <a:xfrm>
            <a:off x="9880600" y="3117850"/>
            <a:ext cx="838200" cy="215900"/>
          </a:xfrm>
          <a:prstGeom prst="roundRect">
            <a:avLst>
              <a:gd name="adj" fmla="val 63529"/>
            </a:avLst>
          </a:prstGeom>
          <a:solidFill>
            <a:srgbClr val="E4E9E6"/>
          </a:solidFill>
          <a:ln w="6350">
            <a:solidFill>
              <a:srgbClr val="E4E9E6"/>
            </a:solidFill>
            <a:prstDash val="solid"/>
          </a:ln>
        </p:spPr>
      </p:sp>
      <p:sp>
        <p:nvSpPr>
          <p:cNvPr id="38" name="Text 35"/>
          <p:cNvSpPr txBox="1"/>
          <p:nvPr/>
        </p:nvSpPr>
        <p:spPr>
          <a:xfrm>
            <a:off x="9880600" y="3117850"/>
            <a:ext cx="838200" cy="215900"/>
          </a:xfrm>
          <a:prstGeom prst="rect">
            <a:avLst/>
          </a:prstGeom>
          <a:noFill/>
          <a:ln/>
        </p:spPr>
        <p:txBody>
          <a:bodyPr wrap="square" lIns="0" tIns="0" rIns="0" bIns="0" rtlCol="0" anchor="ctr"/>
          <a:lstStyle/>
          <a:p>
            <a:pPr algn="ctr" indent="0" marL="0">
              <a:buNone/>
            </a:pPr>
            <a:r>
              <a:rPr lang="en-US" sz="1000" b="1" dirty="0">
                <a:solidFill>
                  <a:srgbClr val="4F6660"/>
                </a:solidFill>
                <a:latin typeface="Calibri" pitchFamily="34" charset="0"/>
                <a:ea typeface="Calibri" pitchFamily="34" charset="-122"/>
                <a:cs typeface="Calibri" pitchFamily="34" charset="-120"/>
              </a:rPr>
              <a:t>BoT-SORT</a:t>
            </a:r>
            <a:endParaRPr lang="en-US" sz="1000" dirty="0"/>
          </a:p>
        </p:txBody>
      </p:sp>
      <p:sp>
        <p:nvSpPr>
          <p:cNvPr id="39" name="Shape 36"/>
          <p:cNvSpPr/>
          <p:nvPr/>
        </p:nvSpPr>
        <p:spPr>
          <a:xfrm>
            <a:off x="812800" y="3524250"/>
            <a:ext cx="10566400" cy="444500"/>
          </a:xfrm>
          <a:prstGeom prst="roundRect">
            <a:avLst>
              <a:gd name="adj" fmla="val 20571"/>
            </a:avLst>
          </a:prstGeom>
          <a:solidFill>
            <a:srgbClr val="FBFCFA"/>
          </a:solidFill>
          <a:ln w="9525">
            <a:solidFill>
              <a:srgbClr val="D5E1DA"/>
            </a:solidFill>
            <a:prstDash val="solid"/>
          </a:ln>
        </p:spPr>
      </p:sp>
      <p:sp>
        <p:nvSpPr>
          <p:cNvPr id="40" name="Shape 37"/>
          <p:cNvSpPr/>
          <p:nvPr/>
        </p:nvSpPr>
        <p:spPr>
          <a:xfrm>
            <a:off x="965200" y="3606800"/>
            <a:ext cx="279400" cy="279400"/>
          </a:xfrm>
          <a:prstGeom prst="ellipse">
            <a:avLst/>
          </a:prstGeom>
          <a:solidFill>
            <a:srgbClr val="0F241D"/>
          </a:solidFill>
          <a:ln w="6350">
            <a:solidFill>
              <a:srgbClr val="0F241D"/>
            </a:solidFill>
            <a:prstDash val="solid"/>
          </a:ln>
        </p:spPr>
      </p:sp>
      <p:sp>
        <p:nvSpPr>
          <p:cNvPr id="41" name="Text 38"/>
          <p:cNvSpPr txBox="1"/>
          <p:nvPr/>
        </p:nvSpPr>
        <p:spPr>
          <a:xfrm>
            <a:off x="965200" y="3606800"/>
            <a:ext cx="279400" cy="279400"/>
          </a:xfrm>
          <a:prstGeom prst="rect">
            <a:avLst/>
          </a:prstGeom>
          <a:noFill/>
          <a:ln/>
        </p:spPr>
        <p:txBody>
          <a:bodyPr wrap="square" lIns="0" tIns="0" rIns="0" bIns="0" rtlCol="0" anchor="ctr"/>
          <a:lstStyle/>
          <a:p>
            <a:pPr algn="ctr" indent="0" marL="0">
              <a:buNone/>
            </a:pPr>
            <a:r>
              <a:rPr lang="en-US" sz="1200" b="1" dirty="0">
                <a:solidFill>
                  <a:srgbClr val="8CE3B6"/>
                </a:solidFill>
                <a:latin typeface="Calibri" pitchFamily="34" charset="0"/>
                <a:ea typeface="Calibri" pitchFamily="34" charset="-122"/>
                <a:cs typeface="Calibri" pitchFamily="34" charset="-120"/>
              </a:rPr>
              <a:t>5</a:t>
            </a:r>
            <a:endParaRPr lang="en-US" sz="1200" dirty="0"/>
          </a:p>
        </p:txBody>
      </p:sp>
      <p:sp>
        <p:nvSpPr>
          <p:cNvPr id="42" name="Text 39"/>
          <p:cNvSpPr txBox="1"/>
          <p:nvPr/>
        </p:nvSpPr>
        <p:spPr>
          <a:xfrm>
            <a:off x="1371600" y="3524250"/>
            <a:ext cx="2095500" cy="444500"/>
          </a:xfrm>
          <a:prstGeom prst="rect">
            <a:avLst/>
          </a:prstGeom>
          <a:noFill/>
          <a:ln/>
        </p:spPr>
        <p:txBody>
          <a:bodyPr wrap="square" lIns="0" tIns="0" rIns="0" bIns="0" rtlCol="0" anchor="ctr"/>
          <a:lstStyle/>
          <a:p>
            <a:pPr indent="0" marL="0">
              <a:buNone/>
            </a:pPr>
            <a:r>
              <a:rPr lang="en-US" sz="1500" b="1" dirty="0">
                <a:solidFill>
                  <a:srgbClr val="16302A"/>
                </a:solidFill>
                <a:latin typeface="Arial" pitchFamily="34" charset="0"/>
                <a:ea typeface="Arial" pitchFamily="34" charset="-122"/>
                <a:cs typeface="Arial" pitchFamily="34" charset="-120"/>
              </a:rPr>
              <a:t>Pitch positions</a:t>
            </a:r>
            <a:endParaRPr lang="en-US" sz="1500" dirty="0"/>
          </a:p>
        </p:txBody>
      </p:sp>
      <p:sp>
        <p:nvSpPr>
          <p:cNvPr id="43" name="Text 40"/>
          <p:cNvSpPr txBox="1"/>
          <p:nvPr/>
        </p:nvSpPr>
        <p:spPr>
          <a:xfrm>
            <a:off x="3530600" y="3524250"/>
            <a:ext cx="4064000" cy="444500"/>
          </a:xfrm>
          <a:prstGeom prst="rect">
            <a:avLst/>
          </a:prstGeom>
          <a:noFill/>
          <a:ln/>
        </p:spPr>
        <p:txBody>
          <a:bodyPr wrap="square" lIns="0" tIns="0" rIns="0" bIns="0" rtlCol="0" anchor="ctr"/>
          <a:lstStyle/>
          <a:p>
            <a:pPr indent="0" marL="0">
              <a:buNone/>
            </a:pPr>
            <a:r>
              <a:rPr lang="en-US" sz="1300" dirty="0">
                <a:solidFill>
                  <a:srgbClr val="16302A"/>
                </a:solidFill>
                <a:latin typeface="Calibri" pitchFamily="34" charset="0"/>
                <a:ea typeface="Calibri" pitchFamily="34" charset="-122"/>
                <a:cs typeface="Calibri" pitchFamily="34" charset="-120"/>
              </a:rPr>
              <a:t>Each foot point as (x, y) metres on a 105 × 68 m pitch</a:t>
            </a:r>
            <a:endParaRPr lang="en-US" sz="1300" dirty="0"/>
          </a:p>
        </p:txBody>
      </p:sp>
      <p:sp>
        <p:nvSpPr>
          <p:cNvPr id="44" name="Text 41"/>
          <p:cNvSpPr txBox="1"/>
          <p:nvPr/>
        </p:nvSpPr>
        <p:spPr>
          <a:xfrm>
            <a:off x="7696200" y="3524250"/>
            <a:ext cx="2095500" cy="444500"/>
          </a:xfrm>
          <a:prstGeom prst="rect">
            <a:avLst/>
          </a:prstGeom>
          <a:noFill/>
          <a:ln/>
        </p:spPr>
        <p:txBody>
          <a:bodyPr wrap="square" lIns="0" tIns="0" rIns="0" bIns="0" rtlCol="0" anchor="ctr"/>
          <a:lstStyle/>
          <a:p>
            <a:pPr indent="0" marL="0">
              <a:buNone/>
            </a:pPr>
            <a:r>
              <a:rPr lang="en-US" sz="1200" dirty="0">
                <a:solidFill>
                  <a:srgbClr val="4F6660"/>
                </a:solidFill>
                <a:latin typeface="Calibri" pitchFamily="34" charset="0"/>
                <a:ea typeface="Calibri" pitchFamily="34" charset="-122"/>
                <a:cs typeface="Calibri" pitchFamily="34" charset="-120"/>
              </a:rPr>
              <a:t>Homography on every second sample</a:t>
            </a:r>
            <a:endParaRPr lang="en-US" sz="1200" dirty="0"/>
          </a:p>
        </p:txBody>
      </p:sp>
      <p:sp>
        <p:nvSpPr>
          <p:cNvPr id="45" name="Shape 42"/>
          <p:cNvSpPr/>
          <p:nvPr/>
        </p:nvSpPr>
        <p:spPr>
          <a:xfrm>
            <a:off x="9880600" y="3625850"/>
            <a:ext cx="1057275" cy="215900"/>
          </a:xfrm>
          <a:prstGeom prst="roundRect">
            <a:avLst>
              <a:gd name="adj" fmla="val 63529"/>
            </a:avLst>
          </a:prstGeom>
          <a:solidFill>
            <a:srgbClr val="DCE8FA"/>
          </a:solidFill>
          <a:ln w="6350">
            <a:solidFill>
              <a:srgbClr val="DCE8FA"/>
            </a:solidFill>
            <a:prstDash val="solid"/>
          </a:ln>
        </p:spPr>
      </p:sp>
      <p:sp>
        <p:nvSpPr>
          <p:cNvPr id="46" name="Text 43"/>
          <p:cNvSpPr txBox="1"/>
          <p:nvPr/>
        </p:nvSpPr>
        <p:spPr>
          <a:xfrm>
            <a:off x="9880600" y="3625850"/>
            <a:ext cx="1057275" cy="215900"/>
          </a:xfrm>
          <a:prstGeom prst="rect">
            <a:avLst/>
          </a:prstGeom>
          <a:noFill/>
          <a:ln/>
        </p:spPr>
        <p:txBody>
          <a:bodyPr wrap="square" lIns="0" tIns="0" rIns="0" bIns="0" rtlCol="0" anchor="ctr"/>
          <a:lstStyle/>
          <a:p>
            <a:pPr algn="ctr" indent="0" marL="0">
              <a:buNone/>
            </a:pPr>
            <a:r>
              <a:rPr lang="en-US" sz="1000" b="1" dirty="0">
                <a:solidFill>
                  <a:srgbClr val="1D4F9F"/>
                </a:solidFill>
                <a:latin typeface="Calibri" pitchFamily="34" charset="0"/>
                <a:ea typeface="Calibri" pitchFamily="34" charset="-122"/>
                <a:cs typeface="Calibri" pitchFamily="34" charset="-120"/>
              </a:rPr>
              <a:t>HRNetV2-W48</a:t>
            </a:r>
            <a:endParaRPr lang="en-US" sz="1000" dirty="0"/>
          </a:p>
        </p:txBody>
      </p:sp>
      <p:sp>
        <p:nvSpPr>
          <p:cNvPr id="47" name="Shape 44"/>
          <p:cNvSpPr/>
          <p:nvPr/>
        </p:nvSpPr>
        <p:spPr>
          <a:xfrm>
            <a:off x="812800" y="4032250"/>
            <a:ext cx="10566400" cy="444500"/>
          </a:xfrm>
          <a:prstGeom prst="roundRect">
            <a:avLst>
              <a:gd name="adj" fmla="val 20571"/>
            </a:avLst>
          </a:prstGeom>
          <a:solidFill>
            <a:srgbClr val="FBFCFA"/>
          </a:solidFill>
          <a:ln w="9525">
            <a:solidFill>
              <a:srgbClr val="D5E1DA"/>
            </a:solidFill>
            <a:prstDash val="solid"/>
          </a:ln>
        </p:spPr>
      </p:sp>
      <p:sp>
        <p:nvSpPr>
          <p:cNvPr id="48" name="Shape 45"/>
          <p:cNvSpPr/>
          <p:nvPr/>
        </p:nvSpPr>
        <p:spPr>
          <a:xfrm>
            <a:off x="965200" y="4114800"/>
            <a:ext cx="279400" cy="279400"/>
          </a:xfrm>
          <a:prstGeom prst="ellipse">
            <a:avLst/>
          </a:prstGeom>
          <a:solidFill>
            <a:srgbClr val="0F241D"/>
          </a:solidFill>
          <a:ln w="6350">
            <a:solidFill>
              <a:srgbClr val="0F241D"/>
            </a:solidFill>
            <a:prstDash val="solid"/>
          </a:ln>
        </p:spPr>
      </p:sp>
      <p:sp>
        <p:nvSpPr>
          <p:cNvPr id="49" name="Text 46"/>
          <p:cNvSpPr txBox="1"/>
          <p:nvPr/>
        </p:nvSpPr>
        <p:spPr>
          <a:xfrm>
            <a:off x="965200" y="4114800"/>
            <a:ext cx="279400" cy="279400"/>
          </a:xfrm>
          <a:prstGeom prst="rect">
            <a:avLst/>
          </a:prstGeom>
          <a:noFill/>
          <a:ln/>
        </p:spPr>
        <p:txBody>
          <a:bodyPr wrap="square" lIns="0" tIns="0" rIns="0" bIns="0" rtlCol="0" anchor="ctr"/>
          <a:lstStyle/>
          <a:p>
            <a:pPr algn="ctr" indent="0" marL="0">
              <a:buNone/>
            </a:pPr>
            <a:r>
              <a:rPr lang="en-US" sz="1200" b="1" dirty="0">
                <a:solidFill>
                  <a:srgbClr val="8CE3B6"/>
                </a:solidFill>
                <a:latin typeface="Calibri" pitchFamily="34" charset="0"/>
                <a:ea typeface="Calibri" pitchFamily="34" charset="-122"/>
                <a:cs typeface="Calibri" pitchFamily="34" charset="-120"/>
              </a:rPr>
              <a:t>6</a:t>
            </a:r>
            <a:endParaRPr lang="en-US" sz="1200" dirty="0"/>
          </a:p>
        </p:txBody>
      </p:sp>
      <p:sp>
        <p:nvSpPr>
          <p:cNvPr id="50" name="Text 47"/>
          <p:cNvSpPr txBox="1"/>
          <p:nvPr/>
        </p:nvSpPr>
        <p:spPr>
          <a:xfrm>
            <a:off x="1371600" y="4032250"/>
            <a:ext cx="2095500" cy="444500"/>
          </a:xfrm>
          <a:prstGeom prst="rect">
            <a:avLst/>
          </a:prstGeom>
          <a:noFill/>
          <a:ln/>
        </p:spPr>
        <p:txBody>
          <a:bodyPr wrap="square" lIns="0" tIns="0" rIns="0" bIns="0" rtlCol="0" anchor="ctr"/>
          <a:lstStyle/>
          <a:p>
            <a:pPr indent="0" marL="0">
              <a:buNone/>
            </a:pPr>
            <a:r>
              <a:rPr lang="en-US" sz="1500" b="1" dirty="0">
                <a:solidFill>
                  <a:srgbClr val="16302A"/>
                </a:solidFill>
                <a:latin typeface="Arial" pitchFamily="34" charset="0"/>
                <a:ea typeface="Arial" pitchFamily="34" charset="-122"/>
                <a:cs typeface="Arial" pitchFamily="34" charset="-120"/>
              </a:rPr>
              <a:t>Possession and events</a:t>
            </a:r>
            <a:endParaRPr lang="en-US" sz="1500" dirty="0"/>
          </a:p>
        </p:txBody>
      </p:sp>
      <p:sp>
        <p:nvSpPr>
          <p:cNvPr id="51" name="Text 48"/>
          <p:cNvSpPr txBox="1"/>
          <p:nvPr/>
        </p:nvSpPr>
        <p:spPr>
          <a:xfrm>
            <a:off x="3530600" y="4032250"/>
            <a:ext cx="4064000" cy="444500"/>
          </a:xfrm>
          <a:prstGeom prst="rect">
            <a:avLst/>
          </a:prstGeom>
          <a:noFill/>
          <a:ln/>
        </p:spPr>
        <p:txBody>
          <a:bodyPr wrap="square" lIns="0" tIns="0" rIns="0" bIns="0" rtlCol="0" anchor="ctr"/>
          <a:lstStyle/>
          <a:p>
            <a:pPr indent="0" marL="0">
              <a:buNone/>
            </a:pPr>
            <a:r>
              <a:rPr lang="en-US" sz="1300" dirty="0">
                <a:solidFill>
                  <a:srgbClr val="16302A"/>
                </a:solidFill>
                <a:latin typeface="Calibri" pitchFamily="34" charset="0"/>
                <a:ea typeface="Calibri" pitchFamily="34" charset="-122"/>
                <a:cs typeface="Calibri" pitchFamily="34" charset="-120"/>
              </a:rPr>
              <a:t>Typed, timed, placed: pass, carry, shot, tackle, pressure…</a:t>
            </a:r>
            <a:endParaRPr lang="en-US" sz="1300" dirty="0"/>
          </a:p>
        </p:txBody>
      </p:sp>
      <p:sp>
        <p:nvSpPr>
          <p:cNvPr id="52" name="Text 49"/>
          <p:cNvSpPr txBox="1"/>
          <p:nvPr/>
        </p:nvSpPr>
        <p:spPr>
          <a:xfrm>
            <a:off x="7696200" y="4032250"/>
            <a:ext cx="2095500" cy="444500"/>
          </a:xfrm>
          <a:prstGeom prst="rect">
            <a:avLst/>
          </a:prstGeom>
          <a:noFill/>
          <a:ln/>
        </p:spPr>
        <p:txBody>
          <a:bodyPr wrap="square" lIns="0" tIns="0" rIns="0" bIns="0" rtlCol="0" anchor="ctr"/>
          <a:lstStyle/>
          <a:p>
            <a:pPr indent="0" marL="0">
              <a:buNone/>
            </a:pPr>
            <a:r>
              <a:rPr lang="en-US" sz="1200" dirty="0">
                <a:solidFill>
                  <a:srgbClr val="4F6660"/>
                </a:solidFill>
                <a:latin typeface="Calibri" pitchFamily="34" charset="0"/>
                <a:ea typeface="Calibri" pitchFamily="34" charset="-122"/>
                <a:cs typeface="Calibri" pitchFamily="34" charset="-120"/>
              </a:rPr>
              <a:t>1,202 events in the demo half</a:t>
            </a:r>
            <a:endParaRPr lang="en-US" sz="1200" dirty="0"/>
          </a:p>
        </p:txBody>
      </p:sp>
      <p:sp>
        <p:nvSpPr>
          <p:cNvPr id="53" name="Shape 50"/>
          <p:cNvSpPr/>
          <p:nvPr/>
        </p:nvSpPr>
        <p:spPr>
          <a:xfrm>
            <a:off x="9880600" y="4133850"/>
            <a:ext cx="1276350" cy="215900"/>
          </a:xfrm>
          <a:prstGeom prst="roundRect">
            <a:avLst>
              <a:gd name="adj" fmla="val 63529"/>
            </a:avLst>
          </a:prstGeom>
          <a:solidFill>
            <a:srgbClr val="CDEEDD"/>
          </a:solidFill>
          <a:ln w="6350">
            <a:solidFill>
              <a:srgbClr val="CDEEDD"/>
            </a:solidFill>
            <a:prstDash val="solid"/>
          </a:ln>
        </p:spPr>
      </p:sp>
      <p:sp>
        <p:nvSpPr>
          <p:cNvPr id="54" name="Text 51"/>
          <p:cNvSpPr txBox="1"/>
          <p:nvPr/>
        </p:nvSpPr>
        <p:spPr>
          <a:xfrm>
            <a:off x="9880600" y="4133850"/>
            <a:ext cx="1276350" cy="215900"/>
          </a:xfrm>
          <a:prstGeom prst="rect">
            <a:avLst/>
          </a:prstGeom>
          <a:noFill/>
          <a:ln/>
        </p:spPr>
        <p:txBody>
          <a:bodyPr wrap="square" lIns="0" tIns="0" rIns="0" bIns="0" rtlCol="0" anchor="ctr"/>
          <a:lstStyle/>
          <a:p>
            <a:pPr algn="ctr" indent="0" marL="0">
              <a:buNone/>
            </a:pPr>
            <a:r>
              <a:rPr lang="en-US" sz="1000" b="1" dirty="0">
                <a:solidFill>
                  <a:srgbClr val="07573F"/>
                </a:solidFill>
                <a:latin typeface="Calibri" pitchFamily="34" charset="0"/>
                <a:ea typeface="Calibri" pitchFamily="34" charset="-122"/>
                <a:cs typeface="Calibri" pitchFamily="34" charset="-120"/>
              </a:rPr>
              <a:t>Rules + T-DEED</a:t>
            </a:r>
            <a:endParaRPr lang="en-US" sz="1000" dirty="0"/>
          </a:p>
        </p:txBody>
      </p:sp>
      <p:sp>
        <p:nvSpPr>
          <p:cNvPr id="55" name="Shape 52"/>
          <p:cNvSpPr/>
          <p:nvPr/>
        </p:nvSpPr>
        <p:spPr>
          <a:xfrm>
            <a:off x="812800" y="4540250"/>
            <a:ext cx="10566400" cy="444500"/>
          </a:xfrm>
          <a:prstGeom prst="roundRect">
            <a:avLst>
              <a:gd name="adj" fmla="val 20571"/>
            </a:avLst>
          </a:prstGeom>
          <a:solidFill>
            <a:srgbClr val="FBFCFA"/>
          </a:solidFill>
          <a:ln w="9525">
            <a:solidFill>
              <a:srgbClr val="D5E1DA"/>
            </a:solidFill>
            <a:prstDash val="solid"/>
          </a:ln>
        </p:spPr>
      </p:sp>
      <p:sp>
        <p:nvSpPr>
          <p:cNvPr id="56" name="Shape 53"/>
          <p:cNvSpPr/>
          <p:nvPr/>
        </p:nvSpPr>
        <p:spPr>
          <a:xfrm>
            <a:off x="965200" y="4622800"/>
            <a:ext cx="279400" cy="279400"/>
          </a:xfrm>
          <a:prstGeom prst="ellipse">
            <a:avLst/>
          </a:prstGeom>
          <a:solidFill>
            <a:srgbClr val="0F241D"/>
          </a:solidFill>
          <a:ln w="6350">
            <a:solidFill>
              <a:srgbClr val="0F241D"/>
            </a:solidFill>
            <a:prstDash val="solid"/>
          </a:ln>
        </p:spPr>
      </p:sp>
      <p:sp>
        <p:nvSpPr>
          <p:cNvPr id="57" name="Text 54"/>
          <p:cNvSpPr txBox="1"/>
          <p:nvPr/>
        </p:nvSpPr>
        <p:spPr>
          <a:xfrm>
            <a:off x="965200" y="4622800"/>
            <a:ext cx="279400" cy="279400"/>
          </a:xfrm>
          <a:prstGeom prst="rect">
            <a:avLst/>
          </a:prstGeom>
          <a:noFill/>
          <a:ln/>
        </p:spPr>
        <p:txBody>
          <a:bodyPr wrap="square" lIns="0" tIns="0" rIns="0" bIns="0" rtlCol="0" anchor="ctr"/>
          <a:lstStyle/>
          <a:p>
            <a:pPr algn="ctr" indent="0" marL="0">
              <a:buNone/>
            </a:pPr>
            <a:r>
              <a:rPr lang="en-US" sz="1200" b="1" dirty="0">
                <a:solidFill>
                  <a:srgbClr val="8CE3B6"/>
                </a:solidFill>
                <a:latin typeface="Calibri" pitchFamily="34" charset="0"/>
                <a:ea typeface="Calibri" pitchFamily="34" charset="-122"/>
                <a:cs typeface="Calibri" pitchFamily="34" charset="-120"/>
              </a:rPr>
              <a:t>7</a:t>
            </a:r>
            <a:endParaRPr lang="en-US" sz="1200" dirty="0"/>
          </a:p>
        </p:txBody>
      </p:sp>
      <p:sp>
        <p:nvSpPr>
          <p:cNvPr id="58" name="Text 55"/>
          <p:cNvSpPr txBox="1"/>
          <p:nvPr/>
        </p:nvSpPr>
        <p:spPr>
          <a:xfrm>
            <a:off x="1371600" y="4540250"/>
            <a:ext cx="2095500" cy="444500"/>
          </a:xfrm>
          <a:prstGeom prst="rect">
            <a:avLst/>
          </a:prstGeom>
          <a:noFill/>
          <a:ln/>
        </p:spPr>
        <p:txBody>
          <a:bodyPr wrap="square" lIns="0" tIns="0" rIns="0" bIns="0" rtlCol="0" anchor="ctr"/>
          <a:lstStyle/>
          <a:p>
            <a:pPr indent="0" marL="0">
              <a:buNone/>
            </a:pPr>
            <a:r>
              <a:rPr lang="en-US" sz="1500" b="1" dirty="0">
                <a:solidFill>
                  <a:srgbClr val="16302A"/>
                </a:solidFill>
                <a:latin typeface="Arial" pitchFamily="34" charset="0"/>
                <a:ea typeface="Arial" pitchFamily="34" charset="-122"/>
                <a:cs typeface="Arial" pitchFamily="34" charset="-120"/>
              </a:rPr>
              <a:t>Named players</a:t>
            </a:r>
            <a:endParaRPr lang="en-US" sz="1500" dirty="0"/>
          </a:p>
        </p:txBody>
      </p:sp>
      <p:sp>
        <p:nvSpPr>
          <p:cNvPr id="59" name="Text 56"/>
          <p:cNvSpPr txBox="1"/>
          <p:nvPr/>
        </p:nvSpPr>
        <p:spPr>
          <a:xfrm>
            <a:off x="3530600" y="4540250"/>
            <a:ext cx="4064000" cy="444500"/>
          </a:xfrm>
          <a:prstGeom prst="rect">
            <a:avLst/>
          </a:prstGeom>
          <a:noFill/>
          <a:ln/>
        </p:spPr>
        <p:txBody>
          <a:bodyPr wrap="square" lIns="0" tIns="0" rIns="0" bIns="0" rtlCol="0" anchor="ctr"/>
          <a:lstStyle/>
          <a:p>
            <a:pPr indent="0" marL="0">
              <a:buNone/>
            </a:pPr>
            <a:r>
              <a:rPr lang="en-US" sz="1300" dirty="0">
                <a:solidFill>
                  <a:srgbClr val="16302A"/>
                </a:solidFill>
                <a:latin typeface="Calibri" pitchFamily="34" charset="0"/>
                <a:ea typeface="Calibri" pitchFamily="34" charset="-122"/>
                <a:cs typeface="Calibri" pitchFamily="34" charset="-120"/>
              </a:rPr>
              <a:t>Tracklets joined by shirt number or appearance</a:t>
            </a:r>
            <a:endParaRPr lang="en-US" sz="1300" dirty="0"/>
          </a:p>
        </p:txBody>
      </p:sp>
      <p:sp>
        <p:nvSpPr>
          <p:cNvPr id="60" name="Text 57"/>
          <p:cNvSpPr txBox="1"/>
          <p:nvPr/>
        </p:nvSpPr>
        <p:spPr>
          <a:xfrm>
            <a:off x="7696200" y="4540250"/>
            <a:ext cx="2095500" cy="444500"/>
          </a:xfrm>
          <a:prstGeom prst="rect">
            <a:avLst/>
          </a:prstGeom>
          <a:noFill/>
          <a:ln/>
        </p:spPr>
        <p:txBody>
          <a:bodyPr wrap="square" lIns="0" tIns="0" rIns="0" bIns="0" rtlCol="0" anchor="ctr"/>
          <a:lstStyle/>
          <a:p>
            <a:pPr indent="0" marL="0">
              <a:buNone/>
            </a:pPr>
            <a:r>
              <a:rPr lang="en-US" sz="1200" dirty="0">
                <a:solidFill>
                  <a:srgbClr val="4F6660"/>
                </a:solidFill>
                <a:latin typeface="Calibri" pitchFamily="34" charset="0"/>
                <a:ea typeface="Calibri" pitchFamily="34" charset="-122"/>
                <a:cs typeface="Calibri" pitchFamily="34" charset="-120"/>
              </a:rPr>
              <a:t>36 player tracks profiled</a:t>
            </a:r>
            <a:endParaRPr lang="en-US" sz="1200" dirty="0"/>
          </a:p>
        </p:txBody>
      </p:sp>
      <p:sp>
        <p:nvSpPr>
          <p:cNvPr id="61" name="Shape 58"/>
          <p:cNvSpPr/>
          <p:nvPr/>
        </p:nvSpPr>
        <p:spPr>
          <a:xfrm>
            <a:off x="9880600" y="4641850"/>
            <a:ext cx="1203325" cy="215900"/>
          </a:xfrm>
          <a:prstGeom prst="roundRect">
            <a:avLst>
              <a:gd name="adj" fmla="val 63529"/>
            </a:avLst>
          </a:prstGeom>
          <a:solidFill>
            <a:srgbClr val="CDEEDD"/>
          </a:solidFill>
          <a:ln w="6350">
            <a:solidFill>
              <a:srgbClr val="CDEEDD"/>
            </a:solidFill>
            <a:prstDash val="solid"/>
          </a:ln>
        </p:spPr>
      </p:sp>
      <p:sp>
        <p:nvSpPr>
          <p:cNvPr id="62" name="Text 59"/>
          <p:cNvSpPr txBox="1"/>
          <p:nvPr/>
        </p:nvSpPr>
        <p:spPr>
          <a:xfrm>
            <a:off x="9880600" y="4641850"/>
            <a:ext cx="1203325" cy="215900"/>
          </a:xfrm>
          <a:prstGeom prst="rect">
            <a:avLst/>
          </a:prstGeom>
          <a:noFill/>
          <a:ln/>
        </p:spPr>
        <p:txBody>
          <a:bodyPr wrap="square" lIns="0" tIns="0" rIns="0" bIns="0" rtlCol="0" anchor="ctr"/>
          <a:lstStyle/>
          <a:p>
            <a:pPr algn="ctr" indent="0" marL="0">
              <a:buNone/>
            </a:pPr>
            <a:r>
              <a:rPr lang="en-US" sz="1000" b="1" dirty="0">
                <a:solidFill>
                  <a:srgbClr val="07573F"/>
                </a:solidFill>
                <a:latin typeface="Calibri" pitchFamily="34" charset="0"/>
                <a:ea typeface="Calibri" pitchFamily="34" charset="-122"/>
                <a:cs typeface="Calibri" pitchFamily="34" charset="-120"/>
              </a:rPr>
              <a:t>PARSeq + CLIP</a:t>
            </a:r>
            <a:endParaRPr lang="en-US" sz="1000" dirty="0"/>
          </a:p>
        </p:txBody>
      </p:sp>
      <p:sp>
        <p:nvSpPr>
          <p:cNvPr id="63" name="Shape 60"/>
          <p:cNvSpPr/>
          <p:nvPr/>
        </p:nvSpPr>
        <p:spPr>
          <a:xfrm>
            <a:off x="812800" y="5048250"/>
            <a:ext cx="10566400" cy="444500"/>
          </a:xfrm>
          <a:prstGeom prst="roundRect">
            <a:avLst>
              <a:gd name="adj" fmla="val 20571"/>
            </a:avLst>
          </a:prstGeom>
          <a:solidFill>
            <a:srgbClr val="FBFCFA"/>
          </a:solidFill>
          <a:ln w="9525">
            <a:solidFill>
              <a:srgbClr val="D5E1DA"/>
            </a:solidFill>
            <a:prstDash val="solid"/>
          </a:ln>
        </p:spPr>
      </p:sp>
      <p:sp>
        <p:nvSpPr>
          <p:cNvPr id="64" name="Shape 61"/>
          <p:cNvSpPr/>
          <p:nvPr/>
        </p:nvSpPr>
        <p:spPr>
          <a:xfrm>
            <a:off x="965200" y="5130800"/>
            <a:ext cx="279400" cy="279400"/>
          </a:xfrm>
          <a:prstGeom prst="ellipse">
            <a:avLst/>
          </a:prstGeom>
          <a:solidFill>
            <a:srgbClr val="0F241D"/>
          </a:solidFill>
          <a:ln w="6350">
            <a:solidFill>
              <a:srgbClr val="0F241D"/>
            </a:solidFill>
            <a:prstDash val="solid"/>
          </a:ln>
        </p:spPr>
      </p:sp>
      <p:sp>
        <p:nvSpPr>
          <p:cNvPr id="65" name="Text 62"/>
          <p:cNvSpPr txBox="1"/>
          <p:nvPr/>
        </p:nvSpPr>
        <p:spPr>
          <a:xfrm>
            <a:off x="965200" y="5130800"/>
            <a:ext cx="279400" cy="279400"/>
          </a:xfrm>
          <a:prstGeom prst="rect">
            <a:avLst/>
          </a:prstGeom>
          <a:noFill/>
          <a:ln/>
        </p:spPr>
        <p:txBody>
          <a:bodyPr wrap="square" lIns="0" tIns="0" rIns="0" bIns="0" rtlCol="0" anchor="ctr"/>
          <a:lstStyle/>
          <a:p>
            <a:pPr algn="ctr" indent="0" marL="0">
              <a:buNone/>
            </a:pPr>
            <a:r>
              <a:rPr lang="en-US" sz="1200" b="1" dirty="0">
                <a:solidFill>
                  <a:srgbClr val="8CE3B6"/>
                </a:solidFill>
                <a:latin typeface="Calibri" pitchFamily="34" charset="0"/>
                <a:ea typeface="Calibri" pitchFamily="34" charset="-122"/>
                <a:cs typeface="Calibri" pitchFamily="34" charset="-120"/>
              </a:rPr>
              <a:t>8</a:t>
            </a:r>
            <a:endParaRPr lang="en-US" sz="1200" dirty="0"/>
          </a:p>
        </p:txBody>
      </p:sp>
      <p:sp>
        <p:nvSpPr>
          <p:cNvPr id="66" name="Text 63"/>
          <p:cNvSpPr txBox="1"/>
          <p:nvPr/>
        </p:nvSpPr>
        <p:spPr>
          <a:xfrm>
            <a:off x="1371600" y="5048250"/>
            <a:ext cx="2095500" cy="444500"/>
          </a:xfrm>
          <a:prstGeom prst="rect">
            <a:avLst/>
          </a:prstGeom>
          <a:noFill/>
          <a:ln/>
        </p:spPr>
        <p:txBody>
          <a:bodyPr wrap="square" lIns="0" tIns="0" rIns="0" bIns="0" rtlCol="0" anchor="ctr"/>
          <a:lstStyle/>
          <a:p>
            <a:pPr indent="0" marL="0">
              <a:buNone/>
            </a:pPr>
            <a:r>
              <a:rPr lang="en-US" sz="1500" b="1" dirty="0">
                <a:solidFill>
                  <a:srgbClr val="16302A"/>
                </a:solidFill>
                <a:latin typeface="Arial" pitchFamily="34" charset="0"/>
                <a:ea typeface="Arial" pitchFamily="34" charset="-122"/>
                <a:cs typeface="Arial" pitchFamily="34" charset="-120"/>
              </a:rPr>
              <a:t>Statistics</a:t>
            </a:r>
            <a:endParaRPr lang="en-US" sz="1500" dirty="0"/>
          </a:p>
        </p:txBody>
      </p:sp>
      <p:sp>
        <p:nvSpPr>
          <p:cNvPr id="67" name="Text 64"/>
          <p:cNvSpPr txBox="1"/>
          <p:nvPr/>
        </p:nvSpPr>
        <p:spPr>
          <a:xfrm>
            <a:off x="3530600" y="5048250"/>
            <a:ext cx="4064000" cy="444500"/>
          </a:xfrm>
          <a:prstGeom prst="rect">
            <a:avLst/>
          </a:prstGeom>
          <a:noFill/>
          <a:ln/>
        </p:spPr>
        <p:txBody>
          <a:bodyPr wrap="square" lIns="0" tIns="0" rIns="0" bIns="0" rtlCol="0" anchor="ctr"/>
          <a:lstStyle/>
          <a:p>
            <a:pPr indent="0" marL="0">
              <a:buNone/>
            </a:pPr>
            <a:r>
              <a:rPr lang="en-US" sz="1300" dirty="0">
                <a:solidFill>
                  <a:srgbClr val="16302A"/>
                </a:solidFill>
                <a:latin typeface="Calibri" pitchFamily="34" charset="0"/>
                <a:ea typeface="Calibri" pitchFamily="34" charset="-122"/>
                <a:cs typeface="Calibri" pitchFamily="34" charset="-120"/>
              </a:rPr>
              <a:t>Totals, rates per 90 minutes, per 100 touches, percentiles</a:t>
            </a:r>
            <a:endParaRPr lang="en-US" sz="1300" dirty="0"/>
          </a:p>
        </p:txBody>
      </p:sp>
      <p:sp>
        <p:nvSpPr>
          <p:cNvPr id="68" name="Text 65"/>
          <p:cNvSpPr txBox="1"/>
          <p:nvPr/>
        </p:nvSpPr>
        <p:spPr>
          <a:xfrm>
            <a:off x="7696200" y="5048250"/>
            <a:ext cx="2095500" cy="444500"/>
          </a:xfrm>
          <a:prstGeom prst="rect">
            <a:avLst/>
          </a:prstGeom>
          <a:noFill/>
          <a:ln/>
        </p:spPr>
        <p:txBody>
          <a:bodyPr wrap="square" lIns="0" tIns="0" rIns="0" bIns="0" rtlCol="0" anchor="ctr"/>
          <a:lstStyle/>
          <a:p>
            <a:pPr indent="0" marL="0">
              <a:buNone/>
            </a:pPr>
            <a:r>
              <a:rPr lang="en-US" sz="1200" dirty="0">
                <a:solidFill>
                  <a:srgbClr val="4F6660"/>
                </a:solidFill>
                <a:latin typeface="Calibri" pitchFamily="34" charset="0"/>
                <a:ea typeface="Calibri" pitchFamily="34" charset="-122"/>
                <a:cs typeface="Calibri" pitchFamily="34" charset="-120"/>
              </a:rPr>
              <a:t>About 90 per player</a:t>
            </a:r>
            <a:endParaRPr lang="en-US" sz="1200" dirty="0"/>
          </a:p>
        </p:txBody>
      </p:sp>
      <p:sp>
        <p:nvSpPr>
          <p:cNvPr id="69" name="Shape 66"/>
          <p:cNvSpPr/>
          <p:nvPr/>
        </p:nvSpPr>
        <p:spPr>
          <a:xfrm>
            <a:off x="9880600" y="5149850"/>
            <a:ext cx="984250" cy="215900"/>
          </a:xfrm>
          <a:prstGeom prst="roundRect">
            <a:avLst>
              <a:gd name="adj" fmla="val 63529"/>
            </a:avLst>
          </a:prstGeom>
          <a:solidFill>
            <a:srgbClr val="E4E9E6"/>
          </a:solidFill>
          <a:ln w="6350">
            <a:solidFill>
              <a:srgbClr val="E4E9E6"/>
            </a:solidFill>
            <a:prstDash val="solid"/>
          </a:ln>
        </p:spPr>
      </p:sp>
      <p:sp>
        <p:nvSpPr>
          <p:cNvPr id="70" name="Text 67"/>
          <p:cNvSpPr txBox="1"/>
          <p:nvPr/>
        </p:nvSpPr>
        <p:spPr>
          <a:xfrm>
            <a:off x="9880600" y="5149850"/>
            <a:ext cx="984250" cy="215900"/>
          </a:xfrm>
          <a:prstGeom prst="rect">
            <a:avLst/>
          </a:prstGeom>
          <a:noFill/>
          <a:ln/>
        </p:spPr>
        <p:txBody>
          <a:bodyPr wrap="square" lIns="0" tIns="0" rIns="0" bIns="0" rtlCol="0" anchor="ctr"/>
          <a:lstStyle/>
          <a:p>
            <a:pPr algn="ctr" indent="0" marL="0">
              <a:buNone/>
            </a:pPr>
            <a:r>
              <a:rPr lang="en-US" sz="1000" b="1" dirty="0">
                <a:solidFill>
                  <a:srgbClr val="4F6660"/>
                </a:solidFill>
                <a:latin typeface="Calibri" pitchFamily="34" charset="0"/>
                <a:ea typeface="Calibri" pitchFamily="34" charset="-122"/>
                <a:cs typeface="Calibri" pitchFamily="34" charset="-120"/>
              </a:rPr>
              <a:t>Stats code</a:t>
            </a:r>
            <a:endParaRPr lang="en-US" sz="1000" dirty="0"/>
          </a:p>
        </p:txBody>
      </p:sp>
      <p:sp>
        <p:nvSpPr>
          <p:cNvPr id="71" name="Text 68"/>
          <p:cNvSpPr txBox="1"/>
          <p:nvPr/>
        </p:nvSpPr>
        <p:spPr>
          <a:xfrm>
            <a:off x="812800" y="5664200"/>
            <a:ext cx="10566400" cy="254000"/>
          </a:xfrm>
          <a:prstGeom prst="rect">
            <a:avLst/>
          </a:prstGeom>
          <a:noFill/>
          <a:ln/>
        </p:spPr>
        <p:txBody>
          <a:bodyPr wrap="square" lIns="0" tIns="0" rIns="0" bIns="0" rtlCol="0" anchor="t"/>
          <a:lstStyle/>
          <a:p>
            <a:pPr indent="0" marL="0">
              <a:buNone/>
            </a:pPr>
            <a:r>
              <a:rPr lang="en-US" sz="1400" b="1" dirty="0">
                <a:solidFill>
                  <a:srgbClr val="16302A"/>
                </a:solidFill>
                <a:latin typeface="Calibri" pitchFamily="34" charset="0"/>
                <a:ea typeface="Calibri" pitchFamily="34" charset="-122"/>
                <a:cs typeface="Calibri" pitchFamily="34" charset="-120"/>
              </a:rPr>
              <a:t>Each step changes what the data is: </a:t>
            </a:r>
            <a:pPr indent="0" marL="0">
              <a:buNone/>
            </a:pPr>
            <a:r>
              <a:rPr lang="en-US" sz="1400" dirty="0">
                <a:solidFill>
                  <a:srgbClr val="16302A"/>
                </a:solidFill>
                <a:latin typeface="Calibri" pitchFamily="34" charset="0"/>
                <a:ea typeface="Calibri" pitchFamily="34" charset="-122"/>
                <a:cs typeface="Calibri" pitchFamily="34" charset="-120"/>
              </a:rPr>
              <a:t>pixels → boxes → tracks → metres → events → people → numbers. Nothing outside the video is used.</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6F2"/>
        </a:solidFill>
      </p:bgPr>
    </p:bg>
    <p:spTree>
      <p:nvGrpSpPr>
        <p:cNvPr id="1" name=""/>
        <p:cNvGrpSpPr/>
        <p:nvPr/>
      </p:nvGrpSpPr>
      <p:grpSpPr>
        <a:xfrm>
          <a:off x="0" y="0"/>
          <a:ext cx="0" cy="0"/>
          <a:chOff x="0" y="0"/>
          <a:chExt cx="0" cy="0"/>
        </a:xfrm>
      </p:grpSpPr>
      <p:sp>
        <p:nvSpPr>
          <p:cNvPr id="3" name="Text 0"/>
          <p:cNvSpPr txBox="1"/>
          <p:nvPr/>
        </p:nvSpPr>
        <p:spPr>
          <a:xfrm>
            <a:off x="812800" y="508000"/>
            <a:ext cx="10566400" cy="215900"/>
          </a:xfrm>
          <a:prstGeom prst="rect">
            <a:avLst/>
          </a:prstGeom>
          <a:noFill/>
          <a:ln/>
        </p:spPr>
        <p:txBody>
          <a:bodyPr wrap="square" lIns="0" tIns="0" rIns="0" bIns="0" rtlCol="0" anchor="t"/>
          <a:lstStyle/>
          <a:p>
            <a:pPr indent="0" marL="0">
              <a:buNone/>
            </a:pPr>
            <a:r>
              <a:rPr lang="en-US" sz="1200" b="1" spc="200" kern="0" dirty="0">
                <a:solidFill>
                  <a:srgbClr val="0A7A5C"/>
                </a:solidFill>
                <a:latin typeface="Calibri" pitchFamily="34" charset="0"/>
                <a:ea typeface="Calibri" pitchFamily="34" charset="-122"/>
                <a:cs typeface="Calibri" pitchFamily="34" charset="-120"/>
              </a:rPr>
              <a:t>FROM RAW VIDEO TO STATISTICS</a:t>
            </a:r>
            <a:endParaRPr lang="en-US" sz="1200" dirty="0"/>
          </a:p>
        </p:txBody>
      </p:sp>
      <p:sp>
        <p:nvSpPr>
          <p:cNvPr id="4" name="Text 1"/>
          <p:cNvSpPr txBox="1"/>
          <p:nvPr/>
        </p:nvSpPr>
        <p:spPr>
          <a:xfrm>
            <a:off x="812800" y="762000"/>
            <a:ext cx="10566400" cy="571500"/>
          </a:xfrm>
          <a:prstGeom prst="rect">
            <a:avLst/>
          </a:prstGeom>
          <a:noFill/>
          <a:ln/>
        </p:spPr>
        <p:txBody>
          <a:bodyPr wrap="square" lIns="0" tIns="0" rIns="0" bIns="0" rtlCol="0" anchor="ctr"/>
          <a:lstStyle/>
          <a:p>
            <a:pPr indent="0" marL="0">
              <a:buNone/>
            </a:pPr>
            <a:r>
              <a:rPr lang="en-US" sz="3000" b="1" dirty="0">
                <a:solidFill>
                  <a:srgbClr val="16302A"/>
                </a:solidFill>
                <a:latin typeface="Arial" pitchFamily="34" charset="0"/>
                <a:ea typeface="Arial" pitchFamily="34" charset="-122"/>
                <a:cs typeface="Arial" pitchFamily="34" charset="-120"/>
              </a:rPr>
              <a:t>Three numbers, traced back to pixels</a:t>
            </a:r>
            <a:endParaRPr lang="en-US" sz="3000" dirty="0"/>
          </a:p>
        </p:txBody>
      </p:sp>
      <p:sp>
        <p:nvSpPr>
          <p:cNvPr id="5" name="Text 2"/>
          <p:cNvSpPr txBox="1"/>
          <p:nvPr/>
        </p:nvSpPr>
        <p:spPr>
          <a:xfrm>
            <a:off x="812800" y="6254750"/>
            <a:ext cx="5715000" cy="190500"/>
          </a:xfrm>
          <a:prstGeom prst="rect">
            <a:avLst/>
          </a:prstGeom>
          <a:noFill/>
          <a:ln/>
        </p:spPr>
        <p:txBody>
          <a:bodyPr wrap="square" lIns="0" tIns="0" rIns="0" bIns="0" rtlCol="0" anchor="t"/>
          <a:lstStyle/>
          <a:p>
            <a:pPr indent="0" marL="0">
              <a:buNone/>
            </a:pPr>
            <a:r>
              <a:rPr lang="en-US" sz="1200" dirty="0">
                <a:solidFill>
                  <a:srgbClr val="4F6660"/>
                </a:solidFill>
                <a:latin typeface="Calibri" pitchFamily="34" charset="0"/>
                <a:ea typeface="Calibri" pitchFamily="34" charset="-122"/>
                <a:cs typeface="Calibri" pitchFamily="34" charset="-120"/>
              </a:rPr>
              <a:t>PitchProfile · AAI3001</a:t>
            </a:r>
            <a:endParaRPr lang="en-US" sz="1200" dirty="0"/>
          </a:p>
        </p:txBody>
      </p:sp>
      <p:sp>
        <p:nvSpPr>
          <p:cNvPr id="6" name="Text 3"/>
          <p:cNvSpPr txBox="1"/>
          <p:nvPr/>
        </p:nvSpPr>
        <p:spPr>
          <a:xfrm>
            <a:off x="10109200" y="6254750"/>
            <a:ext cx="1270000" cy="190500"/>
          </a:xfrm>
          <a:prstGeom prst="rect">
            <a:avLst/>
          </a:prstGeom>
          <a:noFill/>
          <a:ln/>
        </p:spPr>
        <p:txBody>
          <a:bodyPr wrap="square" lIns="0" tIns="0" rIns="0" bIns="0" rtlCol="0" anchor="t"/>
          <a:lstStyle/>
          <a:p>
            <a:pPr algn="r" indent="0" marL="0">
              <a:buNone/>
            </a:pPr>
            <a:r>
              <a:rPr lang="en-US" sz="1200" dirty="0">
                <a:solidFill>
                  <a:srgbClr val="4F6660"/>
                </a:solidFill>
                <a:latin typeface="Calibri" pitchFamily="34" charset="0"/>
                <a:ea typeface="Calibri" pitchFamily="34" charset="-122"/>
                <a:cs typeface="Calibri" pitchFamily="34" charset="-120"/>
              </a:rPr>
              <a:t>6</a:t>
            </a:r>
            <a:endParaRPr lang="en-US" sz="1200" dirty="0"/>
          </a:p>
        </p:txBody>
      </p:sp>
      <p:sp>
        <p:nvSpPr>
          <p:cNvPr id="7" name="Shape 4"/>
          <p:cNvSpPr/>
          <p:nvPr/>
        </p:nvSpPr>
        <p:spPr>
          <a:xfrm>
            <a:off x="812800" y="1492250"/>
            <a:ext cx="3403600" cy="4445000"/>
          </a:xfrm>
          <a:prstGeom prst="roundRect">
            <a:avLst>
              <a:gd name="adj" fmla="val 2687"/>
            </a:avLst>
          </a:prstGeom>
          <a:solidFill>
            <a:srgbClr val="FBFCFA"/>
          </a:solidFill>
          <a:ln w="9525">
            <a:solidFill>
              <a:srgbClr val="D5E1DA"/>
            </a:solidFill>
            <a:prstDash val="solid"/>
          </a:ln>
        </p:spPr>
      </p:sp>
      <p:sp>
        <p:nvSpPr>
          <p:cNvPr id="8" name="Text 5"/>
          <p:cNvSpPr txBox="1"/>
          <p:nvPr/>
        </p:nvSpPr>
        <p:spPr>
          <a:xfrm>
            <a:off x="990600" y="1651000"/>
            <a:ext cx="3048000" cy="317500"/>
          </a:xfrm>
          <a:prstGeom prst="rect">
            <a:avLst/>
          </a:prstGeom>
          <a:noFill/>
          <a:ln/>
        </p:spPr>
        <p:txBody>
          <a:bodyPr wrap="square" lIns="0" tIns="0" rIns="0" bIns="0" rtlCol="0" anchor="t"/>
          <a:lstStyle/>
          <a:p>
            <a:pPr indent="0" marL="0">
              <a:buNone/>
            </a:pPr>
            <a:r>
              <a:rPr lang="en-US" sz="1700" b="1" dirty="0">
                <a:solidFill>
                  <a:srgbClr val="16302A"/>
                </a:solidFill>
                <a:latin typeface="Arial" pitchFamily="34" charset="0"/>
                <a:ea typeface="Arial" pitchFamily="34" charset="-122"/>
                <a:cs typeface="Arial" pitchFamily="34" charset="-120"/>
              </a:rPr>
              <a:t>A pass</a:t>
            </a:r>
            <a:endParaRPr lang="en-US" sz="1700" dirty="0"/>
          </a:p>
        </p:txBody>
      </p:sp>
      <p:sp>
        <p:nvSpPr>
          <p:cNvPr id="9" name="Text 6"/>
          <p:cNvSpPr txBox="1"/>
          <p:nvPr/>
        </p:nvSpPr>
        <p:spPr>
          <a:xfrm>
            <a:off x="990600" y="2063750"/>
            <a:ext cx="3048000" cy="2794000"/>
          </a:xfrm>
          <a:prstGeom prst="rect">
            <a:avLst/>
          </a:prstGeom>
          <a:noFill/>
          <a:ln/>
        </p:spPr>
        <p:txBody>
          <a:bodyPr wrap="square" lIns="0" tIns="0" rIns="0" bIns="0" rtlCol="0" anchor="t"/>
          <a:lstStyle/>
          <a:p>
            <a:pPr indent="0" marL="0">
              <a:buNone/>
            </a:pPr>
            <a:r>
              <a:rPr lang="en-US" sz="1000" b="1" spc="100" kern="0" dirty="0">
                <a:solidFill>
                  <a:srgbClr val="0A7A5C"/>
                </a:solidFill>
                <a:latin typeface="Calibri" pitchFamily="34" charset="0"/>
                <a:ea typeface="Calibri" pitchFamily="34" charset="-122"/>
                <a:cs typeface="Calibri" pitchFamily="34" charset="-120"/>
              </a:rPr>
              <a:t>PIXELS</a:t>
            </a:r>
            <a:endParaRPr lang="en-US" sz="1000" dirty="0"/>
          </a:p>
          <a:p>
            <a:pPr indent="0" marL="0">
              <a:buNone/>
            </a:pPr>
            <a:r>
              <a:rPr lang="en-US" sz="1300" dirty="0">
                <a:solidFill>
                  <a:srgbClr val="16302A"/>
                </a:solidFill>
                <a:latin typeface="Calibri" pitchFamily="34" charset="0"/>
                <a:ea typeface="Calibri" pitchFamily="34" charset="-122"/>
                <a:cs typeface="Calibri" pitchFamily="34" charset="-120"/>
              </a:rPr>
              <a:t>YOLOv8x boxes the passer, a teammate and the ball.</a:t>
            </a:r>
            <a:endParaRPr lang="en-US" sz="1000" dirty="0"/>
          </a:p>
          <a:p>
            <a:pPr indent="0" marL="0">
              <a:spcBef>
                <a:spcPts val="700"/>
              </a:spcBef>
              <a:buNone/>
            </a:pPr>
            <a:r>
              <a:rPr lang="en-US" sz="1000" b="1" spc="100" kern="0" dirty="0">
                <a:solidFill>
                  <a:srgbClr val="0A7A5C"/>
                </a:solidFill>
                <a:latin typeface="Calibri" pitchFamily="34" charset="0"/>
                <a:ea typeface="Calibri" pitchFamily="34" charset="-122"/>
                <a:cs typeface="Calibri" pitchFamily="34" charset="-120"/>
              </a:rPr>
              <a:t>METRES</a:t>
            </a:r>
            <a:endParaRPr lang="en-US" sz="1000" dirty="0"/>
          </a:p>
          <a:p>
            <a:pPr indent="0" marL="0">
              <a:buNone/>
            </a:pPr>
            <a:r>
              <a:rPr lang="en-US" sz="1300" dirty="0">
                <a:solidFill>
                  <a:srgbClr val="16302A"/>
                </a:solidFill>
                <a:latin typeface="Calibri" pitchFamily="34" charset="0"/>
                <a:ea typeface="Calibri" pitchFamily="34" charset="-122"/>
                <a:cs typeface="Calibri" pitchFamily="34" charset="-120"/>
              </a:rPr>
              <a:t>HRNet maps them onto the pitch; one ball path is chosen.</a:t>
            </a:r>
            <a:endParaRPr lang="en-US" sz="1000" dirty="0"/>
          </a:p>
          <a:p>
            <a:pPr indent="0" marL="0">
              <a:spcBef>
                <a:spcPts val="700"/>
              </a:spcBef>
              <a:buNone/>
            </a:pPr>
            <a:r>
              <a:rPr lang="en-US" sz="1000" b="1" spc="100" kern="0" dirty="0">
                <a:solidFill>
                  <a:srgbClr val="0A7A5C"/>
                </a:solidFill>
                <a:latin typeface="Calibri" pitchFamily="34" charset="0"/>
                <a:ea typeface="Calibri" pitchFamily="34" charset="-122"/>
                <a:cs typeface="Calibri" pitchFamily="34" charset="-120"/>
              </a:rPr>
              <a:t>RULE</a:t>
            </a:r>
            <a:endParaRPr lang="en-US" sz="1000" dirty="0"/>
          </a:p>
          <a:p>
            <a:pPr indent="0" marL="0">
              <a:buNone/>
            </a:pPr>
            <a:r>
              <a:rPr lang="en-US" sz="1300" dirty="0">
                <a:solidFill>
                  <a:srgbClr val="16302A"/>
                </a:solidFill>
                <a:latin typeface="Calibri" pitchFamily="34" charset="0"/>
                <a:ea typeface="Calibri" pitchFamily="34" charset="-122"/>
                <a:cs typeface="Calibri" pitchFamily="34" charset="-120"/>
              </a:rPr>
              <a:t>The ball leaves a player (a release). A teammate touches it within 4 s in the same view: complete. An opponent: intercepted.</a:t>
            </a:r>
            <a:endParaRPr lang="en-US" sz="1000" dirty="0"/>
          </a:p>
          <a:p>
            <a:pPr indent="0" marL="0">
              <a:spcBef>
                <a:spcPts val="700"/>
              </a:spcBef>
              <a:buNone/>
            </a:pPr>
            <a:r>
              <a:rPr lang="en-US" sz="1000" b="1" spc="100" kern="0" dirty="0">
                <a:solidFill>
                  <a:srgbClr val="0A7A5C"/>
                </a:solidFill>
                <a:latin typeface="Calibri" pitchFamily="34" charset="0"/>
                <a:ea typeface="Calibri" pitchFamily="34" charset="-122"/>
                <a:cs typeface="Calibri" pitchFamily="34" charset="-120"/>
              </a:rPr>
              <a:t>NAME</a:t>
            </a:r>
            <a:endParaRPr lang="en-US" sz="1000" dirty="0"/>
          </a:p>
          <a:p>
            <a:pPr indent="0" marL="0">
              <a:buNone/>
            </a:pPr>
            <a:r>
              <a:rPr lang="en-US" sz="1300" dirty="0">
                <a:solidFill>
                  <a:srgbClr val="16302A"/>
                </a:solidFill>
                <a:latin typeface="Calibri" pitchFamily="34" charset="0"/>
                <a:ea typeface="Calibri" pitchFamily="34" charset="-122"/>
                <a:cs typeface="Calibri" pitchFamily="34" charset="-120"/>
              </a:rPr>
              <a:t>The passer’s tracklet is tied to a shirt number.</a:t>
            </a:r>
            <a:endParaRPr lang="en-US" sz="1000" dirty="0"/>
          </a:p>
        </p:txBody>
      </p:sp>
      <p:sp>
        <p:nvSpPr>
          <p:cNvPr id="10" name="Shape 7"/>
          <p:cNvSpPr/>
          <p:nvPr/>
        </p:nvSpPr>
        <p:spPr>
          <a:xfrm>
            <a:off x="990600" y="5016500"/>
            <a:ext cx="3048000" cy="762000"/>
          </a:xfrm>
          <a:prstGeom prst="roundRect">
            <a:avLst>
              <a:gd name="adj" fmla="val 9600"/>
            </a:avLst>
          </a:prstGeom>
          <a:solidFill>
            <a:srgbClr val="0F241D"/>
          </a:solidFill>
          <a:ln w="12700">
            <a:solidFill>
              <a:srgbClr val="0F241D"/>
            </a:solidFill>
            <a:prstDash val="solid"/>
          </a:ln>
        </p:spPr>
      </p:sp>
      <p:sp>
        <p:nvSpPr>
          <p:cNvPr id="11" name="Text 8"/>
          <p:cNvSpPr txBox="1"/>
          <p:nvPr/>
        </p:nvSpPr>
        <p:spPr>
          <a:xfrm>
            <a:off x="1117600" y="5016500"/>
            <a:ext cx="2794000" cy="762000"/>
          </a:xfrm>
          <a:prstGeom prst="rect">
            <a:avLst/>
          </a:prstGeom>
          <a:noFill/>
          <a:ln/>
        </p:spPr>
        <p:txBody>
          <a:bodyPr wrap="square" lIns="0" tIns="0" rIns="0" bIns="0" rtlCol="0" anchor="ctr"/>
          <a:lstStyle/>
          <a:p>
            <a:pPr indent="0" marL="0">
              <a:buNone/>
            </a:pPr>
            <a:r>
              <a:rPr lang="en-US" sz="1300" b="1" dirty="0">
                <a:solidFill>
                  <a:srgbClr val="8CE3B6"/>
                </a:solidFill>
                <a:latin typeface="Calibri" pitchFamily="34" charset="0"/>
                <a:ea typeface="Calibri" pitchFamily="34" charset="-122"/>
                <a:cs typeface="Calibri" pitchFamily="34" charset="-120"/>
              </a:rPr>
              <a:t>Passes, completion %, progressive (≥ 10 m towards goal), long (≥ 30 m)</a:t>
            </a:r>
            <a:endParaRPr lang="en-US" sz="1300" dirty="0"/>
          </a:p>
        </p:txBody>
      </p:sp>
      <p:sp>
        <p:nvSpPr>
          <p:cNvPr id="12" name="Shape 9"/>
          <p:cNvSpPr/>
          <p:nvPr/>
        </p:nvSpPr>
        <p:spPr>
          <a:xfrm>
            <a:off x="4394200" y="1492250"/>
            <a:ext cx="3403600" cy="4445000"/>
          </a:xfrm>
          <a:prstGeom prst="roundRect">
            <a:avLst>
              <a:gd name="adj" fmla="val 2687"/>
            </a:avLst>
          </a:prstGeom>
          <a:solidFill>
            <a:srgbClr val="FBFCFA"/>
          </a:solidFill>
          <a:ln w="9525">
            <a:solidFill>
              <a:srgbClr val="D5E1DA"/>
            </a:solidFill>
            <a:prstDash val="solid"/>
          </a:ln>
        </p:spPr>
      </p:sp>
      <p:sp>
        <p:nvSpPr>
          <p:cNvPr id="13" name="Text 10"/>
          <p:cNvSpPr txBox="1"/>
          <p:nvPr/>
        </p:nvSpPr>
        <p:spPr>
          <a:xfrm>
            <a:off x="4572000" y="1651000"/>
            <a:ext cx="3048000" cy="317500"/>
          </a:xfrm>
          <a:prstGeom prst="rect">
            <a:avLst/>
          </a:prstGeom>
          <a:noFill/>
          <a:ln/>
        </p:spPr>
        <p:txBody>
          <a:bodyPr wrap="square" lIns="0" tIns="0" rIns="0" bIns="0" rtlCol="0" anchor="t"/>
          <a:lstStyle/>
          <a:p>
            <a:pPr indent="0" marL="0">
              <a:buNone/>
            </a:pPr>
            <a:r>
              <a:rPr lang="en-US" sz="1700" b="1" dirty="0">
                <a:solidFill>
                  <a:srgbClr val="16302A"/>
                </a:solidFill>
                <a:latin typeface="Arial" pitchFamily="34" charset="0"/>
                <a:ea typeface="Arial" pitchFamily="34" charset="-122"/>
                <a:cs typeface="Arial" pitchFamily="34" charset="-120"/>
              </a:rPr>
              <a:t>A run</a:t>
            </a:r>
            <a:endParaRPr lang="en-US" sz="1700" dirty="0"/>
          </a:p>
        </p:txBody>
      </p:sp>
      <p:sp>
        <p:nvSpPr>
          <p:cNvPr id="14" name="Text 11"/>
          <p:cNvSpPr txBox="1"/>
          <p:nvPr/>
        </p:nvSpPr>
        <p:spPr>
          <a:xfrm>
            <a:off x="4572000" y="2063750"/>
            <a:ext cx="3048000" cy="2794000"/>
          </a:xfrm>
          <a:prstGeom prst="rect">
            <a:avLst/>
          </a:prstGeom>
          <a:noFill/>
          <a:ln/>
        </p:spPr>
        <p:txBody>
          <a:bodyPr wrap="square" lIns="0" tIns="0" rIns="0" bIns="0" rtlCol="0" anchor="t"/>
          <a:lstStyle/>
          <a:p>
            <a:pPr indent="0" marL="0">
              <a:buNone/>
            </a:pPr>
            <a:r>
              <a:rPr lang="en-US" sz="1000" b="1" spc="100" kern="0" dirty="0">
                <a:solidFill>
                  <a:srgbClr val="0A7A5C"/>
                </a:solidFill>
                <a:latin typeface="Calibri" pitchFamily="34" charset="0"/>
                <a:ea typeface="Calibri" pitchFamily="34" charset="-122"/>
                <a:cs typeface="Calibri" pitchFamily="34" charset="-120"/>
              </a:rPr>
              <a:t>PIXELS</a:t>
            </a:r>
            <a:endParaRPr lang="en-US" sz="1000" dirty="0"/>
          </a:p>
          <a:p>
            <a:pPr indent="0" marL="0">
              <a:buNone/>
            </a:pPr>
            <a:r>
              <a:rPr lang="en-US" sz="1300" dirty="0">
                <a:solidFill>
                  <a:srgbClr val="16302A"/>
                </a:solidFill>
                <a:latin typeface="Calibri" pitchFamily="34" charset="0"/>
                <a:ea typeface="Calibri" pitchFamily="34" charset="-122"/>
                <a:cs typeface="Calibri" pitchFamily="34" charset="-120"/>
              </a:rPr>
              <a:t>The player’s box is tracked through the shot.</a:t>
            </a:r>
            <a:endParaRPr lang="en-US" sz="1000" dirty="0"/>
          </a:p>
          <a:p>
            <a:pPr indent="0" marL="0">
              <a:spcBef>
                <a:spcPts val="700"/>
              </a:spcBef>
              <a:buNone/>
            </a:pPr>
            <a:r>
              <a:rPr lang="en-US" sz="1000" b="1" spc="100" kern="0" dirty="0">
                <a:solidFill>
                  <a:srgbClr val="0A7A5C"/>
                </a:solidFill>
                <a:latin typeface="Calibri" pitchFamily="34" charset="0"/>
                <a:ea typeface="Calibri" pitchFamily="34" charset="-122"/>
                <a:cs typeface="Calibri" pitchFamily="34" charset="-120"/>
              </a:rPr>
              <a:t>METRES</a:t>
            </a:r>
            <a:endParaRPr lang="en-US" sz="1000" dirty="0"/>
          </a:p>
          <a:p>
            <a:pPr indent="0" marL="0">
              <a:buNone/>
            </a:pPr>
            <a:r>
              <a:rPr lang="en-US" sz="1300" dirty="0">
                <a:solidFill>
                  <a:srgbClr val="16302A"/>
                </a:solidFill>
                <a:latin typeface="Calibri" pitchFamily="34" charset="0"/>
                <a:ea typeface="Calibri" pitchFamily="34" charset="-122"/>
                <a:cs typeface="Calibri" pitchFamily="34" charset="-120"/>
              </a:rPr>
              <a:t>The foot point becomes (x, y) on the pitch, smoothed over 1 s.</a:t>
            </a:r>
            <a:endParaRPr lang="en-US" sz="1000" dirty="0"/>
          </a:p>
          <a:p>
            <a:pPr indent="0" marL="0">
              <a:spcBef>
                <a:spcPts val="700"/>
              </a:spcBef>
              <a:buNone/>
            </a:pPr>
            <a:r>
              <a:rPr lang="en-US" sz="1000" b="1" spc="100" kern="0" dirty="0">
                <a:solidFill>
                  <a:srgbClr val="0A7A5C"/>
                </a:solidFill>
                <a:latin typeface="Calibri" pitchFamily="34" charset="0"/>
                <a:ea typeface="Calibri" pitchFamily="34" charset="-122"/>
                <a:cs typeface="Calibri" pitchFamily="34" charset="-120"/>
              </a:rPr>
              <a:t>RULE</a:t>
            </a:r>
            <a:endParaRPr lang="en-US" sz="1000" dirty="0"/>
          </a:p>
          <a:p>
            <a:pPr indent="0" marL="0">
              <a:buNone/>
            </a:pPr>
            <a:r>
              <a:rPr lang="en-US" sz="1300" dirty="0">
                <a:solidFill>
                  <a:srgbClr val="16302A"/>
                </a:solidFill>
                <a:latin typeface="Calibri" pitchFamily="34" charset="0"/>
                <a:ea typeface="Calibri" pitchFamily="34" charset="-122"/>
                <a:cs typeface="Calibri" pitchFamily="34" charset="-120"/>
              </a:rPr>
              <a:t>Positions are measured in 0.4 s steps; steps above 11 m/s are discarded as errors.</a:t>
            </a:r>
            <a:endParaRPr lang="en-US" sz="1000" dirty="0"/>
          </a:p>
          <a:p>
            <a:pPr indent="0" marL="0">
              <a:spcBef>
                <a:spcPts val="700"/>
              </a:spcBef>
              <a:buNone/>
            </a:pPr>
            <a:r>
              <a:rPr lang="en-US" sz="1000" b="1" spc="100" kern="0" dirty="0">
                <a:solidFill>
                  <a:srgbClr val="0A7A5C"/>
                </a:solidFill>
                <a:latin typeface="Calibri" pitchFamily="34" charset="0"/>
                <a:ea typeface="Calibri" pitchFamily="34" charset="-122"/>
                <a:cs typeface="Calibri" pitchFamily="34" charset="-120"/>
              </a:rPr>
              <a:t>SUM</a:t>
            </a:r>
            <a:endParaRPr lang="en-US" sz="1000" dirty="0"/>
          </a:p>
          <a:p>
            <a:pPr indent="0" marL="0">
              <a:buNone/>
            </a:pPr>
            <a:r>
              <a:rPr lang="en-US" sz="1300" dirty="0">
                <a:solidFill>
                  <a:srgbClr val="16302A"/>
                </a:solidFill>
                <a:latin typeface="Calibri" pitchFamily="34" charset="0"/>
                <a:ea typeface="Calibri" pitchFamily="34" charset="-122"/>
                <a:cs typeface="Calibri" pitchFamily="34" charset="-120"/>
              </a:rPr>
              <a:t>Distance adds the steps; top speed is the 98th percentile step; a sprint is ≥ 1 s above 25.2 km/h.</a:t>
            </a:r>
            <a:endParaRPr lang="en-US" sz="1000" dirty="0"/>
          </a:p>
        </p:txBody>
      </p:sp>
      <p:sp>
        <p:nvSpPr>
          <p:cNvPr id="15" name="Shape 12"/>
          <p:cNvSpPr/>
          <p:nvPr/>
        </p:nvSpPr>
        <p:spPr>
          <a:xfrm>
            <a:off x="4572000" y="5016500"/>
            <a:ext cx="3048000" cy="762000"/>
          </a:xfrm>
          <a:prstGeom prst="roundRect">
            <a:avLst>
              <a:gd name="adj" fmla="val 9600"/>
            </a:avLst>
          </a:prstGeom>
          <a:solidFill>
            <a:srgbClr val="0F241D"/>
          </a:solidFill>
          <a:ln w="12700">
            <a:solidFill>
              <a:srgbClr val="0F241D"/>
            </a:solidFill>
            <a:prstDash val="solid"/>
          </a:ln>
        </p:spPr>
      </p:sp>
      <p:sp>
        <p:nvSpPr>
          <p:cNvPr id="16" name="Text 13"/>
          <p:cNvSpPr txBox="1"/>
          <p:nvPr/>
        </p:nvSpPr>
        <p:spPr>
          <a:xfrm>
            <a:off x="4699000" y="5016500"/>
            <a:ext cx="2794000" cy="762000"/>
          </a:xfrm>
          <a:prstGeom prst="rect">
            <a:avLst/>
          </a:prstGeom>
          <a:noFill/>
          <a:ln/>
        </p:spPr>
        <p:txBody>
          <a:bodyPr wrap="square" lIns="0" tIns="0" rIns="0" bIns="0" rtlCol="0" anchor="ctr"/>
          <a:lstStyle/>
          <a:p>
            <a:pPr indent="0" marL="0">
              <a:buNone/>
            </a:pPr>
            <a:r>
              <a:rPr lang="en-US" sz="1300" b="1" dirty="0">
                <a:solidFill>
                  <a:srgbClr val="8CE3B6"/>
                </a:solidFill>
                <a:latin typeface="Calibri" pitchFamily="34" charset="0"/>
                <a:ea typeface="Calibri" pitchFamily="34" charset="-122"/>
                <a:cs typeface="Calibri" pitchFamily="34" charset="-120"/>
              </a:rPr>
              <a:t>Distance, speed zones, sprints, 20 × 32 heatmap</a:t>
            </a:r>
            <a:endParaRPr lang="en-US" sz="1300" dirty="0"/>
          </a:p>
        </p:txBody>
      </p:sp>
      <p:sp>
        <p:nvSpPr>
          <p:cNvPr id="17" name="Shape 14"/>
          <p:cNvSpPr/>
          <p:nvPr/>
        </p:nvSpPr>
        <p:spPr>
          <a:xfrm>
            <a:off x="7975600" y="1492250"/>
            <a:ext cx="3403600" cy="4445000"/>
          </a:xfrm>
          <a:prstGeom prst="roundRect">
            <a:avLst>
              <a:gd name="adj" fmla="val 2687"/>
            </a:avLst>
          </a:prstGeom>
          <a:solidFill>
            <a:srgbClr val="FBFCFA"/>
          </a:solidFill>
          <a:ln w="9525">
            <a:solidFill>
              <a:srgbClr val="D5E1DA"/>
            </a:solidFill>
            <a:prstDash val="solid"/>
          </a:ln>
        </p:spPr>
      </p:sp>
      <p:sp>
        <p:nvSpPr>
          <p:cNvPr id="18" name="Text 15"/>
          <p:cNvSpPr txBox="1"/>
          <p:nvPr/>
        </p:nvSpPr>
        <p:spPr>
          <a:xfrm>
            <a:off x="8153400" y="1651000"/>
            <a:ext cx="3048000" cy="317500"/>
          </a:xfrm>
          <a:prstGeom prst="rect">
            <a:avLst/>
          </a:prstGeom>
          <a:noFill/>
          <a:ln/>
        </p:spPr>
        <p:txBody>
          <a:bodyPr wrap="square" lIns="0" tIns="0" rIns="0" bIns="0" rtlCol="0" anchor="t"/>
          <a:lstStyle/>
          <a:p>
            <a:pPr indent="0" marL="0">
              <a:buNone/>
            </a:pPr>
            <a:r>
              <a:rPr lang="en-US" sz="1700" b="1" dirty="0">
                <a:solidFill>
                  <a:srgbClr val="16302A"/>
                </a:solidFill>
                <a:latin typeface="Arial" pitchFamily="34" charset="0"/>
                <a:ea typeface="Arial" pitchFamily="34" charset="-122"/>
                <a:cs typeface="Arial" pitchFamily="34" charset="-120"/>
              </a:rPr>
              <a:t>A shot</a:t>
            </a:r>
            <a:endParaRPr lang="en-US" sz="1700" dirty="0"/>
          </a:p>
        </p:txBody>
      </p:sp>
      <p:sp>
        <p:nvSpPr>
          <p:cNvPr id="19" name="Text 16"/>
          <p:cNvSpPr txBox="1"/>
          <p:nvPr/>
        </p:nvSpPr>
        <p:spPr>
          <a:xfrm>
            <a:off x="8153400" y="2063750"/>
            <a:ext cx="3048000" cy="2794000"/>
          </a:xfrm>
          <a:prstGeom prst="rect">
            <a:avLst/>
          </a:prstGeom>
          <a:noFill/>
          <a:ln/>
        </p:spPr>
        <p:txBody>
          <a:bodyPr wrap="square" lIns="0" tIns="0" rIns="0" bIns="0" rtlCol="0" anchor="t"/>
          <a:lstStyle/>
          <a:p>
            <a:pPr indent="0" marL="0">
              <a:buNone/>
            </a:pPr>
            <a:r>
              <a:rPr lang="en-US" sz="1000" b="1" spc="100" kern="0" dirty="0">
                <a:solidFill>
                  <a:srgbClr val="0A7A5C"/>
                </a:solidFill>
                <a:latin typeface="Calibri" pitchFamily="34" charset="0"/>
                <a:ea typeface="Calibri" pitchFamily="34" charset="-122"/>
                <a:cs typeface="Calibri" pitchFamily="34" charset="-120"/>
              </a:rPr>
              <a:t>PIXELS</a:t>
            </a:r>
            <a:endParaRPr lang="en-US" sz="1000" dirty="0"/>
          </a:p>
          <a:p>
            <a:pPr indent="0" marL="0">
              <a:buNone/>
            </a:pPr>
            <a:r>
              <a:rPr lang="en-US" sz="1300" dirty="0">
                <a:solidFill>
                  <a:srgbClr val="16302A"/>
                </a:solidFill>
                <a:latin typeface="Calibri" pitchFamily="34" charset="0"/>
                <a:ea typeface="Calibri" pitchFamily="34" charset="-122"/>
                <a:cs typeface="Calibri" pitchFamily="34" charset="-120"/>
              </a:rPr>
              <a:t>An 8-second clip of 100 frames goes into the T-DEED video model.</a:t>
            </a:r>
            <a:endParaRPr lang="en-US" sz="1000" dirty="0"/>
          </a:p>
          <a:p>
            <a:pPr indent="0" marL="0">
              <a:spcBef>
                <a:spcPts val="700"/>
              </a:spcBef>
              <a:buNone/>
            </a:pPr>
            <a:r>
              <a:rPr lang="en-US" sz="1000" b="1" spc="100" kern="0" dirty="0">
                <a:solidFill>
                  <a:srgbClr val="0A7A5C"/>
                </a:solidFill>
                <a:latin typeface="Calibri" pitchFamily="34" charset="0"/>
                <a:ea typeface="Calibri" pitchFamily="34" charset="-122"/>
                <a:cs typeface="Calibri" pitchFamily="34" charset="-120"/>
              </a:rPr>
              <a:t>SCORE</a:t>
            </a:r>
            <a:endParaRPr lang="en-US" sz="1000" dirty="0"/>
          </a:p>
          <a:p>
            <a:pPr indent="0" marL="0">
              <a:buNone/>
            </a:pPr>
            <a:r>
              <a:rPr lang="en-US" sz="1300" dirty="0">
                <a:solidFill>
                  <a:srgbClr val="16302A"/>
                </a:solidFill>
                <a:latin typeface="Calibri" pitchFamily="34" charset="0"/>
                <a:ea typeface="Calibri" pitchFamily="34" charset="-122"/>
                <a:cs typeface="Calibri" pitchFamily="34" charset="-120"/>
              </a:rPr>
              <a:t>It outputs a score per frame and class, with the team. A score ≥ 0.575 is a shot.</a:t>
            </a:r>
            <a:endParaRPr lang="en-US" sz="1000" dirty="0"/>
          </a:p>
          <a:p>
            <a:pPr indent="0" marL="0">
              <a:spcBef>
                <a:spcPts val="700"/>
              </a:spcBef>
              <a:buNone/>
            </a:pPr>
            <a:r>
              <a:rPr lang="en-US" sz="1000" b="1" spc="100" kern="0" dirty="0">
                <a:solidFill>
                  <a:srgbClr val="0A7A5C"/>
                </a:solidFill>
                <a:latin typeface="Calibri" pitchFamily="34" charset="0"/>
                <a:ea typeface="Calibri" pitchFamily="34" charset="-122"/>
                <a:cs typeface="Calibri" pitchFamily="34" charset="-120"/>
              </a:rPr>
              <a:t>LINK</a:t>
            </a:r>
            <a:endParaRPr lang="en-US" sz="1000" dirty="0"/>
          </a:p>
          <a:p>
            <a:pPr indent="0" marL="0">
              <a:buNone/>
            </a:pPr>
            <a:r>
              <a:rPr lang="en-US" sz="1300" dirty="0">
                <a:solidFill>
                  <a:srgbClr val="16302A"/>
                </a:solidFill>
                <a:latin typeface="Calibri" pitchFamily="34" charset="0"/>
                <a:ea typeface="Calibri" pitchFamily="34" charset="-122"/>
                <a:cs typeface="Calibri" pitchFamily="34" charset="-120"/>
              </a:rPr>
              <a:t>The shooter is that team’s release within 1.5 s, else the player nearest the ball.</a:t>
            </a:r>
            <a:endParaRPr lang="en-US" sz="1000" dirty="0"/>
          </a:p>
          <a:p>
            <a:pPr indent="0" marL="0">
              <a:spcBef>
                <a:spcPts val="700"/>
              </a:spcBef>
              <a:buNone/>
            </a:pPr>
            <a:r>
              <a:rPr lang="en-US" sz="1000" b="1" spc="100" kern="0" dirty="0">
                <a:solidFill>
                  <a:srgbClr val="0A7A5C"/>
                </a:solidFill>
                <a:latin typeface="Calibri" pitchFamily="34" charset="0"/>
                <a:ea typeface="Calibri" pitchFamily="34" charset="-122"/>
                <a:cs typeface="Calibri" pitchFamily="34" charset="-120"/>
              </a:rPr>
              <a:t>NAME</a:t>
            </a:r>
            <a:endParaRPr lang="en-US" sz="1000" dirty="0"/>
          </a:p>
          <a:p>
            <a:pPr indent="0" marL="0">
              <a:buNone/>
            </a:pPr>
            <a:r>
              <a:rPr lang="en-US" sz="1300" dirty="0">
                <a:solidFill>
                  <a:srgbClr val="16302A"/>
                </a:solidFill>
                <a:latin typeface="Calibri" pitchFamily="34" charset="0"/>
                <a:ea typeface="Calibri" pitchFamily="34" charset="-122"/>
                <a:cs typeface="Calibri" pitchFamily="34" charset="-120"/>
              </a:rPr>
              <a:t>Identity credits the shot to a named player.</a:t>
            </a:r>
            <a:endParaRPr lang="en-US" sz="1000" dirty="0"/>
          </a:p>
        </p:txBody>
      </p:sp>
      <p:sp>
        <p:nvSpPr>
          <p:cNvPr id="20" name="Shape 17"/>
          <p:cNvSpPr/>
          <p:nvPr/>
        </p:nvSpPr>
        <p:spPr>
          <a:xfrm>
            <a:off x="8153400" y="5016500"/>
            <a:ext cx="3048000" cy="762000"/>
          </a:xfrm>
          <a:prstGeom prst="roundRect">
            <a:avLst>
              <a:gd name="adj" fmla="val 9600"/>
            </a:avLst>
          </a:prstGeom>
          <a:solidFill>
            <a:srgbClr val="0F241D"/>
          </a:solidFill>
          <a:ln w="12700">
            <a:solidFill>
              <a:srgbClr val="0F241D"/>
            </a:solidFill>
            <a:prstDash val="solid"/>
          </a:ln>
        </p:spPr>
      </p:sp>
      <p:sp>
        <p:nvSpPr>
          <p:cNvPr id="21" name="Text 18"/>
          <p:cNvSpPr txBox="1"/>
          <p:nvPr/>
        </p:nvSpPr>
        <p:spPr>
          <a:xfrm>
            <a:off x="8280400" y="5016500"/>
            <a:ext cx="2794000" cy="762000"/>
          </a:xfrm>
          <a:prstGeom prst="rect">
            <a:avLst/>
          </a:prstGeom>
          <a:noFill/>
          <a:ln/>
        </p:spPr>
        <p:txBody>
          <a:bodyPr wrap="square" lIns="0" tIns="0" rIns="0" bIns="0" rtlCol="0" anchor="ctr"/>
          <a:lstStyle/>
          <a:p>
            <a:pPr indent="0" marL="0">
              <a:buNone/>
            </a:pPr>
            <a:r>
              <a:rPr lang="en-US" sz="1300" b="1" dirty="0">
                <a:solidFill>
                  <a:srgbClr val="8CE3B6"/>
                </a:solidFill>
                <a:latin typeface="Calibri" pitchFamily="34" charset="0"/>
                <a:ea typeface="Calibri" pitchFamily="34" charset="-122"/>
                <a:cs typeface="Calibri" pitchFamily="34" charset="-120"/>
              </a:rPr>
              <a:t>Shots (0.71 precision, 0.70 recall on SoccerNet labels)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6F2"/>
        </a:solidFill>
      </p:bgPr>
    </p:bg>
    <p:spTree>
      <p:nvGrpSpPr>
        <p:cNvPr id="1" name=""/>
        <p:cNvGrpSpPr/>
        <p:nvPr/>
      </p:nvGrpSpPr>
      <p:grpSpPr>
        <a:xfrm>
          <a:off x="0" y="0"/>
          <a:ext cx="0" cy="0"/>
          <a:chOff x="0" y="0"/>
          <a:chExt cx="0" cy="0"/>
        </a:xfrm>
      </p:grpSpPr>
      <p:sp>
        <p:nvSpPr>
          <p:cNvPr id="3" name="Text 0"/>
          <p:cNvSpPr txBox="1"/>
          <p:nvPr/>
        </p:nvSpPr>
        <p:spPr>
          <a:xfrm>
            <a:off x="812800" y="508000"/>
            <a:ext cx="10566400" cy="215900"/>
          </a:xfrm>
          <a:prstGeom prst="rect">
            <a:avLst/>
          </a:prstGeom>
          <a:noFill/>
          <a:ln/>
        </p:spPr>
        <p:txBody>
          <a:bodyPr wrap="square" lIns="0" tIns="0" rIns="0" bIns="0" rtlCol="0" anchor="t"/>
          <a:lstStyle/>
          <a:p>
            <a:pPr indent="0" marL="0">
              <a:buNone/>
            </a:pPr>
            <a:r>
              <a:rPr lang="en-US" sz="1200" b="1" spc="200" kern="0" dirty="0">
                <a:solidFill>
                  <a:srgbClr val="0A7A5C"/>
                </a:solidFill>
                <a:latin typeface="Calibri" pitchFamily="34" charset="0"/>
                <a:ea typeface="Calibri" pitchFamily="34" charset="-122"/>
                <a:cs typeface="Calibri" pitchFamily="34" charset="-120"/>
              </a:rPr>
              <a:t>THE MODELS BEHIND IT</a:t>
            </a:r>
            <a:endParaRPr lang="en-US" sz="1200" dirty="0"/>
          </a:p>
        </p:txBody>
      </p:sp>
      <p:sp>
        <p:nvSpPr>
          <p:cNvPr id="4" name="Text 1"/>
          <p:cNvSpPr txBox="1"/>
          <p:nvPr/>
        </p:nvSpPr>
        <p:spPr>
          <a:xfrm>
            <a:off x="812800" y="762000"/>
            <a:ext cx="10566400" cy="571500"/>
          </a:xfrm>
          <a:prstGeom prst="rect">
            <a:avLst/>
          </a:prstGeom>
          <a:noFill/>
          <a:ln/>
        </p:spPr>
        <p:txBody>
          <a:bodyPr wrap="square" lIns="0" tIns="0" rIns="0" bIns="0" rtlCol="0" anchor="ctr"/>
          <a:lstStyle/>
          <a:p>
            <a:pPr indent="0" marL="0">
              <a:buNone/>
            </a:pPr>
            <a:r>
              <a:rPr lang="en-US" sz="3000" b="1" dirty="0">
                <a:solidFill>
                  <a:srgbClr val="16302A"/>
                </a:solidFill>
                <a:latin typeface="Arial" pitchFamily="34" charset="0"/>
                <a:ea typeface="Arial" pitchFamily="34" charset="-122"/>
                <a:cs typeface="Arial" pitchFamily="34" charset="-120"/>
              </a:rPr>
              <a:t>Four kinds of component, and why</a:t>
            </a:r>
            <a:endParaRPr lang="en-US" sz="3000" dirty="0"/>
          </a:p>
        </p:txBody>
      </p:sp>
      <p:sp>
        <p:nvSpPr>
          <p:cNvPr id="5" name="Text 2"/>
          <p:cNvSpPr txBox="1"/>
          <p:nvPr/>
        </p:nvSpPr>
        <p:spPr>
          <a:xfrm>
            <a:off x="812800" y="6254750"/>
            <a:ext cx="5715000" cy="190500"/>
          </a:xfrm>
          <a:prstGeom prst="rect">
            <a:avLst/>
          </a:prstGeom>
          <a:noFill/>
          <a:ln/>
        </p:spPr>
        <p:txBody>
          <a:bodyPr wrap="square" lIns="0" tIns="0" rIns="0" bIns="0" rtlCol="0" anchor="t"/>
          <a:lstStyle/>
          <a:p>
            <a:pPr indent="0" marL="0">
              <a:buNone/>
            </a:pPr>
            <a:r>
              <a:rPr lang="en-US" sz="1200" dirty="0">
                <a:solidFill>
                  <a:srgbClr val="4F6660"/>
                </a:solidFill>
                <a:latin typeface="Calibri" pitchFamily="34" charset="0"/>
                <a:ea typeface="Calibri" pitchFamily="34" charset="-122"/>
                <a:cs typeface="Calibri" pitchFamily="34" charset="-120"/>
              </a:rPr>
              <a:t>PitchProfile · AAI3001</a:t>
            </a:r>
            <a:endParaRPr lang="en-US" sz="1200" dirty="0"/>
          </a:p>
        </p:txBody>
      </p:sp>
      <p:sp>
        <p:nvSpPr>
          <p:cNvPr id="6" name="Text 3"/>
          <p:cNvSpPr txBox="1"/>
          <p:nvPr/>
        </p:nvSpPr>
        <p:spPr>
          <a:xfrm>
            <a:off x="10109200" y="6254750"/>
            <a:ext cx="1270000" cy="190500"/>
          </a:xfrm>
          <a:prstGeom prst="rect">
            <a:avLst/>
          </a:prstGeom>
          <a:noFill/>
          <a:ln/>
        </p:spPr>
        <p:txBody>
          <a:bodyPr wrap="square" lIns="0" tIns="0" rIns="0" bIns="0" rtlCol="0" anchor="t"/>
          <a:lstStyle/>
          <a:p>
            <a:pPr algn="r" indent="0" marL="0">
              <a:buNone/>
            </a:pPr>
            <a:r>
              <a:rPr lang="en-US" sz="1200" dirty="0">
                <a:solidFill>
                  <a:srgbClr val="4F6660"/>
                </a:solidFill>
                <a:latin typeface="Calibri" pitchFamily="34" charset="0"/>
                <a:ea typeface="Calibri" pitchFamily="34" charset="-122"/>
                <a:cs typeface="Calibri" pitchFamily="34" charset="-120"/>
              </a:rPr>
              <a:t>7</a:t>
            </a:r>
            <a:endParaRPr lang="en-US" sz="1200" dirty="0"/>
          </a:p>
        </p:txBody>
      </p:sp>
      <p:sp>
        <p:nvSpPr>
          <p:cNvPr id="7" name="Shape 4"/>
          <p:cNvSpPr/>
          <p:nvPr/>
        </p:nvSpPr>
        <p:spPr>
          <a:xfrm>
            <a:off x="812800" y="1492250"/>
            <a:ext cx="2565400" cy="4064000"/>
          </a:xfrm>
          <a:prstGeom prst="roundRect">
            <a:avLst>
              <a:gd name="adj" fmla="val 3564"/>
            </a:avLst>
          </a:prstGeom>
          <a:solidFill>
            <a:srgbClr val="FBFCFA"/>
          </a:solidFill>
          <a:ln w="9525">
            <a:solidFill>
              <a:srgbClr val="D5E1DA"/>
            </a:solidFill>
            <a:prstDash val="solid"/>
          </a:ln>
        </p:spPr>
      </p:sp>
      <p:sp>
        <p:nvSpPr>
          <p:cNvPr id="8" name="Shape 5"/>
          <p:cNvSpPr/>
          <p:nvPr/>
        </p:nvSpPr>
        <p:spPr>
          <a:xfrm>
            <a:off x="965200" y="1568450"/>
            <a:ext cx="2260600" cy="50800"/>
          </a:xfrm>
          <a:prstGeom prst="roundRect">
            <a:avLst>
              <a:gd name="adj" fmla="val 54000"/>
            </a:avLst>
          </a:prstGeom>
          <a:solidFill>
            <a:srgbClr val="1D4F9F"/>
          </a:solidFill>
          <a:ln w="12700">
            <a:solidFill>
              <a:srgbClr val="1D4F9F"/>
            </a:solidFill>
            <a:prstDash val="solid"/>
          </a:ln>
        </p:spPr>
      </p:sp>
      <p:sp>
        <p:nvSpPr>
          <p:cNvPr id="9" name="Text 6"/>
          <p:cNvSpPr txBox="1"/>
          <p:nvPr/>
        </p:nvSpPr>
        <p:spPr>
          <a:xfrm>
            <a:off x="965200" y="1746250"/>
            <a:ext cx="2260600" cy="279400"/>
          </a:xfrm>
          <a:prstGeom prst="rect">
            <a:avLst/>
          </a:prstGeom>
          <a:noFill/>
          <a:ln/>
        </p:spPr>
        <p:txBody>
          <a:bodyPr wrap="square" lIns="0" tIns="0" rIns="0" bIns="0" rtlCol="0" anchor="t"/>
          <a:lstStyle/>
          <a:p>
            <a:pPr indent="0" marL="0">
              <a:buNone/>
            </a:pPr>
            <a:r>
              <a:rPr lang="en-US" sz="1600" b="1" dirty="0">
                <a:solidFill>
                  <a:srgbClr val="1D4F9F"/>
                </a:solidFill>
                <a:latin typeface="Arial" pitchFamily="34" charset="0"/>
                <a:ea typeface="Arial" pitchFamily="34" charset="-122"/>
                <a:cs typeface="Arial" pitchFamily="34" charset="-120"/>
              </a:rPr>
              <a:t>Pretrained</a:t>
            </a:r>
            <a:endParaRPr lang="en-US" sz="1600" dirty="0"/>
          </a:p>
        </p:txBody>
      </p:sp>
      <p:sp>
        <p:nvSpPr>
          <p:cNvPr id="10" name="Text 7"/>
          <p:cNvSpPr txBox="1"/>
          <p:nvPr/>
        </p:nvSpPr>
        <p:spPr>
          <a:xfrm>
            <a:off x="965200" y="2063750"/>
            <a:ext cx="2260600" cy="381000"/>
          </a:xfrm>
          <a:prstGeom prst="rect">
            <a:avLst/>
          </a:prstGeom>
          <a:noFill/>
          <a:ln/>
        </p:spPr>
        <p:txBody>
          <a:bodyPr wrap="square" lIns="0" tIns="0" rIns="0" bIns="0" rtlCol="0" anchor="t"/>
          <a:lstStyle/>
          <a:p>
            <a:pPr indent="0" marL="0">
              <a:buNone/>
            </a:pPr>
            <a:r>
              <a:rPr lang="en-US" sz="1100" dirty="0">
                <a:solidFill>
                  <a:srgbClr val="4F6660"/>
                </a:solidFill>
                <a:latin typeface="Calibri" pitchFamily="34" charset="0"/>
                <a:ea typeface="Calibri" pitchFamily="34" charset="-122"/>
                <a:cs typeface="Calibri" pitchFamily="34" charset="-120"/>
              </a:rPr>
              <a:t>Strong public models, used as released.</a:t>
            </a:r>
            <a:endParaRPr lang="en-US" sz="1100" dirty="0"/>
          </a:p>
        </p:txBody>
      </p:sp>
      <p:sp>
        <p:nvSpPr>
          <p:cNvPr id="11" name="Text 8"/>
          <p:cNvSpPr txBox="1"/>
          <p:nvPr/>
        </p:nvSpPr>
        <p:spPr>
          <a:xfrm>
            <a:off x="965200" y="2508250"/>
            <a:ext cx="2260600" cy="2921000"/>
          </a:xfrm>
          <a:prstGeom prst="rect">
            <a:avLst/>
          </a:prstGeom>
          <a:noFill/>
          <a:ln/>
        </p:spPr>
        <p:txBody>
          <a:bodyPr wrap="square" lIns="0" tIns="0" rIns="0" bIns="0" rtlCol="0" anchor="t"/>
          <a:lstStyle/>
          <a:p>
            <a:pPr indent="0" marL="0">
              <a:buNone/>
            </a:pPr>
            <a:r>
              <a:rPr lang="en-US" sz="1300" b="1" dirty="0">
                <a:solidFill>
                  <a:srgbClr val="16302A"/>
                </a:solidFill>
                <a:latin typeface="Calibri" pitchFamily="34" charset="0"/>
                <a:ea typeface="Calibri" pitchFamily="34" charset="-122"/>
                <a:cs typeface="Calibri" pitchFamily="34" charset="-120"/>
              </a:rPr>
              <a:t>YOLOv8x football detector</a:t>
            </a:r>
            <a:endParaRPr lang="en-US" sz="1300" dirty="0"/>
          </a:p>
          <a:p>
            <a:pPr indent="0" marL="0">
              <a:buNone/>
            </a:pPr>
            <a:r>
              <a:rPr lang="en-US" sz="1100" dirty="0">
                <a:solidFill>
                  <a:srgbClr val="4F6660"/>
                </a:solidFill>
                <a:latin typeface="Calibri" pitchFamily="34" charset="0"/>
                <a:ea typeface="Calibri" pitchFamily="34" charset="-122"/>
                <a:cs typeface="Calibri" pitchFamily="34" charset="-120"/>
              </a:rPr>
              <a:t>Finds players, keepers, referees and ball</a:t>
            </a:r>
            <a:endParaRPr lang="en-US" sz="1300" dirty="0"/>
          </a:p>
          <a:p>
            <a:pPr indent="0" marL="0">
              <a:spcBef>
                <a:spcPts val="1000"/>
              </a:spcBef>
              <a:buNone/>
            </a:pPr>
            <a:r>
              <a:rPr lang="en-US" sz="1300" b="1" dirty="0">
                <a:solidFill>
                  <a:srgbClr val="16302A"/>
                </a:solidFill>
                <a:latin typeface="Calibri" pitchFamily="34" charset="0"/>
                <a:ea typeface="Calibri" pitchFamily="34" charset="-122"/>
                <a:cs typeface="Calibri" pitchFamily="34" charset="-120"/>
              </a:rPr>
              <a:t>YOLOv8x ball detector</a:t>
            </a:r>
            <a:endParaRPr lang="en-US" sz="1300" dirty="0"/>
          </a:p>
          <a:p>
            <a:pPr indent="0" marL="0">
              <a:buNone/>
            </a:pPr>
            <a:r>
              <a:rPr lang="en-US" sz="1100" dirty="0">
                <a:solidFill>
                  <a:srgbClr val="4F6660"/>
                </a:solidFill>
                <a:latin typeface="Calibri" pitchFamily="34" charset="0"/>
                <a:ea typeface="Calibri" pitchFamily="34" charset="-122"/>
                <a:cs typeface="Calibri" pitchFamily="34" charset="-120"/>
              </a:rPr>
              <a:t>Backup when the first finds no ball</a:t>
            </a:r>
            <a:endParaRPr lang="en-US" sz="1300" dirty="0"/>
          </a:p>
          <a:p>
            <a:pPr indent="0" marL="0">
              <a:spcBef>
                <a:spcPts val="1000"/>
              </a:spcBef>
              <a:buNone/>
            </a:pPr>
            <a:r>
              <a:rPr lang="en-US" sz="1300" b="1" dirty="0">
                <a:solidFill>
                  <a:srgbClr val="16302A"/>
                </a:solidFill>
                <a:latin typeface="Calibri" pitchFamily="34" charset="0"/>
                <a:ea typeface="Calibri" pitchFamily="34" charset="-122"/>
                <a:cs typeface="Calibri" pitchFamily="34" charset="-120"/>
              </a:rPr>
              <a:t>HRNetV2-W48, 57 keypoints</a:t>
            </a:r>
            <a:endParaRPr lang="en-US" sz="1300" dirty="0"/>
          </a:p>
          <a:p>
            <a:pPr indent="0" marL="0">
              <a:buNone/>
            </a:pPr>
            <a:r>
              <a:rPr lang="en-US" sz="1100" dirty="0">
                <a:solidFill>
                  <a:srgbClr val="4F6660"/>
                </a:solidFill>
                <a:latin typeface="Calibri" pitchFamily="34" charset="0"/>
                <a:ea typeface="Calibri" pitchFamily="34" charset="-122"/>
                <a:cs typeface="Calibri" pitchFamily="34" charset="-120"/>
              </a:rPr>
              <a:t>Pitch landmarks for pixels to metres</a:t>
            </a:r>
            <a:endParaRPr lang="en-US" sz="1300" dirty="0"/>
          </a:p>
          <a:p>
            <a:pPr indent="0" marL="0">
              <a:spcBef>
                <a:spcPts val="1000"/>
              </a:spcBef>
              <a:buNone/>
            </a:pPr>
            <a:r>
              <a:rPr lang="en-US" sz="1300" b="1" dirty="0">
                <a:solidFill>
                  <a:srgbClr val="16302A"/>
                </a:solidFill>
                <a:latin typeface="Calibri" pitchFamily="34" charset="0"/>
                <a:ea typeface="Calibri" pitchFamily="34" charset="-122"/>
                <a:cs typeface="Calibri" pitchFamily="34" charset="-120"/>
              </a:rPr>
              <a:t>ResNet-34 legibility</a:t>
            </a:r>
            <a:endParaRPr lang="en-US" sz="1300" dirty="0"/>
          </a:p>
          <a:p>
            <a:pPr indent="0" marL="0">
              <a:buNone/>
            </a:pPr>
            <a:r>
              <a:rPr lang="en-US" sz="1100" dirty="0">
                <a:solidFill>
                  <a:srgbClr val="4F6660"/>
                </a:solidFill>
                <a:latin typeface="Calibri" pitchFamily="34" charset="0"/>
                <a:ea typeface="Calibri" pitchFamily="34" charset="-122"/>
                <a:cs typeface="Calibri" pitchFamily="34" charset="-120"/>
              </a:rPr>
              <a:t>Is the shirt number readable?</a:t>
            </a:r>
            <a:endParaRPr lang="en-US" sz="1300" dirty="0"/>
          </a:p>
          <a:p>
            <a:pPr indent="0" marL="0">
              <a:spcBef>
                <a:spcPts val="1000"/>
              </a:spcBef>
              <a:buNone/>
            </a:pPr>
            <a:r>
              <a:rPr lang="en-US" sz="1300" b="1" dirty="0">
                <a:solidFill>
                  <a:srgbClr val="16302A"/>
                </a:solidFill>
                <a:latin typeface="Calibri" pitchFamily="34" charset="0"/>
                <a:ea typeface="Calibri" pitchFamily="34" charset="-122"/>
                <a:cs typeface="Calibri" pitchFamily="34" charset="-120"/>
              </a:rPr>
              <a:t>PARSeq</a:t>
            </a:r>
            <a:endParaRPr lang="en-US" sz="1300" dirty="0"/>
          </a:p>
          <a:p>
            <a:pPr indent="0" marL="0">
              <a:buNone/>
            </a:pPr>
            <a:r>
              <a:rPr lang="en-US" sz="1100" dirty="0">
                <a:solidFill>
                  <a:srgbClr val="4F6660"/>
                </a:solidFill>
                <a:latin typeface="Calibri" pitchFamily="34" charset="0"/>
                <a:ea typeface="Calibri" pitchFamily="34" charset="-122"/>
                <a:cs typeface="Calibri" pitchFamily="34" charset="-120"/>
              </a:rPr>
              <a:t>Reads the digits of readable numbers</a:t>
            </a:r>
            <a:endParaRPr lang="en-US" sz="1300" dirty="0"/>
          </a:p>
        </p:txBody>
      </p:sp>
      <p:sp>
        <p:nvSpPr>
          <p:cNvPr id="12" name="Shape 9"/>
          <p:cNvSpPr/>
          <p:nvPr/>
        </p:nvSpPr>
        <p:spPr>
          <a:xfrm>
            <a:off x="3505200" y="1492250"/>
            <a:ext cx="2565400" cy="4064000"/>
          </a:xfrm>
          <a:prstGeom prst="roundRect">
            <a:avLst>
              <a:gd name="adj" fmla="val 3564"/>
            </a:avLst>
          </a:prstGeom>
          <a:solidFill>
            <a:srgbClr val="FBFCFA"/>
          </a:solidFill>
          <a:ln w="9525">
            <a:solidFill>
              <a:srgbClr val="D5E1DA"/>
            </a:solidFill>
            <a:prstDash val="solid"/>
          </a:ln>
        </p:spPr>
      </p:sp>
      <p:sp>
        <p:nvSpPr>
          <p:cNvPr id="13" name="Shape 10"/>
          <p:cNvSpPr/>
          <p:nvPr/>
        </p:nvSpPr>
        <p:spPr>
          <a:xfrm>
            <a:off x="3657600" y="1568450"/>
            <a:ext cx="2260600" cy="50800"/>
          </a:xfrm>
          <a:prstGeom prst="roundRect">
            <a:avLst>
              <a:gd name="adj" fmla="val 54000"/>
            </a:avLst>
          </a:prstGeom>
          <a:solidFill>
            <a:srgbClr val="07573F"/>
          </a:solidFill>
          <a:ln w="12700">
            <a:solidFill>
              <a:srgbClr val="07573F"/>
            </a:solidFill>
            <a:prstDash val="solid"/>
          </a:ln>
        </p:spPr>
      </p:sp>
      <p:sp>
        <p:nvSpPr>
          <p:cNvPr id="14" name="Text 11"/>
          <p:cNvSpPr txBox="1"/>
          <p:nvPr/>
        </p:nvSpPr>
        <p:spPr>
          <a:xfrm>
            <a:off x="3657600" y="1746250"/>
            <a:ext cx="2260600" cy="279400"/>
          </a:xfrm>
          <a:prstGeom prst="rect">
            <a:avLst/>
          </a:prstGeom>
          <a:noFill/>
          <a:ln/>
        </p:spPr>
        <p:txBody>
          <a:bodyPr wrap="square" lIns="0" tIns="0" rIns="0" bIns="0" rtlCol="0" anchor="t"/>
          <a:lstStyle/>
          <a:p>
            <a:pPr indent="0" marL="0">
              <a:buNone/>
            </a:pPr>
            <a:r>
              <a:rPr lang="en-US" sz="1600" b="1" dirty="0">
                <a:solidFill>
                  <a:srgbClr val="07573F"/>
                </a:solidFill>
                <a:latin typeface="Arial" pitchFamily="34" charset="0"/>
                <a:ea typeface="Arial" pitchFamily="34" charset="-122"/>
                <a:cs typeface="Arial" pitchFamily="34" charset="-120"/>
              </a:rPr>
              <a:t>Fine-tuned here</a:t>
            </a:r>
            <a:endParaRPr lang="en-US" sz="1600" dirty="0"/>
          </a:p>
        </p:txBody>
      </p:sp>
      <p:sp>
        <p:nvSpPr>
          <p:cNvPr id="15" name="Text 12"/>
          <p:cNvSpPr txBox="1"/>
          <p:nvPr/>
        </p:nvSpPr>
        <p:spPr>
          <a:xfrm>
            <a:off x="3657600" y="2063750"/>
            <a:ext cx="2260600" cy="381000"/>
          </a:xfrm>
          <a:prstGeom prst="rect">
            <a:avLst/>
          </a:prstGeom>
          <a:noFill/>
          <a:ln/>
        </p:spPr>
        <p:txBody>
          <a:bodyPr wrap="square" lIns="0" tIns="0" rIns="0" bIns="0" rtlCol="0" anchor="t"/>
          <a:lstStyle/>
          <a:p>
            <a:pPr indent="0" marL="0">
              <a:buNone/>
            </a:pPr>
            <a:r>
              <a:rPr lang="en-US" sz="1100" dirty="0">
                <a:solidFill>
                  <a:srgbClr val="4F6660"/>
                </a:solidFill>
                <a:latin typeface="Calibri" pitchFamily="34" charset="0"/>
                <a:ea typeface="Calibri" pitchFamily="34" charset="-122"/>
                <a:cs typeface="Calibri" pitchFamily="34" charset="-120"/>
              </a:rPr>
              <a:t>Published starting points, retrained on football video.</a:t>
            </a:r>
            <a:endParaRPr lang="en-US" sz="1100" dirty="0"/>
          </a:p>
        </p:txBody>
      </p:sp>
      <p:sp>
        <p:nvSpPr>
          <p:cNvPr id="16" name="Text 13"/>
          <p:cNvSpPr txBox="1"/>
          <p:nvPr/>
        </p:nvSpPr>
        <p:spPr>
          <a:xfrm>
            <a:off x="3657600" y="2508250"/>
            <a:ext cx="2260600" cy="2921000"/>
          </a:xfrm>
          <a:prstGeom prst="rect">
            <a:avLst/>
          </a:prstGeom>
          <a:noFill/>
          <a:ln/>
        </p:spPr>
        <p:txBody>
          <a:bodyPr wrap="square" lIns="0" tIns="0" rIns="0" bIns="0" rtlCol="0" anchor="t"/>
          <a:lstStyle/>
          <a:p>
            <a:pPr indent="0" marL="0">
              <a:buNone/>
            </a:pPr>
            <a:r>
              <a:rPr lang="en-US" sz="1300" b="1" dirty="0">
                <a:solidFill>
                  <a:srgbClr val="16302A"/>
                </a:solidFill>
                <a:latin typeface="Calibri" pitchFamily="34" charset="0"/>
                <a:ea typeface="Calibri" pitchFamily="34" charset="-122"/>
                <a:cs typeface="Calibri" pitchFamily="34" charset="-120"/>
              </a:rPr>
              <a:t>T-DEED action spotter</a:t>
            </a:r>
            <a:endParaRPr lang="en-US" sz="1300" dirty="0"/>
          </a:p>
          <a:p>
            <a:pPr indent="0" marL="0">
              <a:buNone/>
            </a:pPr>
            <a:r>
              <a:rPr lang="en-US" sz="1100" dirty="0">
                <a:solidFill>
                  <a:srgbClr val="4F6660"/>
                </a:solidFill>
                <a:latin typeface="Calibri" pitchFamily="34" charset="0"/>
                <a:ea typeface="Calibri" pitchFamily="34" charset="-122"/>
                <a:cs typeface="Calibri" pitchFamily="34" charset="-120"/>
              </a:rPr>
              <a:t>Shots, tackles, blocks, headers. mAP 0.48 → 0.60</a:t>
            </a:r>
            <a:endParaRPr lang="en-US" sz="1300" dirty="0"/>
          </a:p>
          <a:p>
            <a:pPr indent="0" marL="0">
              <a:spcBef>
                <a:spcPts val="1000"/>
              </a:spcBef>
              <a:buNone/>
            </a:pPr>
            <a:r>
              <a:rPr lang="en-US" sz="1300" b="1" dirty="0">
                <a:solidFill>
                  <a:srgbClr val="16302A"/>
                </a:solidFill>
                <a:latin typeface="Calibri" pitchFamily="34" charset="0"/>
                <a:ea typeface="Calibri" pitchFamily="34" charset="-122"/>
                <a:cs typeface="Calibri" pitchFamily="34" charset="-120"/>
              </a:rPr>
              <a:t>CLIP ViT-B/16 identity model</a:t>
            </a:r>
            <a:endParaRPr lang="en-US" sz="1300" dirty="0"/>
          </a:p>
          <a:p>
            <a:pPr indent="0" marL="0">
              <a:buNone/>
            </a:pPr>
            <a:r>
              <a:rPr lang="en-US" sz="1100" dirty="0">
                <a:solidFill>
                  <a:srgbClr val="4F6660"/>
                </a:solidFill>
                <a:latin typeface="Calibri" pitchFamily="34" charset="0"/>
                <a:ea typeface="Calibri" pitchFamily="34" charset="-122"/>
                <a:cs typeface="Calibri" pitchFamily="34" charset="-120"/>
              </a:rPr>
              <a:t>Digits, appearance, goalkeeper. 6.0M thumbnails</a:t>
            </a:r>
            <a:endParaRPr lang="en-US" sz="1300" dirty="0"/>
          </a:p>
        </p:txBody>
      </p:sp>
      <p:sp>
        <p:nvSpPr>
          <p:cNvPr id="17" name="Shape 14"/>
          <p:cNvSpPr/>
          <p:nvPr/>
        </p:nvSpPr>
        <p:spPr>
          <a:xfrm>
            <a:off x="6197600" y="1492250"/>
            <a:ext cx="2565400" cy="4064000"/>
          </a:xfrm>
          <a:prstGeom prst="roundRect">
            <a:avLst>
              <a:gd name="adj" fmla="val 3564"/>
            </a:avLst>
          </a:prstGeom>
          <a:solidFill>
            <a:srgbClr val="FBFCFA"/>
          </a:solidFill>
          <a:ln w="9525">
            <a:solidFill>
              <a:srgbClr val="D5E1DA"/>
            </a:solidFill>
            <a:prstDash val="solid"/>
          </a:ln>
        </p:spPr>
      </p:sp>
      <p:sp>
        <p:nvSpPr>
          <p:cNvPr id="18" name="Shape 15"/>
          <p:cNvSpPr/>
          <p:nvPr/>
        </p:nvSpPr>
        <p:spPr>
          <a:xfrm>
            <a:off x="6350000" y="1568450"/>
            <a:ext cx="2260600" cy="50800"/>
          </a:xfrm>
          <a:prstGeom prst="roundRect">
            <a:avLst>
              <a:gd name="adj" fmla="val 54000"/>
            </a:avLst>
          </a:prstGeom>
          <a:solidFill>
            <a:srgbClr val="07573F"/>
          </a:solidFill>
          <a:ln w="12700">
            <a:solidFill>
              <a:srgbClr val="07573F"/>
            </a:solidFill>
            <a:prstDash val="solid"/>
          </a:ln>
        </p:spPr>
      </p:sp>
      <p:sp>
        <p:nvSpPr>
          <p:cNvPr id="19" name="Text 16"/>
          <p:cNvSpPr txBox="1"/>
          <p:nvPr/>
        </p:nvSpPr>
        <p:spPr>
          <a:xfrm>
            <a:off x="6350000" y="1746250"/>
            <a:ext cx="2260600" cy="279400"/>
          </a:xfrm>
          <a:prstGeom prst="rect">
            <a:avLst/>
          </a:prstGeom>
          <a:noFill/>
          <a:ln/>
        </p:spPr>
        <p:txBody>
          <a:bodyPr wrap="square" lIns="0" tIns="0" rIns="0" bIns="0" rtlCol="0" anchor="t"/>
          <a:lstStyle/>
          <a:p>
            <a:pPr indent="0" marL="0">
              <a:buNone/>
            </a:pPr>
            <a:r>
              <a:rPr lang="en-US" sz="1600" b="1" dirty="0">
                <a:solidFill>
                  <a:srgbClr val="07573F"/>
                </a:solidFill>
                <a:latin typeface="Arial" pitchFamily="34" charset="0"/>
                <a:ea typeface="Arial" pitchFamily="34" charset="-122"/>
                <a:cs typeface="Arial" pitchFamily="34" charset="-120"/>
              </a:rPr>
              <a:t>Trained here</a:t>
            </a:r>
            <a:endParaRPr lang="en-US" sz="1600" dirty="0"/>
          </a:p>
        </p:txBody>
      </p:sp>
      <p:sp>
        <p:nvSpPr>
          <p:cNvPr id="20" name="Text 17"/>
          <p:cNvSpPr txBox="1"/>
          <p:nvPr/>
        </p:nvSpPr>
        <p:spPr>
          <a:xfrm>
            <a:off x="6350000" y="2063750"/>
            <a:ext cx="2260600" cy="381000"/>
          </a:xfrm>
          <a:prstGeom prst="rect">
            <a:avLst/>
          </a:prstGeom>
          <a:noFill/>
          <a:ln/>
        </p:spPr>
        <p:txBody>
          <a:bodyPr wrap="square" lIns="0" tIns="0" rIns="0" bIns="0" rtlCol="0" anchor="t"/>
          <a:lstStyle/>
          <a:p>
            <a:pPr indent="0" marL="0">
              <a:buNone/>
            </a:pPr>
            <a:r>
              <a:rPr lang="en-US" sz="1100" dirty="0">
                <a:solidFill>
                  <a:srgbClr val="4F6660"/>
                </a:solidFill>
                <a:latin typeface="Calibri" pitchFamily="34" charset="0"/>
                <a:ea typeface="Calibri" pitchFamily="34" charset="-122"/>
                <a:cs typeface="Calibri" pitchFamily="34" charset="-120"/>
              </a:rPr>
              <a:t>Small models built from this project’s own output.</a:t>
            </a:r>
            <a:endParaRPr lang="en-US" sz="1100" dirty="0"/>
          </a:p>
        </p:txBody>
      </p:sp>
      <p:sp>
        <p:nvSpPr>
          <p:cNvPr id="21" name="Text 18"/>
          <p:cNvSpPr txBox="1"/>
          <p:nvPr/>
        </p:nvSpPr>
        <p:spPr>
          <a:xfrm>
            <a:off x="6350000" y="2508250"/>
            <a:ext cx="2260600" cy="2921000"/>
          </a:xfrm>
          <a:prstGeom prst="rect">
            <a:avLst/>
          </a:prstGeom>
          <a:noFill/>
          <a:ln/>
        </p:spPr>
        <p:txBody>
          <a:bodyPr wrap="square" lIns="0" tIns="0" rIns="0" bIns="0" rtlCol="0" anchor="t"/>
          <a:lstStyle/>
          <a:p>
            <a:pPr indent="0" marL="0">
              <a:buNone/>
            </a:pPr>
            <a:r>
              <a:rPr lang="en-US" sz="1300" b="1" dirty="0">
                <a:solidFill>
                  <a:srgbClr val="16302A"/>
                </a:solidFill>
                <a:latin typeface="Calibri" pitchFamily="34" charset="0"/>
                <a:ea typeface="Calibri" pitchFamily="34" charset="-122"/>
                <a:cs typeface="Calibri" pitchFamily="34" charset="-120"/>
              </a:rPr>
              <a:t>Shot classifier</a:t>
            </a:r>
            <a:endParaRPr lang="en-US" sz="1300" dirty="0"/>
          </a:p>
          <a:p>
            <a:pPr indent="0" marL="0">
              <a:buNone/>
            </a:pPr>
            <a:r>
              <a:rPr lang="en-US" sz="1100" dirty="0">
                <a:solidFill>
                  <a:srgbClr val="4F6660"/>
                </a:solidFill>
                <a:latin typeface="Calibri" pitchFamily="34" charset="0"/>
                <a:ea typeface="Calibri" pitchFamily="34" charset="-122"/>
                <a:cs typeface="Calibri" pitchFamily="34" charset="-120"/>
              </a:rPr>
              <a:t>Gradient-boosted trees, 26 features; the fallback</a:t>
            </a:r>
            <a:endParaRPr lang="en-US" sz="1300" dirty="0"/>
          </a:p>
          <a:p>
            <a:pPr indent="0" marL="0">
              <a:spcBef>
                <a:spcPts val="1000"/>
              </a:spcBef>
              <a:buNone/>
            </a:pPr>
            <a:r>
              <a:rPr lang="en-US" sz="1300" b="1" dirty="0">
                <a:solidFill>
                  <a:srgbClr val="16302A"/>
                </a:solidFill>
                <a:latin typeface="Calibri" pitchFamily="34" charset="0"/>
                <a:ea typeface="Calibri" pitchFamily="34" charset="-122"/>
                <a:cs typeface="Calibri" pitchFamily="34" charset="-120"/>
              </a:rPr>
              <a:t>Re-ID head</a:t>
            </a:r>
            <a:endParaRPr lang="en-US" sz="1300" dirty="0"/>
          </a:p>
          <a:p>
            <a:pPr indent="0" marL="0">
              <a:buNone/>
            </a:pPr>
            <a:r>
              <a:rPr lang="en-US" sz="1100" dirty="0">
                <a:solidFill>
                  <a:srgbClr val="4F6660"/>
                </a:solidFill>
                <a:latin typeface="Calibri" pitchFamily="34" charset="0"/>
                <a:ea typeface="Calibri" pitchFamily="34" charset="-122"/>
                <a:cs typeface="Calibri" pitchFamily="34" charset="-120"/>
              </a:rPr>
              <a:t>Links unnumbered segments to numbered players</a:t>
            </a:r>
            <a:endParaRPr lang="en-US" sz="1300" dirty="0"/>
          </a:p>
          <a:p>
            <a:pPr indent="0" marL="0">
              <a:spcBef>
                <a:spcPts val="1000"/>
              </a:spcBef>
              <a:buNone/>
            </a:pPr>
            <a:r>
              <a:rPr lang="en-US" sz="1300" b="1" dirty="0">
                <a:solidFill>
                  <a:srgbClr val="16302A"/>
                </a:solidFill>
                <a:latin typeface="Calibri" pitchFamily="34" charset="0"/>
                <a:ea typeface="Calibri" pitchFamily="34" charset="-122"/>
                <a:cs typeface="Calibri" pitchFamily="34" charset="-120"/>
              </a:rPr>
              <a:t>Archetype profiler</a:t>
            </a:r>
            <a:endParaRPr lang="en-US" sz="1300" dirty="0"/>
          </a:p>
          <a:p>
            <a:pPr indent="0" marL="0">
              <a:buNone/>
            </a:pPr>
            <a:r>
              <a:rPr lang="en-US" sz="1100" dirty="0">
                <a:solidFill>
                  <a:srgbClr val="4F6660"/>
                </a:solidFill>
                <a:latin typeface="Calibri" pitchFamily="34" charset="0"/>
                <a:ea typeface="Calibri" pitchFamily="34" charset="-122"/>
                <a:cs typeface="Calibri" pitchFamily="34" charset="-120"/>
              </a:rPr>
              <a:t>Label spreading over a k-NN graph; awaiting labels</a:t>
            </a:r>
            <a:endParaRPr lang="en-US" sz="1300" dirty="0"/>
          </a:p>
        </p:txBody>
      </p:sp>
      <p:sp>
        <p:nvSpPr>
          <p:cNvPr id="22" name="Shape 19"/>
          <p:cNvSpPr/>
          <p:nvPr/>
        </p:nvSpPr>
        <p:spPr>
          <a:xfrm>
            <a:off x="8890000" y="1492250"/>
            <a:ext cx="2565400" cy="4064000"/>
          </a:xfrm>
          <a:prstGeom prst="roundRect">
            <a:avLst>
              <a:gd name="adj" fmla="val 3564"/>
            </a:avLst>
          </a:prstGeom>
          <a:solidFill>
            <a:srgbClr val="FBFCFA"/>
          </a:solidFill>
          <a:ln w="9525">
            <a:solidFill>
              <a:srgbClr val="D5E1DA"/>
            </a:solidFill>
            <a:prstDash val="solid"/>
          </a:ln>
        </p:spPr>
      </p:sp>
      <p:sp>
        <p:nvSpPr>
          <p:cNvPr id="23" name="Shape 20"/>
          <p:cNvSpPr/>
          <p:nvPr/>
        </p:nvSpPr>
        <p:spPr>
          <a:xfrm>
            <a:off x="9042400" y="1568450"/>
            <a:ext cx="2260600" cy="50800"/>
          </a:xfrm>
          <a:prstGeom prst="roundRect">
            <a:avLst>
              <a:gd name="adj" fmla="val 54000"/>
            </a:avLst>
          </a:prstGeom>
          <a:solidFill>
            <a:srgbClr val="4F6660"/>
          </a:solidFill>
          <a:ln w="12700">
            <a:solidFill>
              <a:srgbClr val="4F6660"/>
            </a:solidFill>
            <a:prstDash val="solid"/>
          </a:ln>
        </p:spPr>
      </p:sp>
      <p:sp>
        <p:nvSpPr>
          <p:cNvPr id="24" name="Text 21"/>
          <p:cNvSpPr txBox="1"/>
          <p:nvPr/>
        </p:nvSpPr>
        <p:spPr>
          <a:xfrm>
            <a:off x="9042400" y="1746250"/>
            <a:ext cx="2260600" cy="279400"/>
          </a:xfrm>
          <a:prstGeom prst="rect">
            <a:avLst/>
          </a:prstGeom>
          <a:noFill/>
          <a:ln/>
        </p:spPr>
        <p:txBody>
          <a:bodyPr wrap="square" lIns="0" tIns="0" rIns="0" bIns="0" rtlCol="0" anchor="t"/>
          <a:lstStyle/>
          <a:p>
            <a:pPr indent="0" marL="0">
              <a:buNone/>
            </a:pPr>
            <a:r>
              <a:rPr lang="en-US" sz="1600" b="1" dirty="0">
                <a:solidFill>
                  <a:srgbClr val="4F6660"/>
                </a:solidFill>
                <a:latin typeface="Arial" pitchFamily="34" charset="0"/>
                <a:ea typeface="Arial" pitchFamily="34" charset="-122"/>
                <a:cs typeface="Arial" pitchFamily="34" charset="-120"/>
              </a:rPr>
              <a:t>Not learned</a:t>
            </a:r>
            <a:endParaRPr lang="en-US" sz="1600" dirty="0"/>
          </a:p>
        </p:txBody>
      </p:sp>
      <p:sp>
        <p:nvSpPr>
          <p:cNvPr id="25" name="Text 22"/>
          <p:cNvSpPr txBox="1"/>
          <p:nvPr/>
        </p:nvSpPr>
        <p:spPr>
          <a:xfrm>
            <a:off x="9042400" y="2063750"/>
            <a:ext cx="2260600" cy="381000"/>
          </a:xfrm>
          <a:prstGeom prst="rect">
            <a:avLst/>
          </a:prstGeom>
          <a:noFill/>
          <a:ln/>
        </p:spPr>
        <p:txBody>
          <a:bodyPr wrap="square" lIns="0" tIns="0" rIns="0" bIns="0" rtlCol="0" anchor="t"/>
          <a:lstStyle/>
          <a:p>
            <a:pPr indent="0" marL="0">
              <a:buNone/>
            </a:pPr>
            <a:r>
              <a:rPr lang="en-US" sz="1100" dirty="0">
                <a:solidFill>
                  <a:srgbClr val="4F6660"/>
                </a:solidFill>
                <a:latin typeface="Calibri" pitchFamily="34" charset="0"/>
                <a:ea typeface="Calibri" pitchFamily="34" charset="-122"/>
                <a:cs typeface="Calibri" pitchFamily="34" charset="-120"/>
              </a:rPr>
              <a:t>Classical methods and rules, so every step is explainable.</a:t>
            </a:r>
            <a:endParaRPr lang="en-US" sz="1100" dirty="0"/>
          </a:p>
        </p:txBody>
      </p:sp>
      <p:sp>
        <p:nvSpPr>
          <p:cNvPr id="26" name="Text 23"/>
          <p:cNvSpPr txBox="1"/>
          <p:nvPr/>
        </p:nvSpPr>
        <p:spPr>
          <a:xfrm>
            <a:off x="9042400" y="2508250"/>
            <a:ext cx="2260600" cy="2921000"/>
          </a:xfrm>
          <a:prstGeom prst="rect">
            <a:avLst/>
          </a:prstGeom>
          <a:noFill/>
          <a:ln/>
        </p:spPr>
        <p:txBody>
          <a:bodyPr wrap="square" lIns="0" tIns="0" rIns="0" bIns="0" rtlCol="0" anchor="t"/>
          <a:lstStyle/>
          <a:p>
            <a:pPr indent="0" marL="0">
              <a:buNone/>
            </a:pPr>
            <a:r>
              <a:rPr lang="en-US" sz="1300" b="1" dirty="0">
                <a:solidFill>
                  <a:srgbClr val="16302A"/>
                </a:solidFill>
                <a:latin typeface="Calibri" pitchFamily="34" charset="0"/>
                <a:ea typeface="Calibri" pitchFamily="34" charset="-122"/>
                <a:cs typeface="Calibri" pitchFamily="34" charset="-120"/>
              </a:rPr>
              <a:t>BoT-SORT tracker</a:t>
            </a:r>
            <a:endParaRPr lang="en-US" sz="1300" dirty="0"/>
          </a:p>
          <a:p>
            <a:pPr indent="0" marL="0">
              <a:buNone/>
            </a:pPr>
            <a:r>
              <a:rPr lang="en-US" sz="1100" dirty="0">
                <a:solidFill>
                  <a:srgbClr val="4F6660"/>
                </a:solidFill>
                <a:latin typeface="Calibri" pitchFamily="34" charset="0"/>
                <a:ea typeface="Calibri" pitchFamily="34" charset="-122"/>
                <a:cs typeface="Calibri" pitchFamily="34" charset="-120"/>
              </a:rPr>
              <a:t>Motion + optical-flow camera compensation</a:t>
            </a:r>
            <a:endParaRPr lang="en-US" sz="1300" dirty="0"/>
          </a:p>
          <a:p>
            <a:pPr indent="0" marL="0">
              <a:spcBef>
                <a:spcPts val="1000"/>
              </a:spcBef>
              <a:buNone/>
            </a:pPr>
            <a:r>
              <a:rPr lang="en-US" sz="1300" b="1" dirty="0">
                <a:solidFill>
                  <a:srgbClr val="16302A"/>
                </a:solidFill>
                <a:latin typeface="Calibri" pitchFamily="34" charset="0"/>
                <a:ea typeface="Calibri" pitchFamily="34" charset="-122"/>
                <a:cs typeface="Calibri" pitchFamily="34" charset="-120"/>
              </a:rPr>
              <a:t>K-means, shortest path</a:t>
            </a:r>
            <a:endParaRPr lang="en-US" sz="1300" dirty="0"/>
          </a:p>
          <a:p>
            <a:pPr indent="0" marL="0">
              <a:buNone/>
            </a:pPr>
            <a:r>
              <a:rPr lang="en-US" sz="1100" dirty="0">
                <a:solidFill>
                  <a:srgbClr val="4F6660"/>
                </a:solidFill>
                <a:latin typeface="Calibri" pitchFamily="34" charset="0"/>
                <a:ea typeface="Calibri" pitchFamily="34" charset="-122"/>
                <a:cs typeface="Calibri" pitchFamily="34" charset="-120"/>
              </a:rPr>
              <a:t>Teams by kit colour; one ball path</a:t>
            </a:r>
            <a:endParaRPr lang="en-US" sz="1300" dirty="0"/>
          </a:p>
          <a:p>
            <a:pPr indent="0" marL="0">
              <a:spcBef>
                <a:spcPts val="1000"/>
              </a:spcBef>
              <a:buNone/>
            </a:pPr>
            <a:r>
              <a:rPr lang="en-US" sz="1300" b="1" dirty="0">
                <a:solidFill>
                  <a:srgbClr val="16302A"/>
                </a:solidFill>
                <a:latin typeface="Calibri" pitchFamily="34" charset="0"/>
                <a:ea typeface="Calibri" pitchFamily="34" charset="-122"/>
                <a:cs typeface="Calibri" pitchFamily="34" charset="-120"/>
              </a:rPr>
              <a:t>Event and movement rules</a:t>
            </a:r>
            <a:endParaRPr lang="en-US" sz="1300" dirty="0"/>
          </a:p>
          <a:p>
            <a:pPr indent="0" marL="0">
              <a:buNone/>
            </a:pPr>
            <a:r>
              <a:rPr lang="en-US" sz="1100" dirty="0">
                <a:solidFill>
                  <a:srgbClr val="4F6660"/>
                </a:solidFill>
                <a:latin typeface="Calibri" pitchFamily="34" charset="0"/>
                <a:ea typeface="Calibri" pitchFamily="34" charset="-122"/>
                <a:cs typeface="Calibri" pitchFamily="34" charset="-120"/>
              </a:rPr>
              <a:t>Passes, carries, runs, pressures</a:t>
            </a:r>
            <a:endParaRPr lang="en-US" sz="1300" dirty="0"/>
          </a:p>
        </p:txBody>
      </p:sp>
      <p:sp>
        <p:nvSpPr>
          <p:cNvPr id="27" name="Text 24"/>
          <p:cNvSpPr txBox="1"/>
          <p:nvPr/>
        </p:nvSpPr>
        <p:spPr>
          <a:xfrm>
            <a:off x="812800" y="5746750"/>
            <a:ext cx="10566400" cy="228600"/>
          </a:xfrm>
          <a:prstGeom prst="rect">
            <a:avLst/>
          </a:prstGeom>
          <a:noFill/>
          <a:ln/>
        </p:spPr>
        <p:txBody>
          <a:bodyPr wrap="square" lIns="0" tIns="0" rIns="0" bIns="0" rtlCol="0" anchor="t"/>
          <a:lstStyle/>
          <a:p>
            <a:pPr indent="0" marL="0">
              <a:buNone/>
            </a:pPr>
            <a:r>
              <a:rPr lang="en-US" sz="1200" dirty="0">
                <a:solidFill>
                  <a:srgbClr val="4F6660"/>
                </a:solidFill>
                <a:latin typeface="Calibri" pitchFamily="34" charset="0"/>
                <a:ea typeface="Calibri" pitchFamily="34" charset="-122"/>
                <a:cs typeface="Calibri" pitchFamily="34" charset="-120"/>
              </a:rPr>
              <a:t>Everything runs locally on one NVIDIA GPU. No cloud AI service or language model is used.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6EFEA"/>
        </a:solidFill>
      </p:bgPr>
    </p:bg>
    <p:spTree>
      <p:nvGrpSpPr>
        <p:cNvPr id="1" name=""/>
        <p:cNvGrpSpPr/>
        <p:nvPr/>
      </p:nvGrpSpPr>
      <p:grpSpPr>
        <a:xfrm>
          <a:off x="0" y="0"/>
          <a:ext cx="0" cy="0"/>
          <a:chOff x="0" y="0"/>
          <a:chExt cx="0" cy="0"/>
        </a:xfrm>
      </p:grpSpPr>
      <p:sp>
        <p:nvSpPr>
          <p:cNvPr id="3" name="Text 0"/>
          <p:cNvSpPr txBox="1"/>
          <p:nvPr/>
        </p:nvSpPr>
        <p:spPr>
          <a:xfrm>
            <a:off x="812800" y="508000"/>
            <a:ext cx="10566400" cy="215900"/>
          </a:xfrm>
          <a:prstGeom prst="rect">
            <a:avLst/>
          </a:prstGeom>
          <a:noFill/>
          <a:ln/>
        </p:spPr>
        <p:txBody>
          <a:bodyPr wrap="square" lIns="0" tIns="0" rIns="0" bIns="0" rtlCol="0" anchor="t"/>
          <a:lstStyle/>
          <a:p>
            <a:pPr indent="0" marL="0">
              <a:buNone/>
            </a:pPr>
            <a:r>
              <a:rPr lang="en-US" sz="1200" b="1" spc="200" kern="0" dirty="0">
                <a:solidFill>
                  <a:srgbClr val="0A7A5C"/>
                </a:solidFill>
                <a:latin typeface="Calibri" pitchFamily="34" charset="0"/>
                <a:ea typeface="Calibri" pitchFamily="34" charset="-122"/>
                <a:cs typeface="Calibri" pitchFamily="34" charset="-120"/>
              </a:rPr>
              <a:t>MODEL DEEP DIVE 1 OF 3</a:t>
            </a:r>
            <a:endParaRPr lang="en-US" sz="1200" dirty="0"/>
          </a:p>
        </p:txBody>
      </p:sp>
      <p:sp>
        <p:nvSpPr>
          <p:cNvPr id="4" name="Text 1"/>
          <p:cNvSpPr txBox="1"/>
          <p:nvPr/>
        </p:nvSpPr>
        <p:spPr>
          <a:xfrm>
            <a:off x="812800" y="762000"/>
            <a:ext cx="10566400" cy="571500"/>
          </a:xfrm>
          <a:prstGeom prst="rect">
            <a:avLst/>
          </a:prstGeom>
          <a:noFill/>
          <a:ln/>
        </p:spPr>
        <p:txBody>
          <a:bodyPr wrap="square" lIns="0" tIns="0" rIns="0" bIns="0" rtlCol="0" anchor="ctr"/>
          <a:lstStyle/>
          <a:p>
            <a:pPr indent="0" marL="0">
              <a:buNone/>
            </a:pPr>
            <a:r>
              <a:rPr lang="en-US" sz="3000" b="1" dirty="0">
                <a:solidFill>
                  <a:srgbClr val="16302A"/>
                </a:solidFill>
                <a:latin typeface="Arial" pitchFamily="34" charset="0"/>
                <a:ea typeface="Arial" pitchFamily="34" charset="-122"/>
                <a:cs typeface="Arial" pitchFamily="34" charset="-120"/>
              </a:rPr>
              <a:t>Seeing: detect, track, calibrate</a:t>
            </a:r>
            <a:endParaRPr lang="en-US" sz="3000" dirty="0"/>
          </a:p>
        </p:txBody>
      </p:sp>
      <p:sp>
        <p:nvSpPr>
          <p:cNvPr id="5" name="Text 2"/>
          <p:cNvSpPr txBox="1"/>
          <p:nvPr/>
        </p:nvSpPr>
        <p:spPr>
          <a:xfrm>
            <a:off x="812800" y="6254750"/>
            <a:ext cx="5715000" cy="190500"/>
          </a:xfrm>
          <a:prstGeom prst="rect">
            <a:avLst/>
          </a:prstGeom>
          <a:noFill/>
          <a:ln/>
        </p:spPr>
        <p:txBody>
          <a:bodyPr wrap="square" lIns="0" tIns="0" rIns="0" bIns="0" rtlCol="0" anchor="t"/>
          <a:lstStyle/>
          <a:p>
            <a:pPr indent="0" marL="0">
              <a:buNone/>
            </a:pPr>
            <a:r>
              <a:rPr lang="en-US" sz="1200" dirty="0">
                <a:solidFill>
                  <a:srgbClr val="4F6660"/>
                </a:solidFill>
                <a:latin typeface="Calibri" pitchFamily="34" charset="0"/>
                <a:ea typeface="Calibri" pitchFamily="34" charset="-122"/>
                <a:cs typeface="Calibri" pitchFamily="34" charset="-120"/>
              </a:rPr>
              <a:t>PitchProfile · AAI3001</a:t>
            </a:r>
            <a:endParaRPr lang="en-US" sz="1200" dirty="0"/>
          </a:p>
        </p:txBody>
      </p:sp>
      <p:sp>
        <p:nvSpPr>
          <p:cNvPr id="6" name="Text 3"/>
          <p:cNvSpPr txBox="1"/>
          <p:nvPr/>
        </p:nvSpPr>
        <p:spPr>
          <a:xfrm>
            <a:off x="10109200" y="6254750"/>
            <a:ext cx="1270000" cy="190500"/>
          </a:xfrm>
          <a:prstGeom prst="rect">
            <a:avLst/>
          </a:prstGeom>
          <a:noFill/>
          <a:ln/>
        </p:spPr>
        <p:txBody>
          <a:bodyPr wrap="square" lIns="0" tIns="0" rIns="0" bIns="0" rtlCol="0" anchor="t"/>
          <a:lstStyle/>
          <a:p>
            <a:pPr algn="r" indent="0" marL="0">
              <a:buNone/>
            </a:pPr>
            <a:r>
              <a:rPr lang="en-US" sz="1200" dirty="0">
                <a:solidFill>
                  <a:srgbClr val="4F6660"/>
                </a:solidFill>
                <a:latin typeface="Calibri" pitchFamily="34" charset="0"/>
                <a:ea typeface="Calibri" pitchFamily="34" charset="-122"/>
                <a:cs typeface="Calibri" pitchFamily="34" charset="-120"/>
              </a:rPr>
              <a:t>8</a:t>
            </a:r>
            <a:endParaRPr lang="en-US" sz="1200" dirty="0"/>
          </a:p>
        </p:txBody>
      </p:sp>
      <p:sp>
        <p:nvSpPr>
          <p:cNvPr id="7" name="Shape 4"/>
          <p:cNvSpPr/>
          <p:nvPr/>
        </p:nvSpPr>
        <p:spPr>
          <a:xfrm>
            <a:off x="812800" y="1492250"/>
            <a:ext cx="3403600" cy="4445000"/>
          </a:xfrm>
          <a:prstGeom prst="roundRect">
            <a:avLst>
              <a:gd name="adj" fmla="val 2687"/>
            </a:avLst>
          </a:prstGeom>
          <a:solidFill>
            <a:srgbClr val="FBFCFA"/>
          </a:solidFill>
          <a:ln w="9525">
            <a:solidFill>
              <a:srgbClr val="D5E1DA"/>
            </a:solidFill>
            <a:prstDash val="solid"/>
          </a:ln>
        </p:spPr>
      </p:sp>
      <p:sp>
        <p:nvSpPr>
          <p:cNvPr id="8" name="Text 5"/>
          <p:cNvSpPr txBox="1"/>
          <p:nvPr/>
        </p:nvSpPr>
        <p:spPr>
          <a:xfrm>
            <a:off x="990600" y="1644650"/>
            <a:ext cx="3048000" cy="317500"/>
          </a:xfrm>
          <a:prstGeom prst="rect">
            <a:avLst/>
          </a:prstGeom>
          <a:noFill/>
          <a:ln/>
        </p:spPr>
        <p:txBody>
          <a:bodyPr wrap="square" lIns="0" tIns="0" rIns="0" bIns="0" rtlCol="0" anchor="t"/>
          <a:lstStyle/>
          <a:p>
            <a:pPr indent="0" marL="0">
              <a:buNone/>
            </a:pPr>
            <a:r>
              <a:rPr lang="en-US" sz="1700" b="1" dirty="0">
                <a:solidFill>
                  <a:srgbClr val="16302A"/>
                </a:solidFill>
                <a:latin typeface="Arial" pitchFamily="34" charset="0"/>
                <a:ea typeface="Arial" pitchFamily="34" charset="-122"/>
                <a:cs typeface="Arial" pitchFamily="34" charset="-120"/>
              </a:rPr>
              <a:t>YOLOv8x detector</a:t>
            </a:r>
            <a:endParaRPr lang="en-US" sz="1700" dirty="0"/>
          </a:p>
        </p:txBody>
      </p:sp>
      <p:sp>
        <p:nvSpPr>
          <p:cNvPr id="9" name="Shape 6"/>
          <p:cNvSpPr/>
          <p:nvPr/>
        </p:nvSpPr>
        <p:spPr>
          <a:xfrm>
            <a:off x="990600" y="2000250"/>
            <a:ext cx="2663825" cy="228600"/>
          </a:xfrm>
          <a:prstGeom prst="roundRect">
            <a:avLst>
              <a:gd name="adj" fmla="val 60000"/>
            </a:avLst>
          </a:prstGeom>
          <a:solidFill>
            <a:srgbClr val="DCE8FA"/>
          </a:solidFill>
          <a:ln w="6350">
            <a:solidFill>
              <a:srgbClr val="DCE8FA"/>
            </a:solidFill>
            <a:prstDash val="solid"/>
          </a:ln>
        </p:spPr>
      </p:sp>
      <p:sp>
        <p:nvSpPr>
          <p:cNvPr id="10" name="Text 7"/>
          <p:cNvSpPr txBox="1"/>
          <p:nvPr/>
        </p:nvSpPr>
        <p:spPr>
          <a:xfrm>
            <a:off x="990600" y="2000250"/>
            <a:ext cx="2663825" cy="228600"/>
          </a:xfrm>
          <a:prstGeom prst="rect">
            <a:avLst/>
          </a:prstGeom>
          <a:noFill/>
          <a:ln/>
        </p:spPr>
        <p:txBody>
          <a:bodyPr wrap="square" lIns="0" tIns="0" rIns="0" bIns="0" rtlCol="0" anchor="ctr"/>
          <a:lstStyle/>
          <a:p>
            <a:pPr algn="ctr" indent="0" marL="0">
              <a:buNone/>
            </a:pPr>
            <a:r>
              <a:rPr lang="en-US" sz="1100" b="1" dirty="0">
                <a:solidFill>
                  <a:srgbClr val="1D4F9F"/>
                </a:solidFill>
                <a:latin typeface="Calibri" pitchFamily="34" charset="0"/>
                <a:ea typeface="Calibri" pitchFamily="34" charset="-122"/>
                <a:cs typeface="Calibri" pitchFamily="34" charset="-120"/>
              </a:rPr>
              <a:t>Pretrained · Roboflow football</a:t>
            </a:r>
            <a:endParaRPr lang="en-US" sz="1100" dirty="0"/>
          </a:p>
        </p:txBody>
      </p:sp>
      <p:sp>
        <p:nvSpPr>
          <p:cNvPr id="11" name="Text 8"/>
          <p:cNvSpPr txBox="1"/>
          <p:nvPr/>
        </p:nvSpPr>
        <p:spPr>
          <a:xfrm>
            <a:off x="990600" y="2381250"/>
            <a:ext cx="3048000" cy="3429000"/>
          </a:xfrm>
          <a:prstGeom prst="rect">
            <a:avLst/>
          </a:prstGeom>
          <a:noFill/>
          <a:ln/>
        </p:spPr>
        <p:txBody>
          <a:bodyPr wrap="square" lIns="0" tIns="0" rIns="0" bIns="0" rtlCol="0" anchor="t"/>
          <a:lstStyle/>
          <a:p>
            <a:pPr indent="0" marL="0">
              <a:buNone/>
            </a:pPr>
            <a:r>
              <a:rPr lang="en-US" sz="1000" b="1" spc="100" kern="0" dirty="0">
                <a:solidFill>
                  <a:srgbClr val="0A7A5C"/>
                </a:solidFill>
                <a:latin typeface="Calibri" pitchFamily="34" charset="0"/>
                <a:ea typeface="Calibri" pitchFamily="34" charset="-122"/>
                <a:cs typeface="Calibri" pitchFamily="34" charset="-120"/>
              </a:rPr>
              <a:t>WHAT IT IS</a:t>
            </a:r>
            <a:endParaRPr lang="en-US" sz="1000" dirty="0"/>
          </a:p>
          <a:p>
            <a:pPr indent="0" marL="0">
              <a:buNone/>
            </a:pPr>
            <a:r>
              <a:rPr lang="en-US" sz="1300" dirty="0">
                <a:solidFill>
                  <a:srgbClr val="16302A"/>
                </a:solidFill>
                <a:latin typeface="Calibri" pitchFamily="34" charset="0"/>
                <a:ea typeface="Calibri" pitchFamily="34" charset="-122"/>
                <a:cs typeface="Calibri" pitchFamily="34" charset="-120"/>
              </a:rPr>
              <a:t>One-stage object detector, run at 1280 px so a distant player or ball stays visible.</a:t>
            </a:r>
            <a:endParaRPr lang="en-US" sz="1000" dirty="0"/>
          </a:p>
          <a:p>
            <a:pPr indent="0" marL="0">
              <a:spcBef>
                <a:spcPts val="700"/>
              </a:spcBef>
              <a:buNone/>
            </a:pPr>
            <a:r>
              <a:rPr lang="en-US" sz="1000" b="1" spc="100" kern="0" dirty="0">
                <a:solidFill>
                  <a:srgbClr val="0A7A5C"/>
                </a:solidFill>
                <a:latin typeface="Calibri" pitchFamily="34" charset="0"/>
                <a:ea typeface="Calibri" pitchFamily="34" charset="-122"/>
                <a:cs typeface="Calibri" pitchFamily="34" charset="-120"/>
              </a:rPr>
              <a:t>IN → OUT</a:t>
            </a:r>
            <a:endParaRPr lang="en-US" sz="1000" dirty="0"/>
          </a:p>
          <a:p>
            <a:pPr indent="0" marL="0">
              <a:buNone/>
            </a:pPr>
            <a:r>
              <a:rPr lang="en-US" sz="1300" dirty="0">
                <a:solidFill>
                  <a:srgbClr val="16302A"/>
                </a:solidFill>
                <a:latin typeface="Calibri" pitchFamily="34" charset="0"/>
                <a:ea typeface="Calibri" pitchFamily="34" charset="-122"/>
                <a:cs typeface="Calibri" pitchFamily="34" charset="-120"/>
              </a:rPr>
              <a:t>A frame in; a box, class (player, goalkeeper, referee, ball) and confidence for each object out.</a:t>
            </a:r>
            <a:endParaRPr lang="en-US" sz="1000" dirty="0"/>
          </a:p>
          <a:p>
            <a:pPr indent="0" marL="0">
              <a:spcBef>
                <a:spcPts val="700"/>
              </a:spcBef>
              <a:buNone/>
            </a:pPr>
            <a:r>
              <a:rPr lang="en-US" sz="1000" b="1" spc="100" kern="0" dirty="0">
                <a:solidFill>
                  <a:srgbClr val="0A7A5C"/>
                </a:solidFill>
                <a:latin typeface="Calibri" pitchFamily="34" charset="0"/>
                <a:ea typeface="Calibri" pitchFamily="34" charset="-122"/>
                <a:cs typeface="Calibri" pitchFamily="34" charset="-120"/>
              </a:rPr>
              <a:t>HOW WE USE IT</a:t>
            </a:r>
            <a:endParaRPr lang="en-US" sz="1000" dirty="0"/>
          </a:p>
          <a:p>
            <a:pPr indent="0" marL="0">
              <a:buNone/>
            </a:pPr>
            <a:r>
              <a:rPr lang="en-US" sz="1300" dirty="0">
                <a:solidFill>
                  <a:srgbClr val="16302A"/>
                </a:solidFill>
                <a:latin typeface="Calibri" pitchFamily="34" charset="0"/>
                <a:ea typeface="Calibri" pitchFamily="34" charset="-122"/>
                <a:cs typeface="Calibri" pitchFamily="34" charset="-120"/>
              </a:rPr>
              <a:t>Every sampled frame. A ball-only YOLOv8x re-runs where no ball was found.</a:t>
            </a:r>
            <a:endParaRPr lang="en-US" sz="1000" dirty="0"/>
          </a:p>
          <a:p>
            <a:pPr indent="0" marL="0">
              <a:spcBef>
                <a:spcPts val="700"/>
              </a:spcBef>
              <a:buNone/>
            </a:pPr>
            <a:r>
              <a:rPr lang="en-US" sz="1000" b="1" spc="100" kern="0" dirty="0">
                <a:solidFill>
                  <a:srgbClr val="0A7A5C"/>
                </a:solidFill>
                <a:latin typeface="Calibri" pitchFamily="34" charset="0"/>
                <a:ea typeface="Calibri" pitchFamily="34" charset="-122"/>
                <a:cs typeface="Calibri" pitchFamily="34" charset="-120"/>
              </a:rPr>
              <a:t>WHY IT MATTERS</a:t>
            </a:r>
            <a:endParaRPr lang="en-US" sz="1000" dirty="0"/>
          </a:p>
          <a:p>
            <a:pPr indent="0" marL="0">
              <a:buNone/>
            </a:pPr>
            <a:r>
              <a:rPr lang="en-US" sz="1300" dirty="0">
                <a:solidFill>
                  <a:srgbClr val="16302A"/>
                </a:solidFill>
                <a:latin typeface="Calibri" pitchFamily="34" charset="0"/>
                <a:ea typeface="Calibri" pitchFamily="34" charset="-122"/>
                <a:cs typeface="Calibri" pitchFamily="34" charset="-120"/>
              </a:rPr>
              <a:t>The only GPU-heavy step. Boxes are saved, so later stages re-run without it.</a:t>
            </a:r>
            <a:endParaRPr lang="en-US" sz="1000" dirty="0"/>
          </a:p>
        </p:txBody>
      </p:sp>
      <p:sp>
        <p:nvSpPr>
          <p:cNvPr id="12" name="Shape 9"/>
          <p:cNvSpPr/>
          <p:nvPr/>
        </p:nvSpPr>
        <p:spPr>
          <a:xfrm>
            <a:off x="4394200" y="1492250"/>
            <a:ext cx="3403600" cy="4445000"/>
          </a:xfrm>
          <a:prstGeom prst="roundRect">
            <a:avLst>
              <a:gd name="adj" fmla="val 2687"/>
            </a:avLst>
          </a:prstGeom>
          <a:solidFill>
            <a:srgbClr val="FBFCFA"/>
          </a:solidFill>
          <a:ln w="9525">
            <a:solidFill>
              <a:srgbClr val="D5E1DA"/>
            </a:solidFill>
            <a:prstDash val="solid"/>
          </a:ln>
        </p:spPr>
      </p:sp>
      <p:sp>
        <p:nvSpPr>
          <p:cNvPr id="13" name="Text 10"/>
          <p:cNvSpPr txBox="1"/>
          <p:nvPr/>
        </p:nvSpPr>
        <p:spPr>
          <a:xfrm>
            <a:off x="4572000" y="1644650"/>
            <a:ext cx="3048000" cy="317500"/>
          </a:xfrm>
          <a:prstGeom prst="rect">
            <a:avLst/>
          </a:prstGeom>
          <a:noFill/>
          <a:ln/>
        </p:spPr>
        <p:txBody>
          <a:bodyPr wrap="square" lIns="0" tIns="0" rIns="0" bIns="0" rtlCol="0" anchor="t"/>
          <a:lstStyle/>
          <a:p>
            <a:pPr indent="0" marL="0">
              <a:buNone/>
            </a:pPr>
            <a:r>
              <a:rPr lang="en-US" sz="1700" b="1" dirty="0">
                <a:solidFill>
                  <a:srgbClr val="16302A"/>
                </a:solidFill>
                <a:latin typeface="Arial" pitchFamily="34" charset="0"/>
                <a:ea typeface="Arial" pitchFamily="34" charset="-122"/>
                <a:cs typeface="Arial" pitchFamily="34" charset="-120"/>
              </a:rPr>
              <a:t>BoT-SORT tracker</a:t>
            </a:r>
            <a:endParaRPr lang="en-US" sz="1700" dirty="0"/>
          </a:p>
        </p:txBody>
      </p:sp>
      <p:sp>
        <p:nvSpPr>
          <p:cNvPr id="14" name="Shape 11"/>
          <p:cNvSpPr/>
          <p:nvPr/>
        </p:nvSpPr>
        <p:spPr>
          <a:xfrm>
            <a:off x="4572000" y="2000250"/>
            <a:ext cx="2181860" cy="228600"/>
          </a:xfrm>
          <a:prstGeom prst="roundRect">
            <a:avLst>
              <a:gd name="adj" fmla="val 60000"/>
            </a:avLst>
          </a:prstGeom>
          <a:solidFill>
            <a:srgbClr val="E4E9E6"/>
          </a:solidFill>
          <a:ln w="6350">
            <a:solidFill>
              <a:srgbClr val="E4E9E6"/>
            </a:solidFill>
            <a:prstDash val="solid"/>
          </a:ln>
        </p:spPr>
      </p:sp>
      <p:sp>
        <p:nvSpPr>
          <p:cNvPr id="15" name="Text 12"/>
          <p:cNvSpPr txBox="1"/>
          <p:nvPr/>
        </p:nvSpPr>
        <p:spPr>
          <a:xfrm>
            <a:off x="4572000" y="2000250"/>
            <a:ext cx="2181860" cy="228600"/>
          </a:xfrm>
          <a:prstGeom prst="rect">
            <a:avLst/>
          </a:prstGeom>
          <a:noFill/>
          <a:ln/>
        </p:spPr>
        <p:txBody>
          <a:bodyPr wrap="square" lIns="0" tIns="0" rIns="0" bIns="0" rtlCol="0" anchor="ctr"/>
          <a:lstStyle/>
          <a:p>
            <a:pPr algn="ctr" indent="0" marL="0">
              <a:buNone/>
            </a:pPr>
            <a:r>
              <a:rPr lang="en-US" sz="1100" b="1" dirty="0">
                <a:solidFill>
                  <a:srgbClr val="4F6660"/>
                </a:solidFill>
                <a:latin typeface="Calibri" pitchFamily="34" charset="0"/>
                <a:ea typeface="Calibri" pitchFamily="34" charset="-122"/>
                <a:cs typeface="Calibri" pitchFamily="34" charset="-120"/>
              </a:rPr>
              <a:t>Not a learned model here</a:t>
            </a:r>
            <a:endParaRPr lang="en-US" sz="1100" dirty="0"/>
          </a:p>
        </p:txBody>
      </p:sp>
      <p:sp>
        <p:nvSpPr>
          <p:cNvPr id="16" name="Text 13"/>
          <p:cNvSpPr txBox="1"/>
          <p:nvPr/>
        </p:nvSpPr>
        <p:spPr>
          <a:xfrm>
            <a:off x="4572000" y="2381250"/>
            <a:ext cx="3048000" cy="3429000"/>
          </a:xfrm>
          <a:prstGeom prst="rect">
            <a:avLst/>
          </a:prstGeom>
          <a:noFill/>
          <a:ln/>
        </p:spPr>
        <p:txBody>
          <a:bodyPr wrap="square" lIns="0" tIns="0" rIns="0" bIns="0" rtlCol="0" anchor="t"/>
          <a:lstStyle/>
          <a:p>
            <a:pPr indent="0" marL="0">
              <a:buNone/>
            </a:pPr>
            <a:r>
              <a:rPr lang="en-US" sz="1000" b="1" spc="100" kern="0" dirty="0">
                <a:solidFill>
                  <a:srgbClr val="0A7A5C"/>
                </a:solidFill>
                <a:latin typeface="Calibri" pitchFamily="34" charset="0"/>
                <a:ea typeface="Calibri" pitchFamily="34" charset="-122"/>
                <a:cs typeface="Calibri" pitchFamily="34" charset="-120"/>
              </a:rPr>
              <a:t>WHAT IT IS</a:t>
            </a:r>
            <a:endParaRPr lang="en-US" sz="1000" dirty="0"/>
          </a:p>
          <a:p>
            <a:pPr indent="0" marL="0">
              <a:buNone/>
            </a:pPr>
            <a:r>
              <a:rPr lang="en-US" sz="1300" dirty="0">
                <a:solidFill>
                  <a:srgbClr val="16302A"/>
                </a:solidFill>
                <a:latin typeface="Calibri" pitchFamily="34" charset="0"/>
                <a:ea typeface="Calibri" pitchFamily="34" charset="-122"/>
                <a:cs typeface="Calibri" pitchFamily="34" charset="-120"/>
              </a:rPr>
              <a:t>Links boxes across frames using predicted motion. Camera motion is compensated by sparse optical flow; appearance matching is off.</a:t>
            </a:r>
            <a:endParaRPr lang="en-US" sz="1000" dirty="0"/>
          </a:p>
          <a:p>
            <a:pPr indent="0" marL="0">
              <a:spcBef>
                <a:spcPts val="700"/>
              </a:spcBef>
              <a:buNone/>
            </a:pPr>
            <a:r>
              <a:rPr lang="en-US" sz="1000" b="1" spc="100" kern="0" dirty="0">
                <a:solidFill>
                  <a:srgbClr val="0A7A5C"/>
                </a:solidFill>
                <a:latin typeface="Calibri" pitchFamily="34" charset="0"/>
                <a:ea typeface="Calibri" pitchFamily="34" charset="-122"/>
                <a:cs typeface="Calibri" pitchFamily="34" charset="-120"/>
              </a:rPr>
              <a:t>CAMERA CUTS</a:t>
            </a:r>
            <a:endParaRPr lang="en-US" sz="1000" dirty="0"/>
          </a:p>
          <a:p>
            <a:pPr indent="0" marL="0">
              <a:buNone/>
            </a:pPr>
            <a:r>
              <a:rPr lang="en-US" sz="1300" dirty="0">
                <a:solidFill>
                  <a:srgbClr val="16302A"/>
                </a:solidFill>
                <a:latin typeface="Calibri" pitchFamily="34" charset="0"/>
                <a:ea typeface="Calibri" pitchFamily="34" charset="-122"/>
                <a:cs typeface="Calibri" pitchFamily="34" charset="-120"/>
              </a:rPr>
              <a:t>A jump in the colour histogram (distance &gt; 0.35) ends all tracks. No identity crosses a cut.</a:t>
            </a:r>
            <a:endParaRPr lang="en-US" sz="1000" dirty="0"/>
          </a:p>
          <a:p>
            <a:pPr indent="0" marL="0">
              <a:spcBef>
                <a:spcPts val="700"/>
              </a:spcBef>
              <a:buNone/>
            </a:pPr>
            <a:r>
              <a:rPr lang="en-US" sz="1000" b="1" spc="100" kern="0" dirty="0">
                <a:solidFill>
                  <a:srgbClr val="0A7A5C"/>
                </a:solidFill>
                <a:latin typeface="Calibri" pitchFamily="34" charset="0"/>
                <a:ea typeface="Calibri" pitchFamily="34" charset="-122"/>
                <a:cs typeface="Calibri" pitchFamily="34" charset="-120"/>
              </a:rPr>
              <a:t>IN → OUT</a:t>
            </a:r>
            <a:endParaRPr lang="en-US" sz="1000" dirty="0"/>
          </a:p>
          <a:p>
            <a:pPr indent="0" marL="0">
              <a:buNone/>
            </a:pPr>
            <a:r>
              <a:rPr lang="en-US" sz="1300" dirty="0">
                <a:solidFill>
                  <a:srgbClr val="16302A"/>
                </a:solidFill>
                <a:latin typeface="Calibri" pitchFamily="34" charset="0"/>
                <a:ea typeface="Calibri" pitchFamily="34" charset="-122"/>
                <a:cs typeface="Calibri" pitchFamily="34" charset="-120"/>
              </a:rPr>
              <a:t>Boxes per frame in; tracklets with persistent IDs out.</a:t>
            </a:r>
            <a:endParaRPr lang="en-US" sz="1000" dirty="0"/>
          </a:p>
          <a:p>
            <a:pPr indent="0" marL="0">
              <a:spcBef>
                <a:spcPts val="700"/>
              </a:spcBef>
              <a:buNone/>
            </a:pPr>
            <a:r>
              <a:rPr lang="en-US" sz="1000" b="1" spc="100" kern="0" dirty="0">
                <a:solidFill>
                  <a:srgbClr val="0A7A5C"/>
                </a:solidFill>
                <a:latin typeface="Calibri" pitchFamily="34" charset="0"/>
                <a:ea typeface="Calibri" pitchFamily="34" charset="-122"/>
                <a:cs typeface="Calibri" pitchFamily="34" charset="-120"/>
              </a:rPr>
              <a:t>WHY IT MATTERS</a:t>
            </a:r>
            <a:endParaRPr lang="en-US" sz="1000" dirty="0"/>
          </a:p>
          <a:p>
            <a:pPr indent="0" marL="0">
              <a:buNone/>
            </a:pPr>
            <a:r>
              <a:rPr lang="en-US" sz="1300" dirty="0">
                <a:solidFill>
                  <a:srgbClr val="16302A"/>
                </a:solidFill>
                <a:latin typeface="Calibri" pitchFamily="34" charset="0"/>
                <a:ea typeface="Calibri" pitchFamily="34" charset="-122"/>
                <a:cs typeface="Calibri" pitchFamily="34" charset="-120"/>
              </a:rPr>
              <a:t>Cuts every ~3.5 s make tracklets short; identity must reconnect them.</a:t>
            </a:r>
            <a:endParaRPr lang="en-US" sz="1000" dirty="0"/>
          </a:p>
        </p:txBody>
      </p:sp>
      <p:sp>
        <p:nvSpPr>
          <p:cNvPr id="17" name="Shape 14"/>
          <p:cNvSpPr/>
          <p:nvPr/>
        </p:nvSpPr>
        <p:spPr>
          <a:xfrm>
            <a:off x="7975600" y="1492250"/>
            <a:ext cx="3403600" cy="4445000"/>
          </a:xfrm>
          <a:prstGeom prst="roundRect">
            <a:avLst>
              <a:gd name="adj" fmla="val 2687"/>
            </a:avLst>
          </a:prstGeom>
          <a:solidFill>
            <a:srgbClr val="FBFCFA"/>
          </a:solidFill>
          <a:ln w="9525">
            <a:solidFill>
              <a:srgbClr val="D5E1DA"/>
            </a:solidFill>
            <a:prstDash val="solid"/>
          </a:ln>
        </p:spPr>
      </p:sp>
      <p:sp>
        <p:nvSpPr>
          <p:cNvPr id="18" name="Text 15"/>
          <p:cNvSpPr txBox="1"/>
          <p:nvPr/>
        </p:nvSpPr>
        <p:spPr>
          <a:xfrm>
            <a:off x="8153400" y="1644650"/>
            <a:ext cx="3048000" cy="317500"/>
          </a:xfrm>
          <a:prstGeom prst="rect">
            <a:avLst/>
          </a:prstGeom>
          <a:noFill/>
          <a:ln/>
        </p:spPr>
        <p:txBody>
          <a:bodyPr wrap="square" lIns="0" tIns="0" rIns="0" bIns="0" rtlCol="0" anchor="t"/>
          <a:lstStyle/>
          <a:p>
            <a:pPr indent="0" marL="0">
              <a:buNone/>
            </a:pPr>
            <a:r>
              <a:rPr lang="en-US" sz="1700" b="1" dirty="0">
                <a:solidFill>
                  <a:srgbClr val="16302A"/>
                </a:solidFill>
                <a:latin typeface="Arial" pitchFamily="34" charset="0"/>
                <a:ea typeface="Arial" pitchFamily="34" charset="-122"/>
                <a:cs typeface="Arial" pitchFamily="34" charset="-120"/>
              </a:rPr>
              <a:t>HRNetV2-W48 pitch model</a:t>
            </a:r>
            <a:endParaRPr lang="en-US" sz="1700" dirty="0"/>
          </a:p>
        </p:txBody>
      </p:sp>
      <p:sp>
        <p:nvSpPr>
          <p:cNvPr id="19" name="Shape 16"/>
          <p:cNvSpPr/>
          <p:nvPr/>
        </p:nvSpPr>
        <p:spPr>
          <a:xfrm>
            <a:off x="8153400" y="2000250"/>
            <a:ext cx="3065463" cy="228600"/>
          </a:xfrm>
          <a:prstGeom prst="roundRect">
            <a:avLst>
              <a:gd name="adj" fmla="val 60000"/>
            </a:avLst>
          </a:prstGeom>
          <a:solidFill>
            <a:srgbClr val="DCE8FA"/>
          </a:solidFill>
          <a:ln w="6350">
            <a:solidFill>
              <a:srgbClr val="DCE8FA"/>
            </a:solidFill>
            <a:prstDash val="solid"/>
          </a:ln>
        </p:spPr>
      </p:sp>
      <p:sp>
        <p:nvSpPr>
          <p:cNvPr id="20" name="Text 17"/>
          <p:cNvSpPr txBox="1"/>
          <p:nvPr/>
        </p:nvSpPr>
        <p:spPr>
          <a:xfrm>
            <a:off x="8153400" y="2000250"/>
            <a:ext cx="3065463" cy="228600"/>
          </a:xfrm>
          <a:prstGeom prst="rect">
            <a:avLst/>
          </a:prstGeom>
          <a:noFill/>
          <a:ln/>
        </p:spPr>
        <p:txBody>
          <a:bodyPr wrap="square" lIns="0" tIns="0" rIns="0" bIns="0" rtlCol="0" anchor="ctr"/>
          <a:lstStyle/>
          <a:p>
            <a:pPr algn="ctr" indent="0" marL="0">
              <a:buNone/>
            </a:pPr>
            <a:r>
              <a:rPr lang="en-US" sz="1100" b="1" dirty="0">
                <a:solidFill>
                  <a:srgbClr val="1D4F9F"/>
                </a:solidFill>
                <a:latin typeface="Calibri" pitchFamily="34" charset="0"/>
                <a:ea typeface="Calibri" pitchFamily="34" charset="-122"/>
                <a:cs typeface="Calibri" pitchFamily="34" charset="-120"/>
              </a:rPr>
              <a:t>Pretrained · No-Bells-Just-Whistles</a:t>
            </a:r>
            <a:endParaRPr lang="en-US" sz="1100" dirty="0"/>
          </a:p>
        </p:txBody>
      </p:sp>
      <p:sp>
        <p:nvSpPr>
          <p:cNvPr id="21" name="Text 18"/>
          <p:cNvSpPr txBox="1"/>
          <p:nvPr/>
        </p:nvSpPr>
        <p:spPr>
          <a:xfrm>
            <a:off x="8153400" y="2381250"/>
            <a:ext cx="3048000" cy="3429000"/>
          </a:xfrm>
          <a:prstGeom prst="rect">
            <a:avLst/>
          </a:prstGeom>
          <a:noFill/>
          <a:ln/>
        </p:spPr>
        <p:txBody>
          <a:bodyPr wrap="square" lIns="0" tIns="0" rIns="0" bIns="0" rtlCol="0" anchor="t"/>
          <a:lstStyle/>
          <a:p>
            <a:pPr indent="0" marL="0">
              <a:buNone/>
            </a:pPr>
            <a:r>
              <a:rPr lang="en-US" sz="1000" b="1" spc="100" kern="0" dirty="0">
                <a:solidFill>
                  <a:srgbClr val="0A7A5C"/>
                </a:solidFill>
                <a:latin typeface="Calibri" pitchFamily="34" charset="0"/>
                <a:ea typeface="Calibri" pitchFamily="34" charset="-122"/>
                <a:cs typeface="Calibri" pitchFamily="34" charset="-120"/>
              </a:rPr>
              <a:t>WHAT IT IS</a:t>
            </a:r>
            <a:endParaRPr lang="en-US" sz="1000" dirty="0"/>
          </a:p>
          <a:p>
            <a:pPr indent="0" marL="0">
              <a:buNone/>
            </a:pPr>
            <a:r>
              <a:rPr lang="en-US" sz="1300" dirty="0">
                <a:solidFill>
                  <a:srgbClr val="16302A"/>
                </a:solidFill>
                <a:latin typeface="Calibri" pitchFamily="34" charset="0"/>
                <a:ea typeface="Calibri" pitchFamily="34" charset="-122"/>
                <a:cs typeface="Calibri" pitchFamily="34" charset="-120"/>
              </a:rPr>
              <a:t>High-resolution network that predicts 57 pitch keypoints (line crossings, circle, boxes), in half precision.</a:t>
            </a:r>
            <a:endParaRPr lang="en-US" sz="1000" dirty="0"/>
          </a:p>
          <a:p>
            <a:pPr indent="0" marL="0">
              <a:spcBef>
                <a:spcPts val="700"/>
              </a:spcBef>
              <a:buNone/>
            </a:pPr>
            <a:r>
              <a:rPr lang="en-US" sz="1000" b="1" spc="100" kern="0" dirty="0">
                <a:solidFill>
                  <a:srgbClr val="0A7A5C"/>
                </a:solidFill>
                <a:latin typeface="Calibri" pitchFamily="34" charset="0"/>
                <a:ea typeface="Calibri" pitchFamily="34" charset="-122"/>
                <a:cs typeface="Calibri" pitchFamily="34" charset="-120"/>
              </a:rPr>
              <a:t>IN → OUT</a:t>
            </a:r>
            <a:endParaRPr lang="en-US" sz="1000" dirty="0"/>
          </a:p>
          <a:p>
            <a:pPr indent="0" marL="0">
              <a:buNone/>
            </a:pPr>
            <a:r>
              <a:rPr lang="en-US" sz="1300" dirty="0">
                <a:solidFill>
                  <a:srgbClr val="16302A"/>
                </a:solidFill>
                <a:latin typeface="Calibri" pitchFamily="34" charset="0"/>
                <a:ea typeface="Calibri" pitchFamily="34" charset="-122"/>
                <a:cs typeface="Calibri" pitchFamily="34" charset="-120"/>
              </a:rPr>
              <a:t>A frame in; keypoints out, fitted by RANSAC to a pixel-to-pitch homography with a white-line check.</a:t>
            </a:r>
            <a:endParaRPr lang="en-US" sz="1000" dirty="0"/>
          </a:p>
          <a:p>
            <a:pPr indent="0" marL="0">
              <a:spcBef>
                <a:spcPts val="700"/>
              </a:spcBef>
              <a:buNone/>
            </a:pPr>
            <a:r>
              <a:rPr lang="en-US" sz="1000" b="1" spc="100" kern="0" dirty="0">
                <a:solidFill>
                  <a:srgbClr val="0A7A5C"/>
                </a:solidFill>
                <a:latin typeface="Calibri" pitchFamily="34" charset="0"/>
                <a:ea typeface="Calibri" pitchFamily="34" charset="-122"/>
                <a:cs typeface="Calibri" pitchFamily="34" charset="-120"/>
              </a:rPr>
              <a:t>HOW WE USE IT</a:t>
            </a:r>
            <a:endParaRPr lang="en-US" sz="1000" dirty="0"/>
          </a:p>
          <a:p>
            <a:pPr indent="0" marL="0">
              <a:buNone/>
            </a:pPr>
            <a:r>
              <a:rPr lang="en-US" sz="1300" dirty="0">
                <a:solidFill>
                  <a:srgbClr val="16302A"/>
                </a:solidFill>
                <a:latin typeface="Calibri" pitchFamily="34" charset="0"/>
                <a:ea typeface="Calibri" pitchFamily="34" charset="-122"/>
                <a:cs typeface="Calibri" pitchFamily="34" charset="-120"/>
              </a:rPr>
              <a:t>Every second sample; outliers dropped, gaps inside a shot interpolated, result smoothed.</a:t>
            </a:r>
            <a:endParaRPr lang="en-US" sz="1000" dirty="0"/>
          </a:p>
          <a:p>
            <a:pPr indent="0" marL="0">
              <a:spcBef>
                <a:spcPts val="700"/>
              </a:spcBef>
              <a:buNone/>
            </a:pPr>
            <a:r>
              <a:rPr lang="en-US" sz="1000" b="1" spc="100" kern="0" dirty="0">
                <a:solidFill>
                  <a:srgbClr val="0A7A5C"/>
                </a:solidFill>
                <a:latin typeface="Calibri" pitchFamily="34" charset="0"/>
                <a:ea typeface="Calibri" pitchFamily="34" charset="-122"/>
                <a:cs typeface="Calibri" pitchFamily="34" charset="-120"/>
              </a:rPr>
              <a:t>WHY IT MATTERS</a:t>
            </a:r>
            <a:endParaRPr lang="en-US" sz="1000" dirty="0"/>
          </a:p>
          <a:p>
            <a:pPr indent="0" marL="0">
              <a:buNone/>
            </a:pPr>
            <a:r>
              <a:rPr lang="en-US" sz="1300" dirty="0">
                <a:solidFill>
                  <a:srgbClr val="16302A"/>
                </a:solidFill>
                <a:latin typeface="Calibri" pitchFamily="34" charset="0"/>
                <a:ea typeface="Calibri" pitchFamily="34" charset="-122"/>
                <a:cs typeface="Calibri" pitchFamily="34" charset="-120"/>
              </a:rPr>
              <a:t>Gives distance, speed and heatmaps in metres. Only 54% of the demo half showed a usable view.</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6F2"/>
        </a:solidFill>
      </p:bgPr>
    </p:bg>
    <p:spTree>
      <p:nvGrpSpPr>
        <p:cNvPr id="1" name=""/>
        <p:cNvGrpSpPr/>
        <p:nvPr/>
      </p:nvGrpSpPr>
      <p:grpSpPr>
        <a:xfrm>
          <a:off x="0" y="0"/>
          <a:ext cx="0" cy="0"/>
          <a:chOff x="0" y="0"/>
          <a:chExt cx="0" cy="0"/>
        </a:xfrm>
      </p:grpSpPr>
      <p:sp>
        <p:nvSpPr>
          <p:cNvPr id="3" name="Text 0"/>
          <p:cNvSpPr txBox="1"/>
          <p:nvPr/>
        </p:nvSpPr>
        <p:spPr>
          <a:xfrm>
            <a:off x="812800" y="508000"/>
            <a:ext cx="10566400" cy="215900"/>
          </a:xfrm>
          <a:prstGeom prst="rect">
            <a:avLst/>
          </a:prstGeom>
          <a:noFill/>
          <a:ln/>
        </p:spPr>
        <p:txBody>
          <a:bodyPr wrap="square" lIns="0" tIns="0" rIns="0" bIns="0" rtlCol="0" anchor="t"/>
          <a:lstStyle/>
          <a:p>
            <a:pPr indent="0" marL="0">
              <a:buNone/>
            </a:pPr>
            <a:r>
              <a:rPr lang="en-US" sz="1200" b="1" spc="200" kern="0" dirty="0">
                <a:solidFill>
                  <a:srgbClr val="0A7A5C"/>
                </a:solidFill>
                <a:latin typeface="Calibri" pitchFamily="34" charset="0"/>
                <a:ea typeface="Calibri" pitchFamily="34" charset="-122"/>
                <a:cs typeface="Calibri" pitchFamily="34" charset="-120"/>
              </a:rPr>
              <a:t>MODEL DEEP DIVE 2 OF 3</a:t>
            </a:r>
            <a:endParaRPr lang="en-US" sz="1200" dirty="0"/>
          </a:p>
        </p:txBody>
      </p:sp>
      <p:sp>
        <p:nvSpPr>
          <p:cNvPr id="4" name="Text 1"/>
          <p:cNvSpPr txBox="1"/>
          <p:nvPr/>
        </p:nvSpPr>
        <p:spPr>
          <a:xfrm>
            <a:off x="812800" y="762000"/>
            <a:ext cx="10566400" cy="571500"/>
          </a:xfrm>
          <a:prstGeom prst="rect">
            <a:avLst/>
          </a:prstGeom>
          <a:noFill/>
          <a:ln/>
        </p:spPr>
        <p:txBody>
          <a:bodyPr wrap="square" lIns="0" tIns="0" rIns="0" bIns="0" rtlCol="0" anchor="ctr"/>
          <a:lstStyle/>
          <a:p>
            <a:pPr indent="0" marL="0">
              <a:buNone/>
            </a:pPr>
            <a:r>
              <a:rPr lang="en-US" sz="3000" b="1" dirty="0">
                <a:solidFill>
                  <a:srgbClr val="16302A"/>
                </a:solidFill>
                <a:latin typeface="Arial" pitchFamily="34" charset="0"/>
                <a:ea typeface="Arial" pitchFamily="34" charset="-122"/>
                <a:cs typeface="Arial" pitchFamily="34" charset="-120"/>
              </a:rPr>
              <a:t>Knowing who: shirt numbers and appearance</a:t>
            </a:r>
            <a:endParaRPr lang="en-US" sz="3000" dirty="0"/>
          </a:p>
        </p:txBody>
      </p:sp>
      <p:sp>
        <p:nvSpPr>
          <p:cNvPr id="5" name="Text 2"/>
          <p:cNvSpPr txBox="1"/>
          <p:nvPr/>
        </p:nvSpPr>
        <p:spPr>
          <a:xfrm>
            <a:off x="812800" y="6254750"/>
            <a:ext cx="5715000" cy="190500"/>
          </a:xfrm>
          <a:prstGeom prst="rect">
            <a:avLst/>
          </a:prstGeom>
          <a:noFill/>
          <a:ln/>
        </p:spPr>
        <p:txBody>
          <a:bodyPr wrap="square" lIns="0" tIns="0" rIns="0" bIns="0" rtlCol="0" anchor="t"/>
          <a:lstStyle/>
          <a:p>
            <a:pPr indent="0" marL="0">
              <a:buNone/>
            </a:pPr>
            <a:r>
              <a:rPr lang="en-US" sz="1200" dirty="0">
                <a:solidFill>
                  <a:srgbClr val="4F6660"/>
                </a:solidFill>
                <a:latin typeface="Calibri" pitchFamily="34" charset="0"/>
                <a:ea typeface="Calibri" pitchFamily="34" charset="-122"/>
                <a:cs typeface="Calibri" pitchFamily="34" charset="-120"/>
              </a:rPr>
              <a:t>PitchProfile · AAI3001</a:t>
            </a:r>
            <a:endParaRPr lang="en-US" sz="1200" dirty="0"/>
          </a:p>
        </p:txBody>
      </p:sp>
      <p:sp>
        <p:nvSpPr>
          <p:cNvPr id="6" name="Text 3"/>
          <p:cNvSpPr txBox="1"/>
          <p:nvPr/>
        </p:nvSpPr>
        <p:spPr>
          <a:xfrm>
            <a:off x="10109200" y="6254750"/>
            <a:ext cx="1270000" cy="190500"/>
          </a:xfrm>
          <a:prstGeom prst="rect">
            <a:avLst/>
          </a:prstGeom>
          <a:noFill/>
          <a:ln/>
        </p:spPr>
        <p:txBody>
          <a:bodyPr wrap="square" lIns="0" tIns="0" rIns="0" bIns="0" rtlCol="0" anchor="t"/>
          <a:lstStyle/>
          <a:p>
            <a:pPr algn="r" indent="0" marL="0">
              <a:buNone/>
            </a:pPr>
            <a:r>
              <a:rPr lang="en-US" sz="1200" dirty="0">
                <a:solidFill>
                  <a:srgbClr val="4F6660"/>
                </a:solidFill>
                <a:latin typeface="Calibri" pitchFamily="34" charset="0"/>
                <a:ea typeface="Calibri" pitchFamily="34" charset="-122"/>
                <a:cs typeface="Calibri" pitchFamily="34" charset="-120"/>
              </a:rPr>
              <a:t>9</a:t>
            </a:r>
            <a:endParaRPr lang="en-US" sz="1200" dirty="0"/>
          </a:p>
        </p:txBody>
      </p:sp>
      <p:sp>
        <p:nvSpPr>
          <p:cNvPr id="7" name="Shape 4"/>
          <p:cNvSpPr/>
          <p:nvPr/>
        </p:nvSpPr>
        <p:spPr>
          <a:xfrm>
            <a:off x="812800" y="1492250"/>
            <a:ext cx="3213100" cy="3492500"/>
          </a:xfrm>
          <a:prstGeom prst="roundRect">
            <a:avLst>
              <a:gd name="adj" fmla="val 2846"/>
            </a:avLst>
          </a:prstGeom>
          <a:solidFill>
            <a:srgbClr val="FBFCFA"/>
          </a:solidFill>
          <a:ln w="9525">
            <a:solidFill>
              <a:srgbClr val="D5E1DA"/>
            </a:solidFill>
            <a:prstDash val="solid"/>
          </a:ln>
        </p:spPr>
      </p:sp>
      <p:sp>
        <p:nvSpPr>
          <p:cNvPr id="8" name="Text 5"/>
          <p:cNvSpPr txBox="1"/>
          <p:nvPr/>
        </p:nvSpPr>
        <p:spPr>
          <a:xfrm>
            <a:off x="990600" y="1644650"/>
            <a:ext cx="2857500" cy="317500"/>
          </a:xfrm>
          <a:prstGeom prst="rect">
            <a:avLst/>
          </a:prstGeom>
          <a:noFill/>
          <a:ln/>
        </p:spPr>
        <p:txBody>
          <a:bodyPr wrap="square" lIns="0" tIns="0" rIns="0" bIns="0" rtlCol="0" anchor="t"/>
          <a:lstStyle/>
          <a:p>
            <a:pPr indent="0" marL="0">
              <a:buNone/>
            </a:pPr>
            <a:r>
              <a:rPr lang="en-US" sz="1500" b="1" dirty="0">
                <a:solidFill>
                  <a:srgbClr val="16302A"/>
                </a:solidFill>
                <a:latin typeface="Arial" pitchFamily="34" charset="0"/>
                <a:ea typeface="Arial" pitchFamily="34" charset="-122"/>
                <a:cs typeface="Arial" pitchFamily="34" charset="-120"/>
              </a:rPr>
              <a:t>1 · Legibility: ResNet-34</a:t>
            </a:r>
            <a:endParaRPr lang="en-US" sz="1500" dirty="0"/>
          </a:p>
        </p:txBody>
      </p:sp>
      <p:sp>
        <p:nvSpPr>
          <p:cNvPr id="9" name="Shape 6"/>
          <p:cNvSpPr/>
          <p:nvPr/>
        </p:nvSpPr>
        <p:spPr>
          <a:xfrm>
            <a:off x="990600" y="2000250"/>
            <a:ext cx="2583497" cy="228600"/>
          </a:xfrm>
          <a:prstGeom prst="roundRect">
            <a:avLst>
              <a:gd name="adj" fmla="val 60000"/>
            </a:avLst>
          </a:prstGeom>
          <a:solidFill>
            <a:srgbClr val="DCE8FA"/>
          </a:solidFill>
          <a:ln w="6350">
            <a:solidFill>
              <a:srgbClr val="DCE8FA"/>
            </a:solidFill>
            <a:prstDash val="solid"/>
          </a:ln>
        </p:spPr>
      </p:sp>
      <p:sp>
        <p:nvSpPr>
          <p:cNvPr id="10" name="Text 7"/>
          <p:cNvSpPr txBox="1"/>
          <p:nvPr/>
        </p:nvSpPr>
        <p:spPr>
          <a:xfrm>
            <a:off x="990600" y="2000250"/>
            <a:ext cx="2583497" cy="228600"/>
          </a:xfrm>
          <a:prstGeom prst="rect">
            <a:avLst/>
          </a:prstGeom>
          <a:noFill/>
          <a:ln/>
        </p:spPr>
        <p:txBody>
          <a:bodyPr wrap="square" lIns="0" tIns="0" rIns="0" bIns="0" rtlCol="0" anchor="ctr"/>
          <a:lstStyle/>
          <a:p>
            <a:pPr algn="ctr" indent="0" marL="0">
              <a:buNone/>
            </a:pPr>
            <a:r>
              <a:rPr lang="en-US" sz="1100" b="1" dirty="0">
                <a:solidFill>
                  <a:srgbClr val="1D4F9F"/>
                </a:solidFill>
                <a:latin typeface="Calibri" pitchFamily="34" charset="0"/>
                <a:ea typeface="Calibri" pitchFamily="34" charset="-122"/>
                <a:cs typeface="Calibri" pitchFamily="34" charset="-120"/>
              </a:rPr>
              <a:t>Pretrained · Koshkina &amp; Elder</a:t>
            </a:r>
            <a:endParaRPr lang="en-US" sz="1100" dirty="0"/>
          </a:p>
        </p:txBody>
      </p:sp>
      <p:sp>
        <p:nvSpPr>
          <p:cNvPr id="11" name="Text 8"/>
          <p:cNvSpPr txBox="1"/>
          <p:nvPr/>
        </p:nvSpPr>
        <p:spPr>
          <a:xfrm>
            <a:off x="990600" y="2381250"/>
            <a:ext cx="2857500" cy="2476500"/>
          </a:xfrm>
          <a:prstGeom prst="rect">
            <a:avLst/>
          </a:prstGeom>
          <a:noFill/>
          <a:ln/>
        </p:spPr>
        <p:txBody>
          <a:bodyPr wrap="square" lIns="0" tIns="0" rIns="0" bIns="0" rtlCol="0" anchor="t"/>
          <a:lstStyle/>
          <a:p>
            <a:pPr indent="0" marL="0">
              <a:buNone/>
            </a:pPr>
            <a:r>
              <a:rPr lang="en-US" sz="1000" b="1" spc="100" kern="0" dirty="0">
                <a:solidFill>
                  <a:srgbClr val="0A7A5C"/>
                </a:solidFill>
                <a:latin typeface="Calibri" pitchFamily="34" charset="0"/>
                <a:ea typeface="Calibri" pitchFamily="34" charset="-122"/>
                <a:cs typeface="Calibri" pitchFamily="34" charset="-120"/>
              </a:rPr>
              <a:t>QUESTION</a:t>
            </a:r>
            <a:endParaRPr lang="en-US" sz="1000" dirty="0"/>
          </a:p>
          <a:p>
            <a:pPr indent="0" marL="0">
              <a:buNone/>
            </a:pPr>
            <a:r>
              <a:rPr lang="en-US" sz="1300" dirty="0">
                <a:solidFill>
                  <a:srgbClr val="16302A"/>
                </a:solidFill>
                <a:latin typeface="Calibri" pitchFamily="34" charset="0"/>
                <a:ea typeface="Calibri" pitchFamily="34" charset="-122"/>
                <a:cs typeface="Calibri" pitchFamily="34" charset="-120"/>
              </a:rPr>
              <a:t>Can a shirt number be read in this thumbnail?</a:t>
            </a:r>
            <a:endParaRPr lang="en-US" sz="1000" dirty="0"/>
          </a:p>
          <a:p>
            <a:pPr indent="0" marL="0">
              <a:spcBef>
                <a:spcPts val="700"/>
              </a:spcBef>
              <a:buNone/>
            </a:pPr>
            <a:r>
              <a:rPr lang="en-US" sz="1000" b="1" spc="100" kern="0" dirty="0">
                <a:solidFill>
                  <a:srgbClr val="0A7A5C"/>
                </a:solidFill>
                <a:latin typeface="Calibri" pitchFamily="34" charset="0"/>
                <a:ea typeface="Calibri" pitchFamily="34" charset="-122"/>
                <a:cs typeface="Calibri" pitchFamily="34" charset="-120"/>
              </a:rPr>
              <a:t>WHY</a:t>
            </a:r>
            <a:endParaRPr lang="en-US" sz="1000" dirty="0"/>
          </a:p>
          <a:p>
            <a:pPr indent="0" marL="0">
              <a:buNone/>
            </a:pPr>
            <a:r>
              <a:rPr lang="en-US" sz="1300" dirty="0">
                <a:solidFill>
                  <a:srgbClr val="16302A"/>
                </a:solidFill>
                <a:latin typeface="Calibri" pitchFamily="34" charset="0"/>
                <a:ea typeface="Calibri" pitchFamily="34" charset="-122"/>
                <a:cs typeface="Calibri" pitchFamily="34" charset="-120"/>
              </a:rPr>
              <a:t>Players face away, blur or hide the number. Reading those only adds wrong answers.</a:t>
            </a:r>
            <a:endParaRPr lang="en-US" sz="1000" dirty="0"/>
          </a:p>
          <a:p>
            <a:pPr indent="0" marL="0">
              <a:spcBef>
                <a:spcPts val="700"/>
              </a:spcBef>
              <a:buNone/>
            </a:pPr>
            <a:r>
              <a:rPr lang="en-US" sz="1000" b="1" spc="100" kern="0" dirty="0">
                <a:solidFill>
                  <a:srgbClr val="0A7A5C"/>
                </a:solidFill>
                <a:latin typeface="Calibri" pitchFamily="34" charset="0"/>
                <a:ea typeface="Calibri" pitchFamily="34" charset="-122"/>
                <a:cs typeface="Calibri" pitchFamily="34" charset="-120"/>
              </a:rPr>
              <a:t>OUT</a:t>
            </a:r>
            <a:endParaRPr lang="en-US" sz="1000" dirty="0"/>
          </a:p>
          <a:p>
            <a:pPr indent="0" marL="0">
              <a:buNone/>
            </a:pPr>
            <a:r>
              <a:rPr lang="en-US" sz="1300" dirty="0">
                <a:solidFill>
                  <a:srgbClr val="16302A"/>
                </a:solidFill>
                <a:latin typeface="Calibri" pitchFamily="34" charset="0"/>
                <a:ea typeface="Calibri" pitchFamily="34" charset="-122"/>
                <a:cs typeface="Calibri" pitchFamily="34" charset="-120"/>
              </a:rPr>
              <a:t>Keeps only readable thumbnails for the next step.</a:t>
            </a:r>
            <a:endParaRPr lang="en-US" sz="1000" dirty="0"/>
          </a:p>
        </p:txBody>
      </p:sp>
      <p:sp>
        <p:nvSpPr>
          <p:cNvPr id="12" name="Text 9"/>
          <p:cNvSpPr txBox="1"/>
          <p:nvPr/>
        </p:nvSpPr>
        <p:spPr>
          <a:xfrm>
            <a:off x="4076700" y="3048000"/>
            <a:ext cx="355600" cy="254000"/>
          </a:xfrm>
          <a:prstGeom prst="rect">
            <a:avLst/>
          </a:prstGeom>
          <a:noFill/>
          <a:ln/>
        </p:spPr>
        <p:txBody>
          <a:bodyPr wrap="square" lIns="0" tIns="0" rIns="0" bIns="0" rtlCol="0" anchor="t"/>
          <a:lstStyle/>
          <a:p>
            <a:pPr algn="ctr" indent="0" marL="0">
              <a:buNone/>
            </a:pPr>
            <a:r>
              <a:rPr lang="en-US" sz="2400" b="1" dirty="0">
                <a:solidFill>
                  <a:srgbClr val="0A7A5C"/>
                </a:solidFill>
                <a:latin typeface="Arial" pitchFamily="34" charset="0"/>
                <a:ea typeface="Arial" pitchFamily="34" charset="-122"/>
                <a:cs typeface="Arial" pitchFamily="34" charset="-120"/>
              </a:rPr>
              <a:t>→</a:t>
            </a:r>
            <a:endParaRPr lang="en-US" sz="2400" dirty="0"/>
          </a:p>
        </p:txBody>
      </p:sp>
      <p:sp>
        <p:nvSpPr>
          <p:cNvPr id="13" name="Shape 10"/>
          <p:cNvSpPr/>
          <p:nvPr/>
        </p:nvSpPr>
        <p:spPr>
          <a:xfrm>
            <a:off x="4489450" y="1492250"/>
            <a:ext cx="3213100" cy="3492500"/>
          </a:xfrm>
          <a:prstGeom prst="roundRect">
            <a:avLst>
              <a:gd name="adj" fmla="val 2846"/>
            </a:avLst>
          </a:prstGeom>
          <a:solidFill>
            <a:srgbClr val="FBFCFA"/>
          </a:solidFill>
          <a:ln w="9525">
            <a:solidFill>
              <a:srgbClr val="D5E1DA"/>
            </a:solidFill>
            <a:prstDash val="solid"/>
          </a:ln>
        </p:spPr>
      </p:sp>
      <p:sp>
        <p:nvSpPr>
          <p:cNvPr id="14" name="Text 11"/>
          <p:cNvSpPr txBox="1"/>
          <p:nvPr/>
        </p:nvSpPr>
        <p:spPr>
          <a:xfrm>
            <a:off x="4667250" y="1644650"/>
            <a:ext cx="2857500" cy="317500"/>
          </a:xfrm>
          <a:prstGeom prst="rect">
            <a:avLst/>
          </a:prstGeom>
          <a:noFill/>
          <a:ln/>
        </p:spPr>
        <p:txBody>
          <a:bodyPr wrap="square" lIns="0" tIns="0" rIns="0" bIns="0" rtlCol="0" anchor="t"/>
          <a:lstStyle/>
          <a:p>
            <a:pPr indent="0" marL="0">
              <a:buNone/>
            </a:pPr>
            <a:r>
              <a:rPr lang="en-US" sz="1500" b="1" dirty="0">
                <a:solidFill>
                  <a:srgbClr val="16302A"/>
                </a:solidFill>
                <a:latin typeface="Arial" pitchFamily="34" charset="0"/>
                <a:ea typeface="Arial" pitchFamily="34" charset="-122"/>
                <a:cs typeface="Arial" pitchFamily="34" charset="-120"/>
              </a:rPr>
              <a:t>2 · Reading: PARSeq</a:t>
            </a:r>
            <a:endParaRPr lang="en-US" sz="1500" dirty="0"/>
          </a:p>
        </p:txBody>
      </p:sp>
      <p:sp>
        <p:nvSpPr>
          <p:cNvPr id="15" name="Shape 12"/>
          <p:cNvSpPr/>
          <p:nvPr/>
        </p:nvSpPr>
        <p:spPr>
          <a:xfrm>
            <a:off x="4667250" y="2000250"/>
            <a:ext cx="2824480" cy="228600"/>
          </a:xfrm>
          <a:prstGeom prst="roundRect">
            <a:avLst>
              <a:gd name="adj" fmla="val 60000"/>
            </a:avLst>
          </a:prstGeom>
          <a:solidFill>
            <a:srgbClr val="DCE8FA"/>
          </a:solidFill>
          <a:ln w="6350">
            <a:solidFill>
              <a:srgbClr val="DCE8FA"/>
            </a:solidFill>
            <a:prstDash val="solid"/>
          </a:ln>
        </p:spPr>
      </p:sp>
      <p:sp>
        <p:nvSpPr>
          <p:cNvPr id="16" name="Text 13"/>
          <p:cNvSpPr txBox="1"/>
          <p:nvPr/>
        </p:nvSpPr>
        <p:spPr>
          <a:xfrm>
            <a:off x="4667250" y="2000250"/>
            <a:ext cx="2824480" cy="228600"/>
          </a:xfrm>
          <a:prstGeom prst="rect">
            <a:avLst/>
          </a:prstGeom>
          <a:noFill/>
          <a:ln/>
        </p:spPr>
        <p:txBody>
          <a:bodyPr wrap="square" lIns="0" tIns="0" rIns="0" bIns="0" rtlCol="0" anchor="ctr"/>
          <a:lstStyle/>
          <a:p>
            <a:pPr algn="ctr" indent="0" marL="0">
              <a:buNone/>
            </a:pPr>
            <a:r>
              <a:rPr lang="en-US" sz="1100" b="1" dirty="0">
                <a:solidFill>
                  <a:srgbClr val="1D4F9F"/>
                </a:solidFill>
                <a:latin typeface="Calibri" pitchFamily="34" charset="0"/>
                <a:ea typeface="Calibri" pitchFamily="34" charset="-122"/>
                <a:cs typeface="Calibri" pitchFamily="34" charset="-120"/>
              </a:rPr>
              <a:t>Pretrained · SoccerNet fine-tune</a:t>
            </a:r>
            <a:endParaRPr lang="en-US" sz="1100" dirty="0"/>
          </a:p>
        </p:txBody>
      </p:sp>
      <p:sp>
        <p:nvSpPr>
          <p:cNvPr id="17" name="Text 14"/>
          <p:cNvSpPr txBox="1"/>
          <p:nvPr/>
        </p:nvSpPr>
        <p:spPr>
          <a:xfrm>
            <a:off x="4667250" y="2381250"/>
            <a:ext cx="2857500" cy="2476500"/>
          </a:xfrm>
          <a:prstGeom prst="rect">
            <a:avLst/>
          </a:prstGeom>
          <a:noFill/>
          <a:ln/>
        </p:spPr>
        <p:txBody>
          <a:bodyPr wrap="square" lIns="0" tIns="0" rIns="0" bIns="0" rtlCol="0" anchor="t"/>
          <a:lstStyle/>
          <a:p>
            <a:pPr indent="0" marL="0">
              <a:buNone/>
            </a:pPr>
            <a:r>
              <a:rPr lang="en-US" sz="1000" b="1" spc="100" kern="0" dirty="0">
                <a:solidFill>
                  <a:srgbClr val="0A7A5C"/>
                </a:solidFill>
                <a:latin typeface="Calibri" pitchFamily="34" charset="0"/>
                <a:ea typeface="Calibri" pitchFamily="34" charset="-122"/>
                <a:cs typeface="Calibri" pitchFamily="34" charset="-120"/>
              </a:rPr>
              <a:t>WHAT IT IS</a:t>
            </a:r>
            <a:endParaRPr lang="en-US" sz="1000" dirty="0"/>
          </a:p>
          <a:p>
            <a:pPr indent="0" marL="0">
              <a:buNone/>
            </a:pPr>
            <a:r>
              <a:rPr lang="en-US" sz="1300" dirty="0">
                <a:solidFill>
                  <a:srgbClr val="16302A"/>
                </a:solidFill>
                <a:latin typeface="Calibri" pitchFamily="34" charset="0"/>
                <a:ea typeface="Calibri" pitchFamily="34" charset="-122"/>
                <a:cs typeface="Calibri" pitchFamily="34" charset="-120"/>
              </a:rPr>
              <a:t>A scene-text recogniser, here reading jersey digits.</a:t>
            </a:r>
            <a:endParaRPr lang="en-US" sz="1000" dirty="0"/>
          </a:p>
          <a:p>
            <a:pPr indent="0" marL="0">
              <a:spcBef>
                <a:spcPts val="700"/>
              </a:spcBef>
              <a:buNone/>
            </a:pPr>
            <a:r>
              <a:rPr lang="en-US" sz="1000" b="1" spc="100" kern="0" dirty="0">
                <a:solidFill>
                  <a:srgbClr val="0A7A5C"/>
                </a:solidFill>
                <a:latin typeface="Calibri" pitchFamily="34" charset="0"/>
                <a:ea typeface="Calibri" pitchFamily="34" charset="-122"/>
                <a:cs typeface="Calibri" pitchFamily="34" charset="-120"/>
              </a:rPr>
              <a:t>IN → OUT</a:t>
            </a:r>
            <a:endParaRPr lang="en-US" sz="1000" dirty="0"/>
          </a:p>
          <a:p>
            <a:pPr indent="0" marL="0">
              <a:buNone/>
            </a:pPr>
            <a:r>
              <a:rPr lang="en-US" sz="1300" dirty="0">
                <a:solidFill>
                  <a:srgbClr val="16302A"/>
                </a:solidFill>
                <a:latin typeface="Calibri" pitchFamily="34" charset="0"/>
                <a:ea typeface="Calibri" pitchFamily="34" charset="-122"/>
                <a:cs typeface="Calibri" pitchFamily="34" charset="-120"/>
              </a:rPr>
              <a:t>Readable thumbnails in; a number and confidence out.</a:t>
            </a:r>
            <a:endParaRPr lang="en-US" sz="1000" dirty="0"/>
          </a:p>
          <a:p>
            <a:pPr indent="0" marL="0">
              <a:spcBef>
                <a:spcPts val="700"/>
              </a:spcBef>
              <a:buNone/>
            </a:pPr>
            <a:r>
              <a:rPr lang="en-US" sz="1000" b="1" spc="100" kern="0" dirty="0">
                <a:solidFill>
                  <a:srgbClr val="0A7A5C"/>
                </a:solidFill>
                <a:latin typeface="Calibri" pitchFamily="34" charset="0"/>
                <a:ea typeface="Calibri" pitchFamily="34" charset="-122"/>
                <a:cs typeface="Calibri" pitchFamily="34" charset="-120"/>
              </a:rPr>
              <a:t>HOW WE USE IT</a:t>
            </a:r>
            <a:endParaRPr lang="en-US" sz="1000" dirty="0"/>
          </a:p>
          <a:p>
            <a:pPr indent="0" marL="0">
              <a:buNone/>
            </a:pPr>
            <a:r>
              <a:rPr lang="en-US" sz="1300" dirty="0">
                <a:solidFill>
                  <a:srgbClr val="16302A"/>
                </a:solidFill>
                <a:latin typeface="Calibri" pitchFamily="34" charset="0"/>
                <a:ea typeface="Calibri" pitchFamily="34" charset="-122"/>
                <a:cs typeface="Calibri" pitchFamily="34" charset="-120"/>
              </a:rPr>
              <a:t>Votes across up to 24 thumbnails per segment. 80% of 1,211 test tracklets correct.</a:t>
            </a:r>
            <a:endParaRPr lang="en-US" sz="1000" dirty="0"/>
          </a:p>
        </p:txBody>
      </p:sp>
      <p:sp>
        <p:nvSpPr>
          <p:cNvPr id="18" name="Text 15"/>
          <p:cNvSpPr txBox="1"/>
          <p:nvPr/>
        </p:nvSpPr>
        <p:spPr>
          <a:xfrm>
            <a:off x="7753350" y="3048000"/>
            <a:ext cx="355600" cy="254000"/>
          </a:xfrm>
          <a:prstGeom prst="rect">
            <a:avLst/>
          </a:prstGeom>
          <a:noFill/>
          <a:ln/>
        </p:spPr>
        <p:txBody>
          <a:bodyPr wrap="square" lIns="0" tIns="0" rIns="0" bIns="0" rtlCol="0" anchor="t"/>
          <a:lstStyle/>
          <a:p>
            <a:pPr algn="ctr" indent="0" marL="0">
              <a:buNone/>
            </a:pPr>
            <a:r>
              <a:rPr lang="en-US" sz="2400" b="1" dirty="0">
                <a:solidFill>
                  <a:srgbClr val="0A7A5C"/>
                </a:solidFill>
                <a:latin typeface="Arial" pitchFamily="34" charset="0"/>
                <a:ea typeface="Arial" pitchFamily="34" charset="-122"/>
                <a:cs typeface="Arial" pitchFamily="34" charset="-120"/>
              </a:rPr>
              <a:t>→</a:t>
            </a:r>
            <a:endParaRPr lang="en-US" sz="2400" dirty="0"/>
          </a:p>
        </p:txBody>
      </p:sp>
      <p:sp>
        <p:nvSpPr>
          <p:cNvPr id="19" name="Shape 16"/>
          <p:cNvSpPr/>
          <p:nvPr/>
        </p:nvSpPr>
        <p:spPr>
          <a:xfrm>
            <a:off x="8166100" y="1492250"/>
            <a:ext cx="3213100" cy="3492500"/>
          </a:xfrm>
          <a:prstGeom prst="roundRect">
            <a:avLst>
              <a:gd name="adj" fmla="val 2846"/>
            </a:avLst>
          </a:prstGeom>
          <a:solidFill>
            <a:srgbClr val="FBFCFA"/>
          </a:solidFill>
          <a:ln w="9525">
            <a:solidFill>
              <a:srgbClr val="D5E1DA"/>
            </a:solidFill>
            <a:prstDash val="solid"/>
          </a:ln>
        </p:spPr>
      </p:sp>
      <p:sp>
        <p:nvSpPr>
          <p:cNvPr id="20" name="Text 17"/>
          <p:cNvSpPr txBox="1"/>
          <p:nvPr/>
        </p:nvSpPr>
        <p:spPr>
          <a:xfrm>
            <a:off x="8343900" y="1644650"/>
            <a:ext cx="2857500" cy="317500"/>
          </a:xfrm>
          <a:prstGeom prst="rect">
            <a:avLst/>
          </a:prstGeom>
          <a:noFill/>
          <a:ln/>
        </p:spPr>
        <p:txBody>
          <a:bodyPr wrap="square" lIns="0" tIns="0" rIns="0" bIns="0" rtlCol="0" anchor="t"/>
          <a:lstStyle/>
          <a:p>
            <a:pPr indent="0" marL="0">
              <a:buNone/>
            </a:pPr>
            <a:r>
              <a:rPr lang="en-US" sz="1500" b="1" dirty="0">
                <a:solidFill>
                  <a:srgbClr val="16302A"/>
                </a:solidFill>
                <a:latin typeface="Arial" pitchFamily="34" charset="0"/>
                <a:ea typeface="Arial" pitchFamily="34" charset="-122"/>
                <a:cs typeface="Arial" pitchFamily="34" charset="-120"/>
              </a:rPr>
              <a:t>3 · Identity: CLIP ViT-B/16</a:t>
            </a:r>
            <a:endParaRPr lang="en-US" sz="1500" dirty="0"/>
          </a:p>
        </p:txBody>
      </p:sp>
      <p:sp>
        <p:nvSpPr>
          <p:cNvPr id="21" name="Shape 18"/>
          <p:cNvSpPr/>
          <p:nvPr/>
        </p:nvSpPr>
        <p:spPr>
          <a:xfrm>
            <a:off x="8343900" y="2000250"/>
            <a:ext cx="2342515" cy="228600"/>
          </a:xfrm>
          <a:prstGeom prst="roundRect">
            <a:avLst>
              <a:gd name="adj" fmla="val 60000"/>
            </a:avLst>
          </a:prstGeom>
          <a:solidFill>
            <a:srgbClr val="CDEEDD"/>
          </a:solidFill>
          <a:ln w="6350">
            <a:solidFill>
              <a:srgbClr val="CDEEDD"/>
            </a:solidFill>
            <a:prstDash val="solid"/>
          </a:ln>
        </p:spPr>
      </p:sp>
      <p:sp>
        <p:nvSpPr>
          <p:cNvPr id="22" name="Text 19"/>
          <p:cNvSpPr txBox="1"/>
          <p:nvPr/>
        </p:nvSpPr>
        <p:spPr>
          <a:xfrm>
            <a:off x="8343900" y="2000250"/>
            <a:ext cx="2342515" cy="228600"/>
          </a:xfrm>
          <a:prstGeom prst="rect">
            <a:avLst/>
          </a:prstGeom>
          <a:noFill/>
          <a:ln/>
        </p:spPr>
        <p:txBody>
          <a:bodyPr wrap="square" lIns="0" tIns="0" rIns="0" bIns="0" rtlCol="0" anchor="ctr"/>
          <a:lstStyle/>
          <a:p>
            <a:pPr algn="ctr" indent="0" marL="0">
              <a:buNone/>
            </a:pPr>
            <a:r>
              <a:rPr lang="en-US" sz="1100" b="1" dirty="0">
                <a:solidFill>
                  <a:srgbClr val="07573F"/>
                </a:solidFill>
                <a:latin typeface="Calibri" pitchFamily="34" charset="0"/>
                <a:ea typeface="Calibri" pitchFamily="34" charset="-122"/>
                <a:cs typeface="Calibri" pitchFamily="34" charset="-120"/>
              </a:rPr>
              <a:t>Fine-tuned in this project</a:t>
            </a:r>
            <a:endParaRPr lang="en-US" sz="1100" dirty="0"/>
          </a:p>
        </p:txBody>
      </p:sp>
      <p:sp>
        <p:nvSpPr>
          <p:cNvPr id="23" name="Text 20"/>
          <p:cNvSpPr txBox="1"/>
          <p:nvPr/>
        </p:nvSpPr>
        <p:spPr>
          <a:xfrm>
            <a:off x="8343900" y="2381250"/>
            <a:ext cx="2857500" cy="2476500"/>
          </a:xfrm>
          <a:prstGeom prst="rect">
            <a:avLst/>
          </a:prstGeom>
          <a:noFill/>
          <a:ln/>
        </p:spPr>
        <p:txBody>
          <a:bodyPr wrap="square" lIns="0" tIns="0" rIns="0" bIns="0" rtlCol="0" anchor="t"/>
          <a:lstStyle/>
          <a:p>
            <a:pPr indent="0" marL="0">
              <a:buNone/>
            </a:pPr>
            <a:r>
              <a:rPr lang="en-US" sz="1000" b="1" spc="100" kern="0" dirty="0">
                <a:solidFill>
                  <a:srgbClr val="0A7A5C"/>
                </a:solidFill>
                <a:latin typeface="Calibri" pitchFamily="34" charset="0"/>
                <a:ea typeface="Calibri" pitchFamily="34" charset="-122"/>
                <a:cs typeface="Calibri" pitchFamily="34" charset="-120"/>
              </a:rPr>
              <a:t>WHAT IT IS</a:t>
            </a:r>
            <a:endParaRPr lang="en-US" sz="1000" dirty="0"/>
          </a:p>
          <a:p>
            <a:pPr indent="0" marL="0">
              <a:buNone/>
            </a:pPr>
            <a:r>
              <a:rPr lang="en-US" sz="1300" dirty="0">
                <a:solidFill>
                  <a:srgbClr val="16302A"/>
                </a:solidFill>
                <a:latin typeface="Calibri" pitchFamily="34" charset="0"/>
                <a:ea typeface="Calibri" pitchFamily="34" charset="-122"/>
                <a:cs typeface="Calibri" pitchFamily="34" charset="-120"/>
              </a:rPr>
              <a:t>Vision transformer trained end to end with four heads: tens digit, units digit, a 256-d appearance embedding and a goalkeeper flag.</a:t>
            </a:r>
            <a:endParaRPr lang="en-US" sz="1000" dirty="0"/>
          </a:p>
          <a:p>
            <a:pPr indent="0" marL="0">
              <a:spcBef>
                <a:spcPts val="700"/>
              </a:spcBef>
              <a:buNone/>
            </a:pPr>
            <a:r>
              <a:rPr lang="en-US" sz="1000" b="1" spc="100" kern="0" dirty="0">
                <a:solidFill>
                  <a:srgbClr val="0A7A5C"/>
                </a:solidFill>
                <a:latin typeface="Calibri" pitchFamily="34" charset="0"/>
                <a:ea typeface="Calibri" pitchFamily="34" charset="-122"/>
                <a:cs typeface="Calibri" pitchFamily="34" charset="-120"/>
              </a:rPr>
              <a:t>TRAINING</a:t>
            </a:r>
            <a:endParaRPr lang="en-US" sz="1000" dirty="0"/>
          </a:p>
          <a:p>
            <a:pPr indent="0" marL="0">
              <a:buNone/>
            </a:pPr>
            <a:r>
              <a:rPr lang="en-US" sz="1300" dirty="0">
                <a:solidFill>
                  <a:srgbClr val="16302A"/>
                </a:solidFill>
                <a:latin typeface="Calibri" pitchFamily="34" charset="0"/>
                <a:ea typeface="Calibri" pitchFamily="34" charset="-122"/>
                <a:cs typeface="Calibri" pitchFamily="34" charset="-120"/>
              </a:rPr>
              <a:t>6.0M thumbnails of 1,485 players, 48 games, plus SN-Jersey-2023; 10,000 steps. Teammates are the negatives.</a:t>
            </a:r>
            <a:endParaRPr lang="en-US" sz="1000" dirty="0"/>
          </a:p>
          <a:p>
            <a:pPr indent="0" marL="0">
              <a:spcBef>
                <a:spcPts val="700"/>
              </a:spcBef>
              <a:buNone/>
            </a:pPr>
            <a:r>
              <a:rPr lang="en-US" sz="1000" b="1" spc="100" kern="0" dirty="0">
                <a:solidFill>
                  <a:srgbClr val="0A7A5C"/>
                </a:solidFill>
                <a:latin typeface="Calibri" pitchFamily="34" charset="0"/>
                <a:ea typeface="Calibri" pitchFamily="34" charset="-122"/>
                <a:cs typeface="Calibri" pitchFamily="34" charset="-120"/>
              </a:rPr>
              <a:t>WHY</a:t>
            </a:r>
            <a:endParaRPr lang="en-US" sz="1000" dirty="0"/>
          </a:p>
          <a:p>
            <a:pPr indent="0" marL="0">
              <a:buNone/>
            </a:pPr>
            <a:r>
              <a:rPr lang="en-US" sz="1300" dirty="0">
                <a:solidFill>
                  <a:srgbClr val="16302A"/>
                </a:solidFill>
                <a:latin typeface="Calibri" pitchFamily="34" charset="0"/>
                <a:ea typeface="Calibri" pitchFamily="34" charset="-122"/>
                <a:cs typeface="Calibri" pitchFamily="34" charset="-120"/>
              </a:rPr>
              <a:t>Links segments with no readable number, even across camera cuts.</a:t>
            </a:r>
            <a:endParaRPr lang="en-US" sz="1000" dirty="0"/>
          </a:p>
        </p:txBody>
      </p:sp>
      <p:sp>
        <p:nvSpPr>
          <p:cNvPr id="24" name="Shape 21"/>
          <p:cNvSpPr/>
          <p:nvPr/>
        </p:nvSpPr>
        <p:spPr>
          <a:xfrm>
            <a:off x="812800" y="5207000"/>
            <a:ext cx="38100" cy="698500"/>
          </a:xfrm>
          <a:prstGeom prst="rect">
            <a:avLst/>
          </a:prstGeom>
          <a:solidFill>
            <a:srgbClr val="0A7A5C"/>
          </a:solidFill>
          <a:ln w="12700">
            <a:solidFill>
              <a:srgbClr val="0A7A5C"/>
            </a:solidFill>
            <a:prstDash val="solid"/>
          </a:ln>
        </p:spPr>
      </p:sp>
      <p:sp>
        <p:nvSpPr>
          <p:cNvPr id="25" name="Text 22"/>
          <p:cNvSpPr txBox="1"/>
          <p:nvPr/>
        </p:nvSpPr>
        <p:spPr>
          <a:xfrm>
            <a:off x="977900" y="5181600"/>
            <a:ext cx="2413000" cy="381000"/>
          </a:xfrm>
          <a:prstGeom prst="rect">
            <a:avLst/>
          </a:prstGeom>
          <a:noFill/>
          <a:ln/>
        </p:spPr>
        <p:txBody>
          <a:bodyPr wrap="square" lIns="0" tIns="0" rIns="0" bIns="0" rtlCol="0" anchor="t"/>
          <a:lstStyle/>
          <a:p>
            <a:pPr indent="0" marL="0">
              <a:buNone/>
            </a:pPr>
            <a:r>
              <a:rPr lang="en-US" sz="2400" b="1" dirty="0">
                <a:solidFill>
                  <a:srgbClr val="16302A"/>
                </a:solidFill>
                <a:latin typeface="Arial" pitchFamily="34" charset="0"/>
                <a:ea typeface="Arial" pitchFamily="34" charset="-122"/>
                <a:cs typeface="Arial" pitchFamily="34" charset="-120"/>
              </a:rPr>
              <a:t>98.2%</a:t>
            </a:r>
            <a:endParaRPr lang="en-US" sz="2400" dirty="0"/>
          </a:p>
        </p:txBody>
      </p:sp>
      <p:sp>
        <p:nvSpPr>
          <p:cNvPr id="26" name="Text 23"/>
          <p:cNvSpPr txBox="1"/>
          <p:nvPr/>
        </p:nvSpPr>
        <p:spPr>
          <a:xfrm>
            <a:off x="977900" y="5588000"/>
            <a:ext cx="2349500" cy="355600"/>
          </a:xfrm>
          <a:prstGeom prst="rect">
            <a:avLst/>
          </a:prstGeom>
          <a:noFill/>
          <a:ln/>
        </p:spPr>
        <p:txBody>
          <a:bodyPr wrap="square" lIns="0" tIns="0" rIns="0" bIns="0" rtlCol="0" anchor="t"/>
          <a:lstStyle/>
          <a:p>
            <a:pPr indent="0" marL="0">
              <a:buNone/>
            </a:pPr>
            <a:r>
              <a:rPr lang="en-US" sz="1200" dirty="0">
                <a:solidFill>
                  <a:srgbClr val="4F6660"/>
                </a:solidFill>
                <a:latin typeface="Calibri" pitchFamily="34" charset="0"/>
                <a:ea typeface="Calibri" pitchFamily="34" charset="-122"/>
                <a:cs typeface="Calibri" pitchFamily="34" charset="-120"/>
              </a:rPr>
              <a:t>of true tracklets matched by appearance</a:t>
            </a:r>
            <a:endParaRPr lang="en-US" sz="1200" dirty="0"/>
          </a:p>
        </p:txBody>
      </p:sp>
      <p:sp>
        <p:nvSpPr>
          <p:cNvPr id="27" name="Shape 24"/>
          <p:cNvSpPr/>
          <p:nvPr/>
        </p:nvSpPr>
        <p:spPr>
          <a:xfrm>
            <a:off x="3505200" y="5207000"/>
            <a:ext cx="38100" cy="698500"/>
          </a:xfrm>
          <a:prstGeom prst="rect">
            <a:avLst/>
          </a:prstGeom>
          <a:solidFill>
            <a:srgbClr val="0A7A5C"/>
          </a:solidFill>
          <a:ln w="12700">
            <a:solidFill>
              <a:srgbClr val="0A7A5C"/>
            </a:solidFill>
            <a:prstDash val="solid"/>
          </a:ln>
        </p:spPr>
      </p:sp>
      <p:sp>
        <p:nvSpPr>
          <p:cNvPr id="28" name="Text 25"/>
          <p:cNvSpPr txBox="1"/>
          <p:nvPr/>
        </p:nvSpPr>
        <p:spPr>
          <a:xfrm>
            <a:off x="3670300" y="5181600"/>
            <a:ext cx="2413000" cy="381000"/>
          </a:xfrm>
          <a:prstGeom prst="rect">
            <a:avLst/>
          </a:prstGeom>
          <a:noFill/>
          <a:ln/>
        </p:spPr>
        <p:txBody>
          <a:bodyPr wrap="square" lIns="0" tIns="0" rIns="0" bIns="0" rtlCol="0" anchor="t"/>
          <a:lstStyle/>
          <a:p>
            <a:pPr indent="0" marL="0">
              <a:buNone/>
            </a:pPr>
            <a:r>
              <a:rPr lang="en-US" sz="2400" b="1" dirty="0">
                <a:solidFill>
                  <a:srgbClr val="16302A"/>
                </a:solidFill>
                <a:latin typeface="Arial" pitchFamily="34" charset="0"/>
                <a:ea typeface="Arial" pitchFamily="34" charset="-122"/>
                <a:cs typeface="Arial" pitchFamily="34" charset="-120"/>
              </a:rPr>
              <a:t>90% / 99%</a:t>
            </a:r>
            <a:endParaRPr lang="en-US" sz="2400" dirty="0"/>
          </a:p>
        </p:txBody>
      </p:sp>
      <p:sp>
        <p:nvSpPr>
          <p:cNvPr id="29" name="Text 26"/>
          <p:cNvSpPr txBox="1"/>
          <p:nvPr/>
        </p:nvSpPr>
        <p:spPr>
          <a:xfrm>
            <a:off x="3670300" y="5588000"/>
            <a:ext cx="2349500" cy="355600"/>
          </a:xfrm>
          <a:prstGeom prst="rect">
            <a:avLst/>
          </a:prstGeom>
          <a:noFill/>
          <a:ln/>
        </p:spPr>
        <p:txBody>
          <a:bodyPr wrap="square" lIns="0" tIns="0" rIns="0" bIns="0" rtlCol="0" anchor="t"/>
          <a:lstStyle/>
          <a:p>
            <a:pPr indent="0" marL="0">
              <a:buNone/>
            </a:pPr>
            <a:r>
              <a:rPr lang="en-US" sz="1200" dirty="0">
                <a:solidFill>
                  <a:srgbClr val="4F6660"/>
                </a:solidFill>
                <a:latin typeface="Calibri" pitchFamily="34" charset="0"/>
                <a:ea typeface="Calibri" pitchFamily="34" charset="-122"/>
                <a:cs typeface="Calibri" pitchFamily="34" charset="-120"/>
              </a:rPr>
              <a:t>goalkeeper recall / precision</a:t>
            </a:r>
            <a:endParaRPr lang="en-US" sz="1200" dirty="0"/>
          </a:p>
        </p:txBody>
      </p:sp>
      <p:sp>
        <p:nvSpPr>
          <p:cNvPr id="30" name="Shape 27"/>
          <p:cNvSpPr/>
          <p:nvPr/>
        </p:nvSpPr>
        <p:spPr>
          <a:xfrm>
            <a:off x="6197600" y="5207000"/>
            <a:ext cx="38100" cy="698500"/>
          </a:xfrm>
          <a:prstGeom prst="rect">
            <a:avLst/>
          </a:prstGeom>
          <a:solidFill>
            <a:srgbClr val="0A7A5C"/>
          </a:solidFill>
          <a:ln w="12700">
            <a:solidFill>
              <a:srgbClr val="0A7A5C"/>
            </a:solidFill>
            <a:prstDash val="solid"/>
          </a:ln>
        </p:spPr>
      </p:sp>
      <p:sp>
        <p:nvSpPr>
          <p:cNvPr id="31" name="Text 28"/>
          <p:cNvSpPr txBox="1"/>
          <p:nvPr/>
        </p:nvSpPr>
        <p:spPr>
          <a:xfrm>
            <a:off x="6362700" y="5181600"/>
            <a:ext cx="2413000" cy="381000"/>
          </a:xfrm>
          <a:prstGeom prst="rect">
            <a:avLst/>
          </a:prstGeom>
          <a:noFill/>
          <a:ln/>
        </p:spPr>
        <p:txBody>
          <a:bodyPr wrap="square" lIns="0" tIns="0" rIns="0" bIns="0" rtlCol="0" anchor="t"/>
          <a:lstStyle/>
          <a:p>
            <a:pPr indent="0" marL="0">
              <a:buNone/>
            </a:pPr>
            <a:r>
              <a:rPr lang="en-US" sz="2400" b="1" dirty="0">
                <a:solidFill>
                  <a:srgbClr val="16302A"/>
                </a:solidFill>
                <a:latin typeface="Arial" pitchFamily="34" charset="0"/>
                <a:ea typeface="Arial" pitchFamily="34" charset="-122"/>
                <a:cs typeface="Arial" pitchFamily="34" charset="-120"/>
              </a:rPr>
              <a:t>95%</a:t>
            </a:r>
            <a:endParaRPr lang="en-US" sz="2400" dirty="0"/>
          </a:p>
        </p:txBody>
      </p:sp>
      <p:sp>
        <p:nvSpPr>
          <p:cNvPr id="32" name="Text 29"/>
          <p:cNvSpPr txBox="1"/>
          <p:nvPr/>
        </p:nvSpPr>
        <p:spPr>
          <a:xfrm>
            <a:off x="6362700" y="5588000"/>
            <a:ext cx="2349500" cy="355600"/>
          </a:xfrm>
          <a:prstGeom prst="rect">
            <a:avLst/>
          </a:prstGeom>
          <a:noFill/>
          <a:ln/>
        </p:spPr>
        <p:txBody>
          <a:bodyPr wrap="square" lIns="0" tIns="0" rIns="0" bIns="0" rtlCol="0" anchor="t"/>
          <a:lstStyle/>
          <a:p>
            <a:pPr indent="0" marL="0">
              <a:buNone/>
            </a:pPr>
            <a:r>
              <a:rPr lang="en-US" sz="1200" dirty="0">
                <a:solidFill>
                  <a:srgbClr val="4F6660"/>
                </a:solidFill>
                <a:latin typeface="Calibri" pitchFamily="34" charset="0"/>
                <a:ea typeface="Calibri" pitchFamily="34" charset="-122"/>
                <a:cs typeface="Calibri" pitchFamily="34" charset="-120"/>
              </a:rPr>
              <a:t>of given names right, for about half of player time</a:t>
            </a:r>
            <a:endParaRPr lang="en-US" sz="1200" dirty="0"/>
          </a:p>
        </p:txBody>
      </p:sp>
      <p:sp>
        <p:nvSpPr>
          <p:cNvPr id="33" name="Shape 30"/>
          <p:cNvSpPr/>
          <p:nvPr/>
        </p:nvSpPr>
        <p:spPr>
          <a:xfrm>
            <a:off x="8890000" y="5207000"/>
            <a:ext cx="38100" cy="698500"/>
          </a:xfrm>
          <a:prstGeom prst="rect">
            <a:avLst/>
          </a:prstGeom>
          <a:solidFill>
            <a:srgbClr val="0A7A5C"/>
          </a:solidFill>
          <a:ln w="12700">
            <a:solidFill>
              <a:srgbClr val="0A7A5C"/>
            </a:solidFill>
            <a:prstDash val="solid"/>
          </a:ln>
        </p:spPr>
      </p:sp>
      <p:sp>
        <p:nvSpPr>
          <p:cNvPr id="34" name="Text 31"/>
          <p:cNvSpPr txBox="1"/>
          <p:nvPr/>
        </p:nvSpPr>
        <p:spPr>
          <a:xfrm>
            <a:off x="9055100" y="5181600"/>
            <a:ext cx="2413000" cy="381000"/>
          </a:xfrm>
          <a:prstGeom prst="rect">
            <a:avLst/>
          </a:prstGeom>
          <a:noFill/>
          <a:ln/>
        </p:spPr>
        <p:txBody>
          <a:bodyPr wrap="square" lIns="0" tIns="0" rIns="0" bIns="0" rtlCol="0" anchor="t"/>
          <a:lstStyle/>
          <a:p>
            <a:pPr indent="0" marL="0">
              <a:buNone/>
            </a:pPr>
            <a:r>
              <a:rPr lang="en-US" sz="2400" b="1" dirty="0">
                <a:solidFill>
                  <a:srgbClr val="16302A"/>
                </a:solidFill>
                <a:latin typeface="Arial" pitchFamily="34" charset="0"/>
                <a:ea typeface="Arial" pitchFamily="34" charset="-122"/>
                <a:cs typeface="Arial" pitchFamily="34" charset="-120"/>
              </a:rPr>
              <a:t>48.9 → 53.0%</a:t>
            </a:r>
            <a:endParaRPr lang="en-US" sz="2400" dirty="0"/>
          </a:p>
        </p:txBody>
      </p:sp>
      <p:sp>
        <p:nvSpPr>
          <p:cNvPr id="35" name="Text 32"/>
          <p:cNvSpPr txBox="1"/>
          <p:nvPr/>
        </p:nvSpPr>
        <p:spPr>
          <a:xfrm>
            <a:off x="9055100" y="5588000"/>
            <a:ext cx="2349500" cy="355600"/>
          </a:xfrm>
          <a:prstGeom prst="rect">
            <a:avLst/>
          </a:prstGeom>
          <a:noFill/>
          <a:ln/>
        </p:spPr>
        <p:txBody>
          <a:bodyPr wrap="square" lIns="0" tIns="0" rIns="0" bIns="0" rtlCol="0" anchor="t"/>
          <a:lstStyle/>
          <a:p>
            <a:pPr indent="0" marL="0">
              <a:buNone/>
            </a:pPr>
            <a:r>
              <a:rPr lang="en-US" sz="1200" dirty="0">
                <a:solidFill>
                  <a:srgbClr val="4F6660"/>
                </a:solidFill>
                <a:latin typeface="Calibri" pitchFamily="34" charset="0"/>
                <a:ea typeface="Calibri" pitchFamily="34" charset="-122"/>
                <a:cs typeface="Calibri" pitchFamily="34" charset="-120"/>
              </a:rPr>
              <a:t>right name, 19 → 48 training games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6EFEA"/>
        </a:solidFill>
      </p:bgPr>
    </p:bg>
    <p:spTree>
      <p:nvGrpSpPr>
        <p:cNvPr id="1" name=""/>
        <p:cNvGrpSpPr/>
        <p:nvPr/>
      </p:nvGrpSpPr>
      <p:grpSpPr>
        <a:xfrm>
          <a:off x="0" y="0"/>
          <a:ext cx="0" cy="0"/>
          <a:chOff x="0" y="0"/>
          <a:chExt cx="0" cy="0"/>
        </a:xfrm>
      </p:grpSpPr>
      <p:sp>
        <p:nvSpPr>
          <p:cNvPr id="3" name="Text 0"/>
          <p:cNvSpPr txBox="1"/>
          <p:nvPr/>
        </p:nvSpPr>
        <p:spPr>
          <a:xfrm>
            <a:off x="812800" y="508000"/>
            <a:ext cx="10566400" cy="215900"/>
          </a:xfrm>
          <a:prstGeom prst="rect">
            <a:avLst/>
          </a:prstGeom>
          <a:noFill/>
          <a:ln/>
        </p:spPr>
        <p:txBody>
          <a:bodyPr wrap="square" lIns="0" tIns="0" rIns="0" bIns="0" rtlCol="0" anchor="t"/>
          <a:lstStyle/>
          <a:p>
            <a:pPr indent="0" marL="0">
              <a:buNone/>
            </a:pPr>
            <a:r>
              <a:rPr lang="en-US" sz="1200" b="1" spc="200" kern="0" dirty="0">
                <a:solidFill>
                  <a:srgbClr val="0A7A5C"/>
                </a:solidFill>
                <a:latin typeface="Calibri" pitchFamily="34" charset="0"/>
                <a:ea typeface="Calibri" pitchFamily="34" charset="-122"/>
                <a:cs typeface="Calibri" pitchFamily="34" charset="-120"/>
              </a:rPr>
              <a:t>MODEL DEEP DIVE 3 OF 3</a:t>
            </a:r>
            <a:endParaRPr lang="en-US" sz="1200" dirty="0"/>
          </a:p>
        </p:txBody>
      </p:sp>
      <p:sp>
        <p:nvSpPr>
          <p:cNvPr id="4" name="Text 1"/>
          <p:cNvSpPr txBox="1"/>
          <p:nvPr/>
        </p:nvSpPr>
        <p:spPr>
          <a:xfrm>
            <a:off x="812800" y="762000"/>
            <a:ext cx="10566400" cy="571500"/>
          </a:xfrm>
          <a:prstGeom prst="rect">
            <a:avLst/>
          </a:prstGeom>
          <a:noFill/>
          <a:ln/>
        </p:spPr>
        <p:txBody>
          <a:bodyPr wrap="square" lIns="0" tIns="0" rIns="0" bIns="0" rtlCol="0" anchor="ctr"/>
          <a:lstStyle/>
          <a:p>
            <a:pPr indent="0" marL="0">
              <a:buNone/>
            </a:pPr>
            <a:r>
              <a:rPr lang="en-US" sz="3000" b="1" dirty="0">
                <a:solidFill>
                  <a:srgbClr val="16302A"/>
                </a:solidFill>
                <a:latin typeface="Arial" pitchFamily="34" charset="0"/>
                <a:ea typeface="Arial" pitchFamily="34" charset="-122"/>
                <a:cs typeface="Arial" pitchFamily="34" charset="-120"/>
              </a:rPr>
              <a:t>Understanding the play: the action spotter</a:t>
            </a:r>
            <a:endParaRPr lang="en-US" sz="3000" dirty="0"/>
          </a:p>
        </p:txBody>
      </p:sp>
      <p:sp>
        <p:nvSpPr>
          <p:cNvPr id="5" name="Text 2"/>
          <p:cNvSpPr txBox="1"/>
          <p:nvPr/>
        </p:nvSpPr>
        <p:spPr>
          <a:xfrm>
            <a:off x="812800" y="6254750"/>
            <a:ext cx="5715000" cy="190500"/>
          </a:xfrm>
          <a:prstGeom prst="rect">
            <a:avLst/>
          </a:prstGeom>
          <a:noFill/>
          <a:ln/>
        </p:spPr>
        <p:txBody>
          <a:bodyPr wrap="square" lIns="0" tIns="0" rIns="0" bIns="0" rtlCol="0" anchor="t"/>
          <a:lstStyle/>
          <a:p>
            <a:pPr indent="0" marL="0">
              <a:buNone/>
            </a:pPr>
            <a:r>
              <a:rPr lang="en-US" sz="1200" dirty="0">
                <a:solidFill>
                  <a:srgbClr val="4F6660"/>
                </a:solidFill>
                <a:latin typeface="Calibri" pitchFamily="34" charset="0"/>
                <a:ea typeface="Calibri" pitchFamily="34" charset="-122"/>
                <a:cs typeface="Calibri" pitchFamily="34" charset="-120"/>
              </a:rPr>
              <a:t>PitchProfile · AAI3001</a:t>
            </a:r>
            <a:endParaRPr lang="en-US" sz="1200" dirty="0"/>
          </a:p>
        </p:txBody>
      </p:sp>
      <p:sp>
        <p:nvSpPr>
          <p:cNvPr id="6" name="Text 3"/>
          <p:cNvSpPr txBox="1"/>
          <p:nvPr/>
        </p:nvSpPr>
        <p:spPr>
          <a:xfrm>
            <a:off x="10109200" y="6254750"/>
            <a:ext cx="1270000" cy="190500"/>
          </a:xfrm>
          <a:prstGeom prst="rect">
            <a:avLst/>
          </a:prstGeom>
          <a:noFill/>
          <a:ln/>
        </p:spPr>
        <p:txBody>
          <a:bodyPr wrap="square" lIns="0" tIns="0" rIns="0" bIns="0" rtlCol="0" anchor="t"/>
          <a:lstStyle/>
          <a:p>
            <a:pPr algn="r" indent="0" marL="0">
              <a:buNone/>
            </a:pPr>
            <a:r>
              <a:rPr lang="en-US" sz="1200" dirty="0">
                <a:solidFill>
                  <a:srgbClr val="4F6660"/>
                </a:solidFill>
                <a:latin typeface="Calibri" pitchFamily="34" charset="0"/>
                <a:ea typeface="Calibri" pitchFamily="34" charset="-122"/>
                <a:cs typeface="Calibri" pitchFamily="34" charset="-120"/>
              </a:rPr>
              <a:t>10</a:t>
            </a:r>
            <a:endParaRPr lang="en-US" sz="1200" dirty="0"/>
          </a:p>
        </p:txBody>
      </p:sp>
      <p:sp>
        <p:nvSpPr>
          <p:cNvPr id="7" name="Shape 4"/>
          <p:cNvSpPr/>
          <p:nvPr/>
        </p:nvSpPr>
        <p:spPr>
          <a:xfrm>
            <a:off x="812800" y="1492250"/>
            <a:ext cx="6286500" cy="4445000"/>
          </a:xfrm>
          <a:prstGeom prst="roundRect">
            <a:avLst>
              <a:gd name="adj" fmla="val 2057"/>
            </a:avLst>
          </a:prstGeom>
          <a:solidFill>
            <a:srgbClr val="FBFCFA"/>
          </a:solidFill>
          <a:ln w="9525">
            <a:solidFill>
              <a:srgbClr val="D5E1DA"/>
            </a:solidFill>
            <a:prstDash val="solid"/>
          </a:ln>
        </p:spPr>
      </p:sp>
      <p:sp>
        <p:nvSpPr>
          <p:cNvPr id="8" name="Text 5"/>
          <p:cNvSpPr txBox="1"/>
          <p:nvPr/>
        </p:nvSpPr>
        <p:spPr>
          <a:xfrm>
            <a:off x="990600" y="1651000"/>
            <a:ext cx="5715000" cy="317500"/>
          </a:xfrm>
          <a:prstGeom prst="rect">
            <a:avLst/>
          </a:prstGeom>
          <a:noFill/>
          <a:ln/>
        </p:spPr>
        <p:txBody>
          <a:bodyPr wrap="square" lIns="0" tIns="0" rIns="0" bIns="0" rtlCol="0" anchor="t"/>
          <a:lstStyle/>
          <a:p>
            <a:pPr indent="0" marL="0">
              <a:buNone/>
            </a:pPr>
            <a:r>
              <a:rPr lang="en-US" sz="1700" b="1" dirty="0">
                <a:solidFill>
                  <a:srgbClr val="16302A"/>
                </a:solidFill>
                <a:latin typeface="Arial" pitchFamily="34" charset="0"/>
                <a:ea typeface="Arial" pitchFamily="34" charset="-122"/>
                <a:cs typeface="Arial" pitchFamily="34" charset="-120"/>
              </a:rPr>
              <a:t>T-DEED team ball-action spotter</a:t>
            </a:r>
            <a:endParaRPr lang="en-US" sz="1700" dirty="0"/>
          </a:p>
        </p:txBody>
      </p:sp>
      <p:sp>
        <p:nvSpPr>
          <p:cNvPr id="9" name="Shape 6"/>
          <p:cNvSpPr/>
          <p:nvPr/>
        </p:nvSpPr>
        <p:spPr>
          <a:xfrm>
            <a:off x="990600" y="2019300"/>
            <a:ext cx="4431030" cy="228600"/>
          </a:xfrm>
          <a:prstGeom prst="roundRect">
            <a:avLst>
              <a:gd name="adj" fmla="val 60000"/>
            </a:avLst>
          </a:prstGeom>
          <a:solidFill>
            <a:srgbClr val="CDEEDD"/>
          </a:solidFill>
          <a:ln w="6350">
            <a:solidFill>
              <a:srgbClr val="CDEEDD"/>
            </a:solidFill>
            <a:prstDash val="solid"/>
          </a:ln>
        </p:spPr>
      </p:sp>
      <p:sp>
        <p:nvSpPr>
          <p:cNvPr id="10" name="Text 7"/>
          <p:cNvSpPr txBox="1"/>
          <p:nvPr/>
        </p:nvSpPr>
        <p:spPr>
          <a:xfrm>
            <a:off x="990600" y="2019300"/>
            <a:ext cx="4431030" cy="228600"/>
          </a:xfrm>
          <a:prstGeom prst="rect">
            <a:avLst/>
          </a:prstGeom>
          <a:noFill/>
          <a:ln/>
        </p:spPr>
        <p:txBody>
          <a:bodyPr wrap="square" lIns="0" tIns="0" rIns="0" bIns="0" rtlCol="0" anchor="ctr"/>
          <a:lstStyle/>
          <a:p>
            <a:pPr algn="ctr" indent="0" marL="0">
              <a:buNone/>
            </a:pPr>
            <a:r>
              <a:rPr lang="en-US" sz="1100" b="1" dirty="0">
                <a:solidFill>
                  <a:srgbClr val="07573F"/>
                </a:solidFill>
                <a:latin typeface="Calibri" pitchFamily="34" charset="0"/>
                <a:ea typeface="Calibri" pitchFamily="34" charset="-122"/>
                <a:cs typeface="Calibri" pitchFamily="34" charset="-120"/>
              </a:rPr>
              <a:t>Fine-tuned in this project · SoccerNet 2025 baseline</a:t>
            </a:r>
            <a:endParaRPr lang="en-US" sz="1100" dirty="0"/>
          </a:p>
        </p:txBody>
      </p:sp>
      <p:sp>
        <p:nvSpPr>
          <p:cNvPr id="11" name="Shape 8"/>
          <p:cNvSpPr/>
          <p:nvPr/>
        </p:nvSpPr>
        <p:spPr>
          <a:xfrm>
            <a:off x="990600" y="2444750"/>
            <a:ext cx="1257300" cy="660400"/>
          </a:xfrm>
          <a:prstGeom prst="roundRect">
            <a:avLst>
              <a:gd name="adj" fmla="val 8308"/>
            </a:avLst>
          </a:prstGeom>
          <a:solidFill>
            <a:srgbClr val="E6EFEA"/>
          </a:solidFill>
          <a:ln w="12700">
            <a:solidFill>
              <a:srgbClr val="E6EFEA"/>
            </a:solidFill>
            <a:prstDash val="solid"/>
          </a:ln>
        </p:spPr>
      </p:sp>
      <p:sp>
        <p:nvSpPr>
          <p:cNvPr id="12" name="Text 9"/>
          <p:cNvSpPr txBox="1"/>
          <p:nvPr/>
        </p:nvSpPr>
        <p:spPr>
          <a:xfrm>
            <a:off x="1066800" y="2495550"/>
            <a:ext cx="1117600" cy="571500"/>
          </a:xfrm>
          <a:prstGeom prst="rect">
            <a:avLst/>
          </a:prstGeom>
          <a:noFill/>
          <a:ln/>
        </p:spPr>
        <p:txBody>
          <a:bodyPr wrap="square" lIns="0" tIns="0" rIns="0" bIns="0" rtlCol="0" anchor="ctr"/>
          <a:lstStyle/>
          <a:p>
            <a:pPr indent="0" marL="0">
              <a:buNone/>
            </a:pPr>
            <a:r>
              <a:rPr lang="en-US" sz="1100" b="1" dirty="0">
                <a:solidFill>
                  <a:srgbClr val="16302A"/>
                </a:solidFill>
                <a:latin typeface="Calibri" pitchFamily="34" charset="0"/>
                <a:ea typeface="Calibri" pitchFamily="34" charset="-122"/>
                <a:cs typeface="Calibri" pitchFamily="34" charset="-120"/>
              </a:rPr>
              <a:t>Clip</a:t>
            </a:r>
            <a:endParaRPr lang="en-US" sz="1100" dirty="0"/>
          </a:p>
          <a:p>
            <a:pPr indent="0" marL="0">
              <a:buNone/>
            </a:pPr>
            <a:r>
              <a:rPr lang="en-US" sz="1100" dirty="0">
                <a:solidFill>
                  <a:srgbClr val="16302A"/>
                </a:solidFill>
                <a:latin typeface="Calibri" pitchFamily="34" charset="0"/>
                <a:ea typeface="Calibri" pitchFamily="34" charset="-122"/>
                <a:cs typeface="Calibri" pitchFamily="34" charset="-120"/>
              </a:rPr>
              <a:t>100 frames, 8 s, 796×448</a:t>
            </a:r>
            <a:endParaRPr lang="en-US" sz="1100" dirty="0"/>
          </a:p>
        </p:txBody>
      </p:sp>
      <p:sp>
        <p:nvSpPr>
          <p:cNvPr id="13" name="Text 10"/>
          <p:cNvSpPr txBox="1"/>
          <p:nvPr/>
        </p:nvSpPr>
        <p:spPr>
          <a:xfrm>
            <a:off x="2247900" y="2603500"/>
            <a:ext cx="241300" cy="254000"/>
          </a:xfrm>
          <a:prstGeom prst="rect">
            <a:avLst/>
          </a:prstGeom>
          <a:noFill/>
          <a:ln/>
        </p:spPr>
        <p:txBody>
          <a:bodyPr wrap="square" lIns="0" tIns="0" rIns="0" bIns="0" rtlCol="0" anchor="t"/>
          <a:lstStyle/>
          <a:p>
            <a:pPr algn="ctr" indent="0" marL="0">
              <a:buNone/>
            </a:pPr>
            <a:r>
              <a:rPr lang="en-US" sz="1600" b="1" dirty="0">
                <a:solidFill>
                  <a:srgbClr val="0A7A5C"/>
                </a:solidFill>
                <a:latin typeface="Arial" pitchFamily="34" charset="0"/>
                <a:ea typeface="Arial" pitchFamily="34" charset="-122"/>
                <a:cs typeface="Arial" pitchFamily="34" charset="-120"/>
              </a:rPr>
              <a:t>→</a:t>
            </a:r>
            <a:endParaRPr lang="en-US" sz="1600" dirty="0"/>
          </a:p>
        </p:txBody>
      </p:sp>
      <p:sp>
        <p:nvSpPr>
          <p:cNvPr id="14" name="Shape 11"/>
          <p:cNvSpPr/>
          <p:nvPr/>
        </p:nvSpPr>
        <p:spPr>
          <a:xfrm>
            <a:off x="2489200" y="2444750"/>
            <a:ext cx="1257300" cy="660400"/>
          </a:xfrm>
          <a:prstGeom prst="roundRect">
            <a:avLst>
              <a:gd name="adj" fmla="val 8308"/>
            </a:avLst>
          </a:prstGeom>
          <a:solidFill>
            <a:srgbClr val="E6EFEA"/>
          </a:solidFill>
          <a:ln w="12700">
            <a:solidFill>
              <a:srgbClr val="E6EFEA"/>
            </a:solidFill>
            <a:prstDash val="solid"/>
          </a:ln>
        </p:spPr>
      </p:sp>
      <p:sp>
        <p:nvSpPr>
          <p:cNvPr id="15" name="Text 12"/>
          <p:cNvSpPr txBox="1"/>
          <p:nvPr/>
        </p:nvSpPr>
        <p:spPr>
          <a:xfrm>
            <a:off x="2565400" y="2495550"/>
            <a:ext cx="1117600" cy="571500"/>
          </a:xfrm>
          <a:prstGeom prst="rect">
            <a:avLst/>
          </a:prstGeom>
          <a:noFill/>
          <a:ln/>
        </p:spPr>
        <p:txBody>
          <a:bodyPr wrap="square" lIns="0" tIns="0" rIns="0" bIns="0" rtlCol="0" anchor="ctr"/>
          <a:lstStyle/>
          <a:p>
            <a:pPr indent="0" marL="0">
              <a:buNone/>
            </a:pPr>
            <a:r>
              <a:rPr lang="en-US" sz="1100" b="1" dirty="0">
                <a:solidFill>
                  <a:srgbClr val="16302A"/>
                </a:solidFill>
                <a:latin typeface="Calibri" pitchFamily="34" charset="0"/>
                <a:ea typeface="Calibri" pitchFamily="34" charset="-122"/>
                <a:cs typeface="Calibri" pitchFamily="34" charset="-120"/>
              </a:rPr>
              <a:t>RegNet-Y 200MF</a:t>
            </a:r>
            <a:endParaRPr lang="en-US" sz="1100" dirty="0"/>
          </a:p>
          <a:p>
            <a:pPr indent="0" marL="0">
              <a:buNone/>
            </a:pPr>
            <a:r>
              <a:rPr lang="en-US" sz="1100" dirty="0">
                <a:solidFill>
                  <a:srgbClr val="16302A"/>
                </a:solidFill>
                <a:latin typeface="Calibri" pitchFamily="34" charset="0"/>
                <a:ea typeface="Calibri" pitchFamily="34" charset="-122"/>
                <a:cs typeface="Calibri" pitchFamily="34" charset="-120"/>
              </a:rPr>
              <a:t>gate-shift fusion</a:t>
            </a:r>
            <a:endParaRPr lang="en-US" sz="1100" dirty="0"/>
          </a:p>
        </p:txBody>
      </p:sp>
      <p:sp>
        <p:nvSpPr>
          <p:cNvPr id="16" name="Text 13"/>
          <p:cNvSpPr txBox="1"/>
          <p:nvPr/>
        </p:nvSpPr>
        <p:spPr>
          <a:xfrm>
            <a:off x="3746500" y="2603500"/>
            <a:ext cx="241300" cy="254000"/>
          </a:xfrm>
          <a:prstGeom prst="rect">
            <a:avLst/>
          </a:prstGeom>
          <a:noFill/>
          <a:ln/>
        </p:spPr>
        <p:txBody>
          <a:bodyPr wrap="square" lIns="0" tIns="0" rIns="0" bIns="0" rtlCol="0" anchor="t"/>
          <a:lstStyle/>
          <a:p>
            <a:pPr algn="ctr" indent="0" marL="0">
              <a:buNone/>
            </a:pPr>
            <a:r>
              <a:rPr lang="en-US" sz="1600" b="1" dirty="0">
                <a:solidFill>
                  <a:srgbClr val="0A7A5C"/>
                </a:solidFill>
                <a:latin typeface="Arial" pitchFamily="34" charset="0"/>
                <a:ea typeface="Arial" pitchFamily="34" charset="-122"/>
                <a:cs typeface="Arial" pitchFamily="34" charset="-120"/>
              </a:rPr>
              <a:t>→</a:t>
            </a:r>
            <a:endParaRPr lang="en-US" sz="1600" dirty="0"/>
          </a:p>
        </p:txBody>
      </p:sp>
      <p:sp>
        <p:nvSpPr>
          <p:cNvPr id="17" name="Shape 14"/>
          <p:cNvSpPr/>
          <p:nvPr/>
        </p:nvSpPr>
        <p:spPr>
          <a:xfrm>
            <a:off x="3987800" y="2444750"/>
            <a:ext cx="1257300" cy="660400"/>
          </a:xfrm>
          <a:prstGeom prst="roundRect">
            <a:avLst>
              <a:gd name="adj" fmla="val 8308"/>
            </a:avLst>
          </a:prstGeom>
          <a:solidFill>
            <a:srgbClr val="E6EFEA"/>
          </a:solidFill>
          <a:ln w="12700">
            <a:solidFill>
              <a:srgbClr val="E6EFEA"/>
            </a:solidFill>
            <a:prstDash val="solid"/>
          </a:ln>
        </p:spPr>
      </p:sp>
      <p:sp>
        <p:nvSpPr>
          <p:cNvPr id="18" name="Text 15"/>
          <p:cNvSpPr txBox="1"/>
          <p:nvPr/>
        </p:nvSpPr>
        <p:spPr>
          <a:xfrm>
            <a:off x="4064000" y="2495550"/>
            <a:ext cx="1117600" cy="571500"/>
          </a:xfrm>
          <a:prstGeom prst="rect">
            <a:avLst/>
          </a:prstGeom>
          <a:noFill/>
          <a:ln/>
        </p:spPr>
        <p:txBody>
          <a:bodyPr wrap="square" lIns="0" tIns="0" rIns="0" bIns="0" rtlCol="0" anchor="ctr"/>
          <a:lstStyle/>
          <a:p>
            <a:pPr indent="0" marL="0">
              <a:buNone/>
            </a:pPr>
            <a:r>
              <a:rPr lang="en-US" sz="1100" b="1" dirty="0">
                <a:solidFill>
                  <a:srgbClr val="16302A"/>
                </a:solidFill>
                <a:latin typeface="Calibri" pitchFamily="34" charset="0"/>
                <a:ea typeface="Calibri" pitchFamily="34" charset="-122"/>
                <a:cs typeface="Calibri" pitchFamily="34" charset="-120"/>
              </a:rPr>
              <a:t>Encoder-decoder</a:t>
            </a:r>
            <a:endParaRPr lang="en-US" sz="1100" dirty="0"/>
          </a:p>
          <a:p>
            <a:pPr indent="0" marL="0">
              <a:buNone/>
            </a:pPr>
            <a:r>
              <a:rPr lang="en-US" sz="1100" dirty="0">
                <a:solidFill>
                  <a:srgbClr val="16302A"/>
                </a:solidFill>
                <a:latin typeface="Calibri" pitchFamily="34" charset="0"/>
                <a:ea typeface="Calibri" pitchFamily="34" charset="-122"/>
                <a:cs typeface="Calibri" pitchFamily="34" charset="-120"/>
              </a:rPr>
              <a:t>over time</a:t>
            </a:r>
            <a:endParaRPr lang="en-US" sz="1100" dirty="0"/>
          </a:p>
        </p:txBody>
      </p:sp>
      <p:sp>
        <p:nvSpPr>
          <p:cNvPr id="19" name="Text 16"/>
          <p:cNvSpPr txBox="1"/>
          <p:nvPr/>
        </p:nvSpPr>
        <p:spPr>
          <a:xfrm>
            <a:off x="5245100" y="2603500"/>
            <a:ext cx="241300" cy="254000"/>
          </a:xfrm>
          <a:prstGeom prst="rect">
            <a:avLst/>
          </a:prstGeom>
          <a:noFill/>
          <a:ln/>
        </p:spPr>
        <p:txBody>
          <a:bodyPr wrap="square" lIns="0" tIns="0" rIns="0" bIns="0" rtlCol="0" anchor="t"/>
          <a:lstStyle/>
          <a:p>
            <a:pPr algn="ctr" indent="0" marL="0">
              <a:buNone/>
            </a:pPr>
            <a:r>
              <a:rPr lang="en-US" sz="1600" b="1" dirty="0">
                <a:solidFill>
                  <a:srgbClr val="0A7A5C"/>
                </a:solidFill>
                <a:latin typeface="Arial" pitchFamily="34" charset="0"/>
                <a:ea typeface="Arial" pitchFamily="34" charset="-122"/>
                <a:cs typeface="Arial" pitchFamily="34" charset="-120"/>
              </a:rPr>
              <a:t>→</a:t>
            </a:r>
            <a:endParaRPr lang="en-US" sz="1600" dirty="0"/>
          </a:p>
        </p:txBody>
      </p:sp>
      <p:sp>
        <p:nvSpPr>
          <p:cNvPr id="20" name="Shape 17"/>
          <p:cNvSpPr/>
          <p:nvPr/>
        </p:nvSpPr>
        <p:spPr>
          <a:xfrm>
            <a:off x="5486400" y="2444750"/>
            <a:ext cx="1257300" cy="660400"/>
          </a:xfrm>
          <a:prstGeom prst="roundRect">
            <a:avLst>
              <a:gd name="adj" fmla="val 8308"/>
            </a:avLst>
          </a:prstGeom>
          <a:solidFill>
            <a:srgbClr val="E6EFEA"/>
          </a:solidFill>
          <a:ln w="12700">
            <a:solidFill>
              <a:srgbClr val="E6EFEA"/>
            </a:solidFill>
            <a:prstDash val="solid"/>
          </a:ln>
        </p:spPr>
      </p:sp>
      <p:sp>
        <p:nvSpPr>
          <p:cNvPr id="21" name="Text 18"/>
          <p:cNvSpPr txBox="1"/>
          <p:nvPr/>
        </p:nvSpPr>
        <p:spPr>
          <a:xfrm>
            <a:off x="5562600" y="2495550"/>
            <a:ext cx="1117600" cy="571500"/>
          </a:xfrm>
          <a:prstGeom prst="rect">
            <a:avLst/>
          </a:prstGeom>
          <a:noFill/>
          <a:ln/>
        </p:spPr>
        <p:txBody>
          <a:bodyPr wrap="square" lIns="0" tIns="0" rIns="0" bIns="0" rtlCol="0" anchor="ctr"/>
          <a:lstStyle/>
          <a:p>
            <a:pPr indent="0" marL="0">
              <a:buNone/>
            </a:pPr>
            <a:r>
              <a:rPr lang="en-US" sz="1100" b="1" dirty="0">
                <a:solidFill>
                  <a:srgbClr val="16302A"/>
                </a:solidFill>
                <a:latin typeface="Calibri" pitchFamily="34" charset="0"/>
                <a:ea typeface="Calibri" pitchFamily="34" charset="-122"/>
                <a:cs typeface="Calibri" pitchFamily="34" charset="-120"/>
              </a:rPr>
              <a:t>Scores</a:t>
            </a:r>
            <a:endParaRPr lang="en-US" sz="1100" dirty="0"/>
          </a:p>
          <a:p>
            <a:pPr indent="0" marL="0">
              <a:buNone/>
            </a:pPr>
            <a:r>
              <a:rPr lang="en-US" sz="1100" dirty="0">
                <a:solidFill>
                  <a:srgbClr val="16302A"/>
                </a:solidFill>
                <a:latin typeface="Calibri" pitchFamily="34" charset="0"/>
                <a:ea typeface="Calibri" pitchFamily="34" charset="-122"/>
                <a:cs typeface="Calibri" pitchFamily="34" charset="-120"/>
              </a:rPr>
              <a:t>per frame, class, team</a:t>
            </a:r>
            <a:endParaRPr lang="en-US" sz="1100" dirty="0"/>
          </a:p>
        </p:txBody>
      </p:sp>
      <p:sp>
        <p:nvSpPr>
          <p:cNvPr id="22" name="Text 19"/>
          <p:cNvSpPr txBox="1"/>
          <p:nvPr/>
        </p:nvSpPr>
        <p:spPr>
          <a:xfrm>
            <a:off x="990600" y="3238500"/>
            <a:ext cx="5930900" cy="1397000"/>
          </a:xfrm>
          <a:prstGeom prst="rect">
            <a:avLst/>
          </a:prstGeom>
          <a:noFill/>
          <a:ln/>
        </p:spPr>
        <p:txBody>
          <a:bodyPr wrap="square" lIns="0" tIns="0" rIns="0" bIns="0" rtlCol="0" anchor="t"/>
          <a:lstStyle/>
          <a:p>
            <a:pPr indent="0" marL="0">
              <a:buNone/>
            </a:pPr>
            <a:r>
              <a:rPr lang="en-US" sz="1200" b="1" dirty="0">
                <a:solidFill>
                  <a:srgbClr val="16302A"/>
                </a:solidFill>
                <a:latin typeface="Calibri" pitchFamily="34" charset="0"/>
                <a:ea typeface="Calibri" pitchFamily="34" charset="-122"/>
                <a:cs typeface="Calibri" pitchFamily="34" charset="-120"/>
              </a:rPr>
              <a:t>Why a video model. </a:t>
            </a:r>
            <a:pPr indent="0" marL="0">
              <a:buNone/>
            </a:pPr>
            <a:r>
              <a:rPr lang="en-US" sz="1200" dirty="0">
                <a:solidFill>
                  <a:srgbClr val="16302A"/>
                </a:solidFill>
                <a:latin typeface="Calibri" pitchFamily="34" charset="0"/>
                <a:ea typeface="Calibri" pitchFamily="34" charset="-122"/>
                <a:cs typeface="Calibri" pitchFamily="34" charset="-120"/>
              </a:rPr>
              <a:t>Rules over 2D positions cannot tell tackles, blocks and headers from ordinary contacts, even on ground-truth positions. T-DEED watches the pixels and spots these, plus crosses, lofted passes, throw-ins and shots, with the acting team.</a:t>
            </a:r>
            <a:endParaRPr lang="en-US" sz="1200" dirty="0"/>
          </a:p>
          <a:p>
            <a:pPr indent="0" marL="0">
              <a:spcBef>
                <a:spcPts val="1000"/>
              </a:spcBef>
              <a:buNone/>
            </a:pPr>
            <a:r>
              <a:rPr lang="en-US" sz="1200" b="1" dirty="0">
                <a:solidFill>
                  <a:srgbClr val="16302A"/>
                </a:solidFill>
                <a:latin typeface="Calibri" pitchFamily="34" charset="0"/>
                <a:ea typeface="Calibri" pitchFamily="34" charset="-122"/>
                <a:cs typeface="Calibri" pitchFamily="34" charset="-120"/>
              </a:rPr>
              <a:t>How we trained it. </a:t>
            </a:r>
            <a:pPr indent="0" marL="0">
              <a:buNone/>
            </a:pPr>
            <a:r>
              <a:rPr lang="en-US" sz="1200" dirty="0">
                <a:solidFill>
                  <a:srgbClr val="16302A"/>
                </a:solidFill>
                <a:latin typeface="Calibri" pitchFamily="34" charset="0"/>
                <a:ea typeface="Calibri" pitchFamily="34" charset="-122"/>
                <a:cs typeface="Calibri" pitchFamily="34" charset="-120"/>
              </a:rPr>
              <a:t>3,000 steps on SoccerNet ball-action (5 games) and FOOTPASS (48 games). FOOTPASS classes act as partial labels; tackles and blocks are weighted up; early backbone stages are frozen.</a:t>
            </a:r>
            <a:endParaRPr lang="en-US" sz="1200" dirty="0"/>
          </a:p>
        </p:txBody>
      </p:sp>
      <p:sp>
        <p:nvSpPr>
          <p:cNvPr id="23" name="Shape 20"/>
          <p:cNvSpPr/>
          <p:nvPr/>
        </p:nvSpPr>
        <p:spPr>
          <a:xfrm>
            <a:off x="990600" y="4762500"/>
            <a:ext cx="5930900" cy="1047750"/>
          </a:xfrm>
          <a:prstGeom prst="roundRect">
            <a:avLst>
              <a:gd name="adj" fmla="val 6982"/>
            </a:avLst>
          </a:prstGeom>
          <a:solidFill>
            <a:srgbClr val="0F241D"/>
          </a:solidFill>
          <a:ln w="12700">
            <a:solidFill>
              <a:srgbClr val="0F241D"/>
            </a:solidFill>
            <a:prstDash val="solid"/>
          </a:ln>
        </p:spPr>
      </p:sp>
      <p:sp>
        <p:nvSpPr>
          <p:cNvPr id="24" name="Text 21"/>
          <p:cNvSpPr txBox="1"/>
          <p:nvPr/>
        </p:nvSpPr>
        <p:spPr>
          <a:xfrm>
            <a:off x="1143000" y="4826000"/>
            <a:ext cx="5588000" cy="177800"/>
          </a:xfrm>
          <a:prstGeom prst="rect">
            <a:avLst/>
          </a:prstGeom>
          <a:noFill/>
          <a:ln/>
        </p:spPr>
        <p:txBody>
          <a:bodyPr wrap="square" lIns="0" tIns="0" rIns="0" bIns="0" rtlCol="0" anchor="t"/>
          <a:lstStyle/>
          <a:p>
            <a:pPr indent="0" marL="0">
              <a:buNone/>
            </a:pPr>
            <a:r>
              <a:rPr lang="en-US" sz="1000" b="1" spc="100" kern="0" dirty="0">
                <a:solidFill>
                  <a:srgbClr val="BFD8CE"/>
                </a:solidFill>
                <a:latin typeface="Calibri" pitchFamily="34" charset="0"/>
                <a:ea typeface="Calibri" pitchFamily="34" charset="-122"/>
                <a:cs typeface="Calibri" pitchFamily="34" charset="-120"/>
              </a:rPr>
              <a:t>HELD-OUT AVERAGE PRECISION, BEFORE → AFTER FINE-TUNING</a:t>
            </a:r>
            <a:endParaRPr lang="en-US" sz="1000" dirty="0"/>
          </a:p>
        </p:txBody>
      </p:sp>
      <p:sp>
        <p:nvSpPr>
          <p:cNvPr id="25" name="Text 22"/>
          <p:cNvSpPr txBox="1"/>
          <p:nvPr/>
        </p:nvSpPr>
        <p:spPr>
          <a:xfrm>
            <a:off x="1143000" y="5016500"/>
            <a:ext cx="762000" cy="254000"/>
          </a:xfrm>
          <a:prstGeom prst="rect">
            <a:avLst/>
          </a:prstGeom>
          <a:noFill/>
          <a:ln/>
        </p:spPr>
        <p:txBody>
          <a:bodyPr wrap="square" lIns="0" tIns="0" rIns="0" bIns="0" rtlCol="0" anchor="ctr"/>
          <a:lstStyle/>
          <a:p>
            <a:pPr indent="0" marL="0">
              <a:buNone/>
            </a:pPr>
            <a:r>
              <a:rPr lang="en-US" sz="1200" dirty="0">
                <a:solidFill>
                  <a:srgbClr val="F3F6F2"/>
                </a:solidFill>
                <a:latin typeface="Calibri" pitchFamily="34" charset="0"/>
                <a:ea typeface="Calibri" pitchFamily="34" charset="-122"/>
                <a:cs typeface="Calibri" pitchFamily="34" charset="-120"/>
              </a:rPr>
              <a:t>Mean</a:t>
            </a:r>
            <a:endParaRPr lang="en-US" sz="1200" dirty="0"/>
          </a:p>
        </p:txBody>
      </p:sp>
      <p:sp>
        <p:nvSpPr>
          <p:cNvPr id="26" name="Text 23"/>
          <p:cNvSpPr txBox="1"/>
          <p:nvPr/>
        </p:nvSpPr>
        <p:spPr>
          <a:xfrm>
            <a:off x="1905000" y="5016500"/>
            <a:ext cx="508000" cy="254000"/>
          </a:xfrm>
          <a:prstGeom prst="rect">
            <a:avLst/>
          </a:prstGeom>
          <a:noFill/>
          <a:ln/>
        </p:spPr>
        <p:txBody>
          <a:bodyPr wrap="square" lIns="0" tIns="0" rIns="0" bIns="0" rtlCol="0" anchor="ctr"/>
          <a:lstStyle/>
          <a:p>
            <a:pPr indent="0" marL="0">
              <a:buNone/>
            </a:pPr>
            <a:r>
              <a:rPr lang="en-US" sz="1200" dirty="0">
                <a:solidFill>
                  <a:srgbClr val="BFD8CE"/>
                </a:solidFill>
                <a:latin typeface="Calibri" pitchFamily="34" charset="0"/>
                <a:ea typeface="Calibri" pitchFamily="34" charset="-122"/>
                <a:cs typeface="Calibri" pitchFamily="34" charset="-120"/>
              </a:rPr>
              <a:t>0.48</a:t>
            </a:r>
            <a:endParaRPr lang="en-US" sz="1200" dirty="0"/>
          </a:p>
        </p:txBody>
      </p:sp>
      <p:sp>
        <p:nvSpPr>
          <p:cNvPr id="27" name="Text 24"/>
          <p:cNvSpPr txBox="1"/>
          <p:nvPr/>
        </p:nvSpPr>
        <p:spPr>
          <a:xfrm>
            <a:off x="2413000" y="5016500"/>
            <a:ext cx="317500" cy="254000"/>
          </a:xfrm>
          <a:prstGeom prst="rect">
            <a:avLst/>
          </a:prstGeom>
          <a:noFill/>
          <a:ln/>
        </p:spPr>
        <p:txBody>
          <a:bodyPr wrap="square" lIns="0" tIns="0" rIns="0" bIns="0" rtlCol="0" anchor="ctr"/>
          <a:lstStyle/>
          <a:p>
            <a:pPr algn="ctr" indent="0" marL="0">
              <a:buNone/>
            </a:pPr>
            <a:r>
              <a:rPr lang="en-US" sz="1400" dirty="0">
                <a:solidFill>
                  <a:srgbClr val="8CE3B6"/>
                </a:solidFill>
                <a:latin typeface="Arial" pitchFamily="34" charset="0"/>
                <a:ea typeface="Arial" pitchFamily="34" charset="-122"/>
                <a:cs typeface="Arial" pitchFamily="34" charset="-120"/>
              </a:rPr>
              <a:t>→</a:t>
            </a:r>
            <a:endParaRPr lang="en-US" sz="1400" dirty="0"/>
          </a:p>
        </p:txBody>
      </p:sp>
      <p:sp>
        <p:nvSpPr>
          <p:cNvPr id="28" name="Text 25"/>
          <p:cNvSpPr txBox="1"/>
          <p:nvPr/>
        </p:nvSpPr>
        <p:spPr>
          <a:xfrm>
            <a:off x="2762250" y="5016500"/>
            <a:ext cx="762000" cy="254000"/>
          </a:xfrm>
          <a:prstGeom prst="rect">
            <a:avLst/>
          </a:prstGeom>
          <a:noFill/>
          <a:ln/>
        </p:spPr>
        <p:txBody>
          <a:bodyPr wrap="square" lIns="0" tIns="0" rIns="0" bIns="0" rtlCol="0" anchor="ctr"/>
          <a:lstStyle/>
          <a:p>
            <a:pPr indent="0" marL="0">
              <a:buNone/>
            </a:pPr>
            <a:r>
              <a:rPr lang="en-US" sz="1500" b="1" dirty="0">
                <a:solidFill>
                  <a:srgbClr val="8CE3B6"/>
                </a:solidFill>
                <a:latin typeface="Arial" pitchFamily="34" charset="0"/>
                <a:ea typeface="Arial" pitchFamily="34" charset="-122"/>
                <a:cs typeface="Arial" pitchFamily="34" charset="-120"/>
              </a:rPr>
              <a:t>0.60</a:t>
            </a:r>
            <a:endParaRPr lang="en-US" sz="1500" dirty="0"/>
          </a:p>
        </p:txBody>
      </p:sp>
      <p:sp>
        <p:nvSpPr>
          <p:cNvPr id="29" name="Text 26"/>
          <p:cNvSpPr txBox="1"/>
          <p:nvPr/>
        </p:nvSpPr>
        <p:spPr>
          <a:xfrm>
            <a:off x="4000500" y="5016500"/>
            <a:ext cx="762000" cy="254000"/>
          </a:xfrm>
          <a:prstGeom prst="rect">
            <a:avLst/>
          </a:prstGeom>
          <a:noFill/>
          <a:ln/>
        </p:spPr>
        <p:txBody>
          <a:bodyPr wrap="square" lIns="0" tIns="0" rIns="0" bIns="0" rtlCol="0" anchor="ctr"/>
          <a:lstStyle/>
          <a:p>
            <a:pPr indent="0" marL="0">
              <a:buNone/>
            </a:pPr>
            <a:r>
              <a:rPr lang="en-US" sz="1200" dirty="0">
                <a:solidFill>
                  <a:srgbClr val="F3F6F2"/>
                </a:solidFill>
                <a:latin typeface="Calibri" pitchFamily="34" charset="0"/>
                <a:ea typeface="Calibri" pitchFamily="34" charset="-122"/>
                <a:cs typeface="Calibri" pitchFamily="34" charset="-120"/>
              </a:rPr>
              <a:t>Headers</a:t>
            </a:r>
            <a:endParaRPr lang="en-US" sz="1200" dirty="0"/>
          </a:p>
        </p:txBody>
      </p:sp>
      <p:sp>
        <p:nvSpPr>
          <p:cNvPr id="30" name="Text 27"/>
          <p:cNvSpPr txBox="1"/>
          <p:nvPr/>
        </p:nvSpPr>
        <p:spPr>
          <a:xfrm>
            <a:off x="4762500" y="5016500"/>
            <a:ext cx="508000" cy="254000"/>
          </a:xfrm>
          <a:prstGeom prst="rect">
            <a:avLst/>
          </a:prstGeom>
          <a:noFill/>
          <a:ln/>
        </p:spPr>
        <p:txBody>
          <a:bodyPr wrap="square" lIns="0" tIns="0" rIns="0" bIns="0" rtlCol="0" anchor="ctr"/>
          <a:lstStyle/>
          <a:p>
            <a:pPr indent="0" marL="0">
              <a:buNone/>
            </a:pPr>
            <a:r>
              <a:rPr lang="en-US" sz="1200" dirty="0">
                <a:solidFill>
                  <a:srgbClr val="BFD8CE"/>
                </a:solidFill>
                <a:latin typeface="Calibri" pitchFamily="34" charset="0"/>
                <a:ea typeface="Calibri" pitchFamily="34" charset="-122"/>
                <a:cs typeface="Calibri" pitchFamily="34" charset="-120"/>
              </a:rPr>
              <a:t>0.64</a:t>
            </a:r>
            <a:endParaRPr lang="en-US" sz="1200" dirty="0"/>
          </a:p>
        </p:txBody>
      </p:sp>
      <p:sp>
        <p:nvSpPr>
          <p:cNvPr id="31" name="Text 28"/>
          <p:cNvSpPr txBox="1"/>
          <p:nvPr/>
        </p:nvSpPr>
        <p:spPr>
          <a:xfrm>
            <a:off x="5270500" y="5016500"/>
            <a:ext cx="317500" cy="254000"/>
          </a:xfrm>
          <a:prstGeom prst="rect">
            <a:avLst/>
          </a:prstGeom>
          <a:noFill/>
          <a:ln/>
        </p:spPr>
        <p:txBody>
          <a:bodyPr wrap="square" lIns="0" tIns="0" rIns="0" bIns="0" rtlCol="0" anchor="ctr"/>
          <a:lstStyle/>
          <a:p>
            <a:pPr algn="ctr" indent="0" marL="0">
              <a:buNone/>
            </a:pPr>
            <a:r>
              <a:rPr lang="en-US" sz="1400" dirty="0">
                <a:solidFill>
                  <a:srgbClr val="8CE3B6"/>
                </a:solidFill>
                <a:latin typeface="Arial" pitchFamily="34" charset="0"/>
                <a:ea typeface="Arial" pitchFamily="34" charset="-122"/>
                <a:cs typeface="Arial" pitchFamily="34" charset="-120"/>
              </a:rPr>
              <a:t>→</a:t>
            </a:r>
            <a:endParaRPr lang="en-US" sz="1400" dirty="0"/>
          </a:p>
        </p:txBody>
      </p:sp>
      <p:sp>
        <p:nvSpPr>
          <p:cNvPr id="32" name="Text 29"/>
          <p:cNvSpPr txBox="1"/>
          <p:nvPr/>
        </p:nvSpPr>
        <p:spPr>
          <a:xfrm>
            <a:off x="5619750" y="5016500"/>
            <a:ext cx="762000" cy="254000"/>
          </a:xfrm>
          <a:prstGeom prst="rect">
            <a:avLst/>
          </a:prstGeom>
          <a:noFill/>
          <a:ln/>
        </p:spPr>
        <p:txBody>
          <a:bodyPr wrap="square" lIns="0" tIns="0" rIns="0" bIns="0" rtlCol="0" anchor="ctr"/>
          <a:lstStyle/>
          <a:p>
            <a:pPr indent="0" marL="0">
              <a:buNone/>
            </a:pPr>
            <a:r>
              <a:rPr lang="en-US" sz="1500" b="1" dirty="0">
                <a:solidFill>
                  <a:srgbClr val="8CE3B6"/>
                </a:solidFill>
                <a:latin typeface="Arial" pitchFamily="34" charset="0"/>
                <a:ea typeface="Arial" pitchFamily="34" charset="-122"/>
                <a:cs typeface="Arial" pitchFamily="34" charset="-120"/>
              </a:rPr>
              <a:t>0.76</a:t>
            </a:r>
            <a:endParaRPr lang="en-US" sz="1500" dirty="0"/>
          </a:p>
        </p:txBody>
      </p:sp>
      <p:sp>
        <p:nvSpPr>
          <p:cNvPr id="33" name="Text 30"/>
          <p:cNvSpPr txBox="1"/>
          <p:nvPr/>
        </p:nvSpPr>
        <p:spPr>
          <a:xfrm>
            <a:off x="1143000" y="5283200"/>
            <a:ext cx="762000" cy="254000"/>
          </a:xfrm>
          <a:prstGeom prst="rect">
            <a:avLst/>
          </a:prstGeom>
          <a:noFill/>
          <a:ln/>
        </p:spPr>
        <p:txBody>
          <a:bodyPr wrap="square" lIns="0" tIns="0" rIns="0" bIns="0" rtlCol="0" anchor="ctr"/>
          <a:lstStyle/>
          <a:p>
            <a:pPr indent="0" marL="0">
              <a:buNone/>
            </a:pPr>
            <a:r>
              <a:rPr lang="en-US" sz="1200" dirty="0">
                <a:solidFill>
                  <a:srgbClr val="F3F6F2"/>
                </a:solidFill>
                <a:latin typeface="Calibri" pitchFamily="34" charset="0"/>
                <a:ea typeface="Calibri" pitchFamily="34" charset="-122"/>
                <a:cs typeface="Calibri" pitchFamily="34" charset="-120"/>
              </a:rPr>
              <a:t>Blocks</a:t>
            </a:r>
            <a:endParaRPr lang="en-US" sz="1200" dirty="0"/>
          </a:p>
        </p:txBody>
      </p:sp>
      <p:sp>
        <p:nvSpPr>
          <p:cNvPr id="34" name="Text 31"/>
          <p:cNvSpPr txBox="1"/>
          <p:nvPr/>
        </p:nvSpPr>
        <p:spPr>
          <a:xfrm>
            <a:off x="1905000" y="5283200"/>
            <a:ext cx="508000" cy="254000"/>
          </a:xfrm>
          <a:prstGeom prst="rect">
            <a:avLst/>
          </a:prstGeom>
          <a:noFill/>
          <a:ln/>
        </p:spPr>
        <p:txBody>
          <a:bodyPr wrap="square" lIns="0" tIns="0" rIns="0" bIns="0" rtlCol="0" anchor="ctr"/>
          <a:lstStyle/>
          <a:p>
            <a:pPr indent="0" marL="0">
              <a:buNone/>
            </a:pPr>
            <a:r>
              <a:rPr lang="en-US" sz="1200" dirty="0">
                <a:solidFill>
                  <a:srgbClr val="BFD8CE"/>
                </a:solidFill>
                <a:latin typeface="Calibri" pitchFamily="34" charset="0"/>
                <a:ea typeface="Calibri" pitchFamily="34" charset="-122"/>
                <a:cs typeface="Calibri" pitchFamily="34" charset="-120"/>
              </a:rPr>
              <a:t>0.18</a:t>
            </a:r>
            <a:endParaRPr lang="en-US" sz="1200" dirty="0"/>
          </a:p>
        </p:txBody>
      </p:sp>
      <p:sp>
        <p:nvSpPr>
          <p:cNvPr id="35" name="Text 32"/>
          <p:cNvSpPr txBox="1"/>
          <p:nvPr/>
        </p:nvSpPr>
        <p:spPr>
          <a:xfrm>
            <a:off x="2413000" y="5283200"/>
            <a:ext cx="317500" cy="254000"/>
          </a:xfrm>
          <a:prstGeom prst="rect">
            <a:avLst/>
          </a:prstGeom>
          <a:noFill/>
          <a:ln/>
        </p:spPr>
        <p:txBody>
          <a:bodyPr wrap="square" lIns="0" tIns="0" rIns="0" bIns="0" rtlCol="0" anchor="ctr"/>
          <a:lstStyle/>
          <a:p>
            <a:pPr algn="ctr" indent="0" marL="0">
              <a:buNone/>
            </a:pPr>
            <a:r>
              <a:rPr lang="en-US" sz="1400" dirty="0">
                <a:solidFill>
                  <a:srgbClr val="8CE3B6"/>
                </a:solidFill>
                <a:latin typeface="Arial" pitchFamily="34" charset="0"/>
                <a:ea typeface="Arial" pitchFamily="34" charset="-122"/>
                <a:cs typeface="Arial" pitchFamily="34" charset="-120"/>
              </a:rPr>
              <a:t>→</a:t>
            </a:r>
            <a:endParaRPr lang="en-US" sz="1400" dirty="0"/>
          </a:p>
        </p:txBody>
      </p:sp>
      <p:sp>
        <p:nvSpPr>
          <p:cNvPr id="36" name="Text 33"/>
          <p:cNvSpPr txBox="1"/>
          <p:nvPr/>
        </p:nvSpPr>
        <p:spPr>
          <a:xfrm>
            <a:off x="2762250" y="5283200"/>
            <a:ext cx="762000" cy="254000"/>
          </a:xfrm>
          <a:prstGeom prst="rect">
            <a:avLst/>
          </a:prstGeom>
          <a:noFill/>
          <a:ln/>
        </p:spPr>
        <p:txBody>
          <a:bodyPr wrap="square" lIns="0" tIns="0" rIns="0" bIns="0" rtlCol="0" anchor="ctr"/>
          <a:lstStyle/>
          <a:p>
            <a:pPr indent="0" marL="0">
              <a:buNone/>
            </a:pPr>
            <a:r>
              <a:rPr lang="en-US" sz="1500" b="1" dirty="0">
                <a:solidFill>
                  <a:srgbClr val="8CE3B6"/>
                </a:solidFill>
                <a:latin typeface="Arial" pitchFamily="34" charset="0"/>
                <a:ea typeface="Arial" pitchFamily="34" charset="-122"/>
                <a:cs typeface="Arial" pitchFamily="34" charset="-120"/>
              </a:rPr>
              <a:t>0.34</a:t>
            </a:r>
            <a:endParaRPr lang="en-US" sz="1500" dirty="0"/>
          </a:p>
        </p:txBody>
      </p:sp>
      <p:sp>
        <p:nvSpPr>
          <p:cNvPr id="37" name="Text 34"/>
          <p:cNvSpPr txBox="1"/>
          <p:nvPr/>
        </p:nvSpPr>
        <p:spPr>
          <a:xfrm>
            <a:off x="4000500" y="5283200"/>
            <a:ext cx="762000" cy="254000"/>
          </a:xfrm>
          <a:prstGeom prst="rect">
            <a:avLst/>
          </a:prstGeom>
          <a:noFill/>
          <a:ln/>
        </p:spPr>
        <p:txBody>
          <a:bodyPr wrap="square" lIns="0" tIns="0" rIns="0" bIns="0" rtlCol="0" anchor="ctr"/>
          <a:lstStyle/>
          <a:p>
            <a:pPr indent="0" marL="0">
              <a:buNone/>
            </a:pPr>
            <a:r>
              <a:rPr lang="en-US" sz="1200" dirty="0">
                <a:solidFill>
                  <a:srgbClr val="F3F6F2"/>
                </a:solidFill>
                <a:latin typeface="Calibri" pitchFamily="34" charset="0"/>
                <a:ea typeface="Calibri" pitchFamily="34" charset="-122"/>
                <a:cs typeface="Calibri" pitchFamily="34" charset="-120"/>
              </a:rPr>
              <a:t>Tackles</a:t>
            </a:r>
            <a:endParaRPr lang="en-US" sz="1200" dirty="0"/>
          </a:p>
        </p:txBody>
      </p:sp>
      <p:sp>
        <p:nvSpPr>
          <p:cNvPr id="38" name="Text 35"/>
          <p:cNvSpPr txBox="1"/>
          <p:nvPr/>
        </p:nvSpPr>
        <p:spPr>
          <a:xfrm>
            <a:off x="4762500" y="5283200"/>
            <a:ext cx="508000" cy="254000"/>
          </a:xfrm>
          <a:prstGeom prst="rect">
            <a:avLst/>
          </a:prstGeom>
          <a:noFill/>
          <a:ln/>
        </p:spPr>
        <p:txBody>
          <a:bodyPr wrap="square" lIns="0" tIns="0" rIns="0" bIns="0" rtlCol="0" anchor="ctr"/>
          <a:lstStyle/>
          <a:p>
            <a:pPr indent="0" marL="0">
              <a:buNone/>
            </a:pPr>
            <a:r>
              <a:rPr lang="en-US" sz="1200" dirty="0">
                <a:solidFill>
                  <a:srgbClr val="BFD8CE"/>
                </a:solidFill>
                <a:latin typeface="Calibri" pitchFamily="34" charset="0"/>
                <a:ea typeface="Calibri" pitchFamily="34" charset="-122"/>
                <a:cs typeface="Calibri" pitchFamily="34" charset="-120"/>
              </a:rPr>
              <a:t>0.02</a:t>
            </a:r>
            <a:endParaRPr lang="en-US" sz="1200" dirty="0"/>
          </a:p>
        </p:txBody>
      </p:sp>
      <p:sp>
        <p:nvSpPr>
          <p:cNvPr id="39" name="Text 36"/>
          <p:cNvSpPr txBox="1"/>
          <p:nvPr/>
        </p:nvSpPr>
        <p:spPr>
          <a:xfrm>
            <a:off x="5270500" y="5283200"/>
            <a:ext cx="317500" cy="254000"/>
          </a:xfrm>
          <a:prstGeom prst="rect">
            <a:avLst/>
          </a:prstGeom>
          <a:noFill/>
          <a:ln/>
        </p:spPr>
        <p:txBody>
          <a:bodyPr wrap="square" lIns="0" tIns="0" rIns="0" bIns="0" rtlCol="0" anchor="ctr"/>
          <a:lstStyle/>
          <a:p>
            <a:pPr algn="ctr" indent="0" marL="0">
              <a:buNone/>
            </a:pPr>
            <a:r>
              <a:rPr lang="en-US" sz="1400" dirty="0">
                <a:solidFill>
                  <a:srgbClr val="8CE3B6"/>
                </a:solidFill>
                <a:latin typeface="Arial" pitchFamily="34" charset="0"/>
                <a:ea typeface="Arial" pitchFamily="34" charset="-122"/>
                <a:cs typeface="Arial" pitchFamily="34" charset="-120"/>
              </a:rPr>
              <a:t>→</a:t>
            </a:r>
            <a:endParaRPr lang="en-US" sz="1400" dirty="0"/>
          </a:p>
        </p:txBody>
      </p:sp>
      <p:sp>
        <p:nvSpPr>
          <p:cNvPr id="40" name="Text 37"/>
          <p:cNvSpPr txBox="1"/>
          <p:nvPr/>
        </p:nvSpPr>
        <p:spPr>
          <a:xfrm>
            <a:off x="5619750" y="5283200"/>
            <a:ext cx="762000" cy="254000"/>
          </a:xfrm>
          <a:prstGeom prst="rect">
            <a:avLst/>
          </a:prstGeom>
          <a:noFill/>
          <a:ln/>
        </p:spPr>
        <p:txBody>
          <a:bodyPr wrap="square" lIns="0" tIns="0" rIns="0" bIns="0" rtlCol="0" anchor="ctr"/>
          <a:lstStyle/>
          <a:p>
            <a:pPr indent="0" marL="0">
              <a:buNone/>
            </a:pPr>
            <a:r>
              <a:rPr lang="en-US" sz="1500" b="1" dirty="0">
                <a:solidFill>
                  <a:srgbClr val="8CE3B6"/>
                </a:solidFill>
                <a:latin typeface="Arial" pitchFamily="34" charset="0"/>
                <a:ea typeface="Arial" pitchFamily="34" charset="-122"/>
                <a:cs typeface="Arial" pitchFamily="34" charset="-120"/>
              </a:rPr>
              <a:t>0.10</a:t>
            </a:r>
            <a:endParaRPr lang="en-US" sz="1500" dirty="0"/>
          </a:p>
        </p:txBody>
      </p:sp>
      <p:sp>
        <p:nvSpPr>
          <p:cNvPr id="41" name="Text 38"/>
          <p:cNvSpPr txBox="1"/>
          <p:nvPr/>
        </p:nvSpPr>
        <p:spPr>
          <a:xfrm>
            <a:off x="1143000" y="5562600"/>
            <a:ext cx="5588000" cy="190500"/>
          </a:xfrm>
          <a:prstGeom prst="rect">
            <a:avLst/>
          </a:prstGeom>
          <a:noFill/>
          <a:ln/>
        </p:spPr>
        <p:txBody>
          <a:bodyPr wrap="square" lIns="0" tIns="0" rIns="0" bIns="0" rtlCol="0" anchor="t"/>
          <a:lstStyle/>
          <a:p>
            <a:pPr indent="0" marL="0">
              <a:buNone/>
            </a:pPr>
            <a:r>
              <a:rPr lang="en-US" sz="1000" dirty="0">
                <a:solidFill>
                  <a:srgbClr val="BFD8CE"/>
                </a:solidFill>
                <a:latin typeface="Calibri" pitchFamily="34" charset="0"/>
                <a:ea typeface="Calibri" pitchFamily="34" charset="-122"/>
                <a:cs typeface="Calibri" pitchFamily="34" charset="-120"/>
              </a:rPr>
              <a:t>Mean is on FOOTPASS validation. Tackles are still weak, so they are reported as expected counts.</a:t>
            </a:r>
            <a:endParaRPr lang="en-US" sz="1000" dirty="0"/>
          </a:p>
        </p:txBody>
      </p:sp>
      <p:sp>
        <p:nvSpPr>
          <p:cNvPr id="42" name="Shape 39"/>
          <p:cNvSpPr/>
          <p:nvPr/>
        </p:nvSpPr>
        <p:spPr>
          <a:xfrm>
            <a:off x="7277100" y="1492250"/>
            <a:ext cx="4102100" cy="2095500"/>
          </a:xfrm>
          <a:prstGeom prst="roundRect">
            <a:avLst>
              <a:gd name="adj" fmla="val 4364"/>
            </a:avLst>
          </a:prstGeom>
          <a:solidFill>
            <a:srgbClr val="FBFCFA"/>
          </a:solidFill>
          <a:ln w="9525">
            <a:solidFill>
              <a:srgbClr val="D5E1DA"/>
            </a:solidFill>
            <a:prstDash val="solid"/>
          </a:ln>
        </p:spPr>
      </p:sp>
      <p:sp>
        <p:nvSpPr>
          <p:cNvPr id="43" name="Text 40"/>
          <p:cNvSpPr txBox="1"/>
          <p:nvPr/>
        </p:nvSpPr>
        <p:spPr>
          <a:xfrm>
            <a:off x="7454900" y="1638300"/>
            <a:ext cx="3746500" cy="279400"/>
          </a:xfrm>
          <a:prstGeom prst="rect">
            <a:avLst/>
          </a:prstGeom>
          <a:noFill/>
          <a:ln/>
        </p:spPr>
        <p:txBody>
          <a:bodyPr wrap="square" lIns="0" tIns="0" rIns="0" bIns="0" rtlCol="0" anchor="t"/>
          <a:lstStyle/>
          <a:p>
            <a:pPr indent="0" marL="0">
              <a:buNone/>
            </a:pPr>
            <a:r>
              <a:rPr lang="en-US" sz="1500" b="1" dirty="0">
                <a:solidFill>
                  <a:srgbClr val="16302A"/>
                </a:solidFill>
                <a:latin typeface="Arial" pitchFamily="34" charset="0"/>
                <a:ea typeface="Arial" pitchFamily="34" charset="-122"/>
                <a:cs typeface="Arial" pitchFamily="34" charset="-120"/>
              </a:rPr>
              <a:t>Shots: spotter beats the classifier</a:t>
            </a:r>
            <a:endParaRPr lang="en-US" sz="1500" dirty="0"/>
          </a:p>
        </p:txBody>
      </p:sp>
      <p:sp>
        <p:nvSpPr>
          <p:cNvPr id="44" name="Text 41"/>
          <p:cNvSpPr txBox="1"/>
          <p:nvPr/>
        </p:nvSpPr>
        <p:spPr>
          <a:xfrm>
            <a:off x="7454900" y="2000250"/>
            <a:ext cx="3746500" cy="1016000"/>
          </a:xfrm>
          <a:prstGeom prst="rect">
            <a:avLst/>
          </a:prstGeom>
          <a:noFill/>
          <a:ln/>
        </p:spPr>
        <p:txBody>
          <a:bodyPr wrap="square" lIns="0" tIns="0" rIns="0" bIns="0" rtlCol="0" anchor="t"/>
          <a:lstStyle/>
          <a:p>
            <a:pPr indent="0" marL="0">
              <a:buNone/>
            </a:pPr>
            <a:r>
              <a:rPr lang="en-US" sz="1300" dirty="0">
                <a:solidFill>
                  <a:srgbClr val="16302A"/>
                </a:solidFill>
                <a:latin typeface="Calibri" pitchFamily="34" charset="0"/>
                <a:ea typeface="Calibri" pitchFamily="34" charset="-122"/>
                <a:cs typeface="Calibri" pitchFamily="34" charset="-120"/>
              </a:rPr>
              <a:t>T-DEED: </a:t>
            </a:r>
            <a:pPr indent="0" marL="0">
              <a:buNone/>
            </a:pPr>
            <a:r>
              <a:rPr lang="en-US" sz="1300" b="1" dirty="0">
                <a:solidFill>
                  <a:srgbClr val="16302A"/>
                </a:solidFill>
                <a:latin typeface="Calibri" pitchFamily="34" charset="0"/>
                <a:ea typeface="Calibri" pitchFamily="34" charset="-122"/>
                <a:cs typeface="Calibri" pitchFamily="34" charset="-120"/>
              </a:rPr>
              <a:t>0.71 precision, 0.70 recall.</a:t>
            </a:r>
            <a:endParaRPr lang="en-US" sz="1300" dirty="0"/>
          </a:p>
          <a:p>
            <a:pPr indent="0" marL="0">
              <a:spcBef>
                <a:spcPts val="800"/>
              </a:spcBef>
              <a:buNone/>
            </a:pPr>
            <a:r>
              <a:rPr lang="en-US" sz="1300" dirty="0">
                <a:solidFill>
                  <a:srgbClr val="16302A"/>
                </a:solidFill>
                <a:latin typeface="Calibri" pitchFamily="34" charset="0"/>
                <a:ea typeface="Calibri" pitchFamily="34" charset="-122"/>
                <a:cs typeface="Calibri" pitchFamily="34" charset="-120"/>
              </a:rPr>
              <a:t>Gradient-boosted classifier (26 features): 0.36 and 0.47. Kept as the fallback.</a:t>
            </a:r>
            <a:endParaRPr lang="en-US" sz="1300" dirty="0"/>
          </a:p>
        </p:txBody>
      </p:sp>
      <p:sp>
        <p:nvSpPr>
          <p:cNvPr id="45" name="Shape 42"/>
          <p:cNvSpPr/>
          <p:nvPr/>
        </p:nvSpPr>
        <p:spPr>
          <a:xfrm>
            <a:off x="7454900" y="3079750"/>
            <a:ext cx="1130300" cy="215900"/>
          </a:xfrm>
          <a:prstGeom prst="roundRect">
            <a:avLst>
              <a:gd name="adj" fmla="val 63529"/>
            </a:avLst>
          </a:prstGeom>
          <a:solidFill>
            <a:srgbClr val="CDEEDD"/>
          </a:solidFill>
          <a:ln w="6350">
            <a:solidFill>
              <a:srgbClr val="CDEEDD"/>
            </a:solidFill>
            <a:prstDash val="solid"/>
          </a:ln>
        </p:spPr>
      </p:sp>
      <p:sp>
        <p:nvSpPr>
          <p:cNvPr id="46" name="Text 43"/>
          <p:cNvSpPr txBox="1"/>
          <p:nvPr/>
        </p:nvSpPr>
        <p:spPr>
          <a:xfrm>
            <a:off x="7454900" y="3079750"/>
            <a:ext cx="1130300" cy="215900"/>
          </a:xfrm>
          <a:prstGeom prst="rect">
            <a:avLst/>
          </a:prstGeom>
          <a:noFill/>
          <a:ln/>
        </p:spPr>
        <p:txBody>
          <a:bodyPr wrap="square" lIns="0" tIns="0" rIns="0" bIns="0" rtlCol="0" anchor="ctr"/>
          <a:lstStyle/>
          <a:p>
            <a:pPr algn="ctr" indent="0" marL="0">
              <a:buNone/>
            </a:pPr>
            <a:r>
              <a:rPr lang="en-US" sz="1000" b="1" dirty="0">
                <a:solidFill>
                  <a:srgbClr val="07573F"/>
                </a:solidFill>
                <a:latin typeface="Calibri" pitchFamily="34" charset="0"/>
                <a:ea typeface="Calibri" pitchFamily="34" charset="-122"/>
                <a:cs typeface="Calibri" pitchFamily="34" charset="-120"/>
              </a:rPr>
              <a:t>Trained here</a:t>
            </a:r>
            <a:endParaRPr lang="en-US" sz="1000" dirty="0"/>
          </a:p>
        </p:txBody>
      </p:sp>
      <p:sp>
        <p:nvSpPr>
          <p:cNvPr id="47" name="Shape 44"/>
          <p:cNvSpPr/>
          <p:nvPr/>
        </p:nvSpPr>
        <p:spPr>
          <a:xfrm>
            <a:off x="7277100" y="3778250"/>
            <a:ext cx="4102100" cy="2159000"/>
          </a:xfrm>
          <a:prstGeom prst="roundRect">
            <a:avLst>
              <a:gd name="adj" fmla="val 4235"/>
            </a:avLst>
          </a:prstGeom>
          <a:solidFill>
            <a:srgbClr val="FBFCFA"/>
          </a:solidFill>
          <a:ln w="9525">
            <a:solidFill>
              <a:srgbClr val="D5E1DA"/>
            </a:solidFill>
            <a:prstDash val="solid"/>
          </a:ln>
        </p:spPr>
      </p:sp>
      <p:sp>
        <p:nvSpPr>
          <p:cNvPr id="48" name="Text 45"/>
          <p:cNvSpPr txBox="1"/>
          <p:nvPr/>
        </p:nvSpPr>
        <p:spPr>
          <a:xfrm>
            <a:off x="7454900" y="3924300"/>
            <a:ext cx="3746500" cy="279400"/>
          </a:xfrm>
          <a:prstGeom prst="rect">
            <a:avLst/>
          </a:prstGeom>
          <a:noFill/>
          <a:ln/>
        </p:spPr>
        <p:txBody>
          <a:bodyPr wrap="square" lIns="0" tIns="0" rIns="0" bIns="0" rtlCol="0" anchor="t"/>
          <a:lstStyle/>
          <a:p>
            <a:pPr indent="0" marL="0">
              <a:buNone/>
            </a:pPr>
            <a:r>
              <a:rPr lang="en-US" sz="1500" b="1" dirty="0">
                <a:solidFill>
                  <a:srgbClr val="16302A"/>
                </a:solidFill>
                <a:latin typeface="Arial" pitchFamily="34" charset="0"/>
                <a:ea typeface="Arial" pitchFamily="34" charset="-122"/>
                <a:cs typeface="Arial" pitchFamily="34" charset="-120"/>
              </a:rPr>
              <a:t>Rules do the rest</a:t>
            </a:r>
            <a:endParaRPr lang="en-US" sz="1500" dirty="0"/>
          </a:p>
        </p:txBody>
      </p:sp>
      <p:sp>
        <p:nvSpPr>
          <p:cNvPr id="49" name="Text 46"/>
          <p:cNvSpPr txBox="1"/>
          <p:nvPr/>
        </p:nvSpPr>
        <p:spPr>
          <a:xfrm>
            <a:off x="7454900" y="4286250"/>
            <a:ext cx="3746500" cy="1016000"/>
          </a:xfrm>
          <a:prstGeom prst="rect">
            <a:avLst/>
          </a:prstGeom>
          <a:noFill/>
          <a:ln/>
        </p:spPr>
        <p:txBody>
          <a:bodyPr wrap="square" lIns="0" tIns="0" rIns="0" bIns="0" rtlCol="0" anchor="t"/>
          <a:lstStyle/>
          <a:p>
            <a:pPr indent="0" marL="0">
              <a:buNone/>
            </a:pPr>
            <a:r>
              <a:rPr lang="en-US" sz="1300" dirty="0">
                <a:solidFill>
                  <a:srgbClr val="16302A"/>
                </a:solidFill>
                <a:latin typeface="Calibri" pitchFamily="34" charset="0"/>
                <a:ea typeface="Calibri" pitchFamily="34" charset="-122"/>
                <a:cs typeface="Calibri" pitchFamily="34" charset="-120"/>
              </a:rPr>
              <a:t>Passes, carries, take-ons, interceptions, pressures and runs: rules over tracked positions and the ball path. Easy to test.</a:t>
            </a:r>
            <a:endParaRPr lang="en-US" sz="1300" dirty="0"/>
          </a:p>
        </p:txBody>
      </p:sp>
      <p:sp>
        <p:nvSpPr>
          <p:cNvPr id="50" name="Shape 47"/>
          <p:cNvSpPr/>
          <p:nvPr/>
        </p:nvSpPr>
        <p:spPr>
          <a:xfrm>
            <a:off x="7454900" y="5429250"/>
            <a:ext cx="1057275" cy="215900"/>
          </a:xfrm>
          <a:prstGeom prst="roundRect">
            <a:avLst>
              <a:gd name="adj" fmla="val 63529"/>
            </a:avLst>
          </a:prstGeom>
          <a:solidFill>
            <a:srgbClr val="E4E9E6"/>
          </a:solidFill>
          <a:ln w="6350">
            <a:solidFill>
              <a:srgbClr val="E4E9E6"/>
            </a:solidFill>
            <a:prstDash val="solid"/>
          </a:ln>
        </p:spPr>
      </p:sp>
      <p:sp>
        <p:nvSpPr>
          <p:cNvPr id="51" name="Text 48"/>
          <p:cNvSpPr txBox="1"/>
          <p:nvPr/>
        </p:nvSpPr>
        <p:spPr>
          <a:xfrm>
            <a:off x="7454900" y="5429250"/>
            <a:ext cx="1057275" cy="215900"/>
          </a:xfrm>
          <a:prstGeom prst="rect">
            <a:avLst/>
          </a:prstGeom>
          <a:noFill/>
          <a:ln/>
        </p:spPr>
        <p:txBody>
          <a:bodyPr wrap="square" lIns="0" tIns="0" rIns="0" bIns="0" rtlCol="0" anchor="ctr"/>
          <a:lstStyle/>
          <a:p>
            <a:pPr algn="ctr" indent="0" marL="0">
              <a:buNone/>
            </a:pPr>
            <a:r>
              <a:rPr lang="en-US" sz="1000" b="1" dirty="0">
                <a:solidFill>
                  <a:srgbClr val="4F6660"/>
                </a:solidFill>
                <a:latin typeface="Calibri" pitchFamily="34" charset="0"/>
                <a:ea typeface="Calibri" pitchFamily="34" charset="-122"/>
                <a:cs typeface="Calibri" pitchFamily="34" charset="-120"/>
              </a:rPr>
              <a:t>Not learned</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241D"/>
        </a:solidFill>
      </p:bgPr>
    </p:bg>
    <p:spTree>
      <p:nvGrpSpPr>
        <p:cNvPr id="1" name=""/>
        <p:cNvGrpSpPr/>
        <p:nvPr/>
      </p:nvGrpSpPr>
      <p:grpSpPr>
        <a:xfrm>
          <a:off x="0" y="0"/>
          <a:ext cx="0" cy="0"/>
          <a:chOff x="0" y="0"/>
          <a:chExt cx="0" cy="0"/>
        </a:xfrm>
      </p:grpSpPr>
      <p:sp>
        <p:nvSpPr>
          <p:cNvPr id="3" name="Text 0"/>
          <p:cNvSpPr txBox="1"/>
          <p:nvPr/>
        </p:nvSpPr>
        <p:spPr>
          <a:xfrm>
            <a:off x="812800" y="711200"/>
            <a:ext cx="10566400" cy="215900"/>
          </a:xfrm>
          <a:prstGeom prst="rect">
            <a:avLst/>
          </a:prstGeom>
          <a:noFill/>
          <a:ln/>
        </p:spPr>
        <p:txBody>
          <a:bodyPr wrap="square" lIns="0" tIns="0" rIns="0" bIns="0" rtlCol="0" anchor="t"/>
          <a:lstStyle/>
          <a:p>
            <a:pPr indent="0" marL="0">
              <a:buNone/>
            </a:pPr>
            <a:r>
              <a:rPr lang="en-US" sz="1200" b="1" spc="200" kern="0" dirty="0">
                <a:solidFill>
                  <a:srgbClr val="8CE3B6"/>
                </a:solidFill>
                <a:latin typeface="Calibri" pitchFamily="34" charset="0"/>
                <a:ea typeface="Calibri" pitchFamily="34" charset="-122"/>
                <a:cs typeface="Calibri" pitchFamily="34" charset="-120"/>
              </a:rPr>
              <a:t>HOW WELL IT WORKS</a:t>
            </a:r>
            <a:endParaRPr lang="en-US" sz="1200" dirty="0"/>
          </a:p>
        </p:txBody>
      </p:sp>
      <p:sp>
        <p:nvSpPr>
          <p:cNvPr id="4" name="Text 1"/>
          <p:cNvSpPr txBox="1"/>
          <p:nvPr/>
        </p:nvSpPr>
        <p:spPr>
          <a:xfrm>
            <a:off x="812800" y="965200"/>
            <a:ext cx="10566400" cy="571500"/>
          </a:xfrm>
          <a:prstGeom prst="rect">
            <a:avLst/>
          </a:prstGeom>
          <a:noFill/>
          <a:ln/>
        </p:spPr>
        <p:txBody>
          <a:bodyPr wrap="square" lIns="0" tIns="0" rIns="0" bIns="0" rtlCol="0" anchor="ctr"/>
          <a:lstStyle/>
          <a:p>
            <a:pPr indent="0" marL="0">
              <a:buNone/>
            </a:pPr>
            <a:r>
              <a:rPr lang="en-US" sz="3000" b="1" dirty="0">
                <a:solidFill>
                  <a:srgbClr val="F3F6F2"/>
                </a:solidFill>
                <a:latin typeface="Arial" pitchFamily="34" charset="0"/>
                <a:ea typeface="Arial" pitchFamily="34" charset="-122"/>
                <a:cs typeface="Arial" pitchFamily="34" charset="-120"/>
              </a:rPr>
              <a:t>Measured against held-out ground truth</a:t>
            </a:r>
            <a:endParaRPr lang="en-US" sz="3000" dirty="0"/>
          </a:p>
        </p:txBody>
      </p:sp>
      <p:sp>
        <p:nvSpPr>
          <p:cNvPr id="5" name="Text 2"/>
          <p:cNvSpPr txBox="1"/>
          <p:nvPr/>
        </p:nvSpPr>
        <p:spPr>
          <a:xfrm>
            <a:off x="812800" y="6254750"/>
            <a:ext cx="5715000" cy="190500"/>
          </a:xfrm>
          <a:prstGeom prst="rect">
            <a:avLst/>
          </a:prstGeom>
          <a:noFill/>
          <a:ln/>
        </p:spPr>
        <p:txBody>
          <a:bodyPr wrap="square" lIns="0" tIns="0" rIns="0" bIns="0" rtlCol="0" anchor="t"/>
          <a:lstStyle/>
          <a:p>
            <a:pPr indent="0" marL="0">
              <a:buNone/>
            </a:pPr>
            <a:r>
              <a:rPr lang="en-US" sz="1200" dirty="0">
                <a:solidFill>
                  <a:srgbClr val="BFD8CE"/>
                </a:solidFill>
                <a:latin typeface="Calibri" pitchFamily="34" charset="0"/>
                <a:ea typeface="Calibri" pitchFamily="34" charset="-122"/>
                <a:cs typeface="Calibri" pitchFamily="34" charset="-120"/>
              </a:rPr>
              <a:t>PitchProfile · AAI3001</a:t>
            </a:r>
            <a:endParaRPr lang="en-US" sz="1200" dirty="0"/>
          </a:p>
        </p:txBody>
      </p:sp>
      <p:sp>
        <p:nvSpPr>
          <p:cNvPr id="6" name="Text 3"/>
          <p:cNvSpPr txBox="1"/>
          <p:nvPr/>
        </p:nvSpPr>
        <p:spPr>
          <a:xfrm>
            <a:off x="10109200" y="6254750"/>
            <a:ext cx="1270000" cy="190500"/>
          </a:xfrm>
          <a:prstGeom prst="rect">
            <a:avLst/>
          </a:prstGeom>
          <a:noFill/>
          <a:ln/>
        </p:spPr>
        <p:txBody>
          <a:bodyPr wrap="square" lIns="0" tIns="0" rIns="0" bIns="0" rtlCol="0" anchor="t"/>
          <a:lstStyle/>
          <a:p>
            <a:pPr algn="r" indent="0" marL="0">
              <a:buNone/>
            </a:pPr>
            <a:r>
              <a:rPr lang="en-US" sz="1200" dirty="0">
                <a:solidFill>
                  <a:srgbClr val="BFD8CE"/>
                </a:solidFill>
                <a:latin typeface="Calibri" pitchFamily="34" charset="0"/>
                <a:ea typeface="Calibri" pitchFamily="34" charset="-122"/>
                <a:cs typeface="Calibri" pitchFamily="34" charset="-120"/>
              </a:rPr>
              <a:t>11</a:t>
            </a:r>
            <a:endParaRPr lang="en-US" sz="1200" dirty="0"/>
          </a:p>
        </p:txBody>
      </p:sp>
      <p:sp>
        <p:nvSpPr>
          <p:cNvPr id="7" name="Shape 4"/>
          <p:cNvSpPr/>
          <p:nvPr/>
        </p:nvSpPr>
        <p:spPr>
          <a:xfrm>
            <a:off x="812800" y="2032000"/>
            <a:ext cx="3403600" cy="1555750"/>
          </a:xfrm>
          <a:prstGeom prst="roundRect">
            <a:avLst>
              <a:gd name="adj" fmla="val 5878"/>
            </a:avLst>
          </a:prstGeom>
          <a:solidFill>
            <a:srgbClr val="17382D"/>
          </a:solidFill>
          <a:ln w="9525">
            <a:solidFill>
              <a:srgbClr val="2A5646"/>
            </a:solidFill>
            <a:prstDash val="solid"/>
          </a:ln>
        </p:spPr>
      </p:sp>
      <p:sp>
        <p:nvSpPr>
          <p:cNvPr id="8" name="Text 5"/>
          <p:cNvSpPr txBox="1"/>
          <p:nvPr/>
        </p:nvSpPr>
        <p:spPr>
          <a:xfrm>
            <a:off x="990600" y="2209800"/>
            <a:ext cx="3048000" cy="508000"/>
          </a:xfrm>
          <a:prstGeom prst="rect">
            <a:avLst/>
          </a:prstGeom>
          <a:noFill/>
          <a:ln/>
        </p:spPr>
        <p:txBody>
          <a:bodyPr wrap="square" lIns="0" tIns="0" rIns="0" bIns="0" rtlCol="0" anchor="t"/>
          <a:lstStyle/>
          <a:p>
            <a:pPr indent="0" marL="0">
              <a:buNone/>
            </a:pPr>
            <a:r>
              <a:rPr lang="en-US" sz="3200" b="1" dirty="0">
                <a:solidFill>
                  <a:srgbClr val="8CE3B6"/>
                </a:solidFill>
                <a:latin typeface="Arial" pitchFamily="34" charset="0"/>
                <a:ea typeface="Arial" pitchFamily="34" charset="-122"/>
                <a:cs typeface="Arial" pitchFamily="34" charset="-120"/>
              </a:rPr>
              <a:t>0.89</a:t>
            </a:r>
            <a:endParaRPr lang="en-US" sz="3200" dirty="0"/>
          </a:p>
        </p:txBody>
      </p:sp>
      <p:sp>
        <p:nvSpPr>
          <p:cNvPr id="9" name="Text 6"/>
          <p:cNvSpPr txBox="1"/>
          <p:nvPr/>
        </p:nvSpPr>
        <p:spPr>
          <a:xfrm>
            <a:off x="990600" y="2794000"/>
            <a:ext cx="3048000" cy="698500"/>
          </a:xfrm>
          <a:prstGeom prst="rect">
            <a:avLst/>
          </a:prstGeom>
          <a:noFill/>
          <a:ln/>
        </p:spPr>
        <p:txBody>
          <a:bodyPr wrap="square" lIns="0" tIns="0" rIns="0" bIns="0" rtlCol="0" anchor="t"/>
          <a:lstStyle/>
          <a:p>
            <a:pPr indent="0" marL="0">
              <a:buNone/>
            </a:pPr>
            <a:r>
              <a:rPr lang="en-US" sz="1300" dirty="0">
                <a:solidFill>
                  <a:srgbClr val="BFD8CE"/>
                </a:solidFill>
                <a:latin typeface="Calibri" pitchFamily="34" charset="0"/>
                <a:ea typeface="Calibri" pitchFamily="34" charset="-122"/>
                <a:cs typeface="Calibri" pitchFamily="34" charset="-120"/>
              </a:rPr>
              <a:t>Correlation of per-player pass counts with annotations</a:t>
            </a:r>
            <a:endParaRPr lang="en-US" sz="1300" dirty="0"/>
          </a:p>
        </p:txBody>
      </p:sp>
      <p:sp>
        <p:nvSpPr>
          <p:cNvPr id="10" name="Shape 7"/>
          <p:cNvSpPr/>
          <p:nvPr/>
        </p:nvSpPr>
        <p:spPr>
          <a:xfrm>
            <a:off x="4394200" y="2032000"/>
            <a:ext cx="3403600" cy="1555750"/>
          </a:xfrm>
          <a:prstGeom prst="roundRect">
            <a:avLst>
              <a:gd name="adj" fmla="val 5878"/>
            </a:avLst>
          </a:prstGeom>
          <a:solidFill>
            <a:srgbClr val="17382D"/>
          </a:solidFill>
          <a:ln w="9525">
            <a:solidFill>
              <a:srgbClr val="2A5646"/>
            </a:solidFill>
            <a:prstDash val="solid"/>
          </a:ln>
        </p:spPr>
      </p:sp>
      <p:sp>
        <p:nvSpPr>
          <p:cNvPr id="11" name="Text 8"/>
          <p:cNvSpPr txBox="1"/>
          <p:nvPr/>
        </p:nvSpPr>
        <p:spPr>
          <a:xfrm>
            <a:off x="4572000" y="2209800"/>
            <a:ext cx="3048000" cy="508000"/>
          </a:xfrm>
          <a:prstGeom prst="rect">
            <a:avLst/>
          </a:prstGeom>
          <a:noFill/>
          <a:ln/>
        </p:spPr>
        <p:txBody>
          <a:bodyPr wrap="square" lIns="0" tIns="0" rIns="0" bIns="0" rtlCol="0" anchor="t"/>
          <a:lstStyle/>
          <a:p>
            <a:pPr indent="0" marL="0">
              <a:buNone/>
            </a:pPr>
            <a:r>
              <a:rPr lang="en-US" sz="3200" b="1" dirty="0">
                <a:solidFill>
                  <a:srgbClr val="8CE3B6"/>
                </a:solidFill>
                <a:latin typeface="Arial" pitchFamily="34" charset="0"/>
                <a:ea typeface="Arial" pitchFamily="34" charset="-122"/>
                <a:cs typeface="Arial" pitchFamily="34" charset="-120"/>
              </a:rPr>
              <a:t>0.71 / 0.70</a:t>
            </a:r>
            <a:endParaRPr lang="en-US" sz="3200" dirty="0"/>
          </a:p>
        </p:txBody>
      </p:sp>
      <p:sp>
        <p:nvSpPr>
          <p:cNvPr id="12" name="Text 9"/>
          <p:cNvSpPr txBox="1"/>
          <p:nvPr/>
        </p:nvSpPr>
        <p:spPr>
          <a:xfrm>
            <a:off x="4572000" y="2794000"/>
            <a:ext cx="3048000" cy="698500"/>
          </a:xfrm>
          <a:prstGeom prst="rect">
            <a:avLst/>
          </a:prstGeom>
          <a:noFill/>
          <a:ln/>
        </p:spPr>
        <p:txBody>
          <a:bodyPr wrap="square" lIns="0" tIns="0" rIns="0" bIns="0" rtlCol="0" anchor="t"/>
          <a:lstStyle/>
          <a:p>
            <a:pPr indent="0" marL="0">
              <a:buNone/>
            </a:pPr>
            <a:r>
              <a:rPr lang="en-US" sz="1300" dirty="0">
                <a:solidFill>
                  <a:srgbClr val="BFD8CE"/>
                </a:solidFill>
                <a:latin typeface="Calibri" pitchFamily="34" charset="0"/>
                <a:ea typeface="Calibri" pitchFamily="34" charset="-122"/>
                <a:cs typeface="Calibri" pitchFamily="34" charset="-120"/>
              </a:rPr>
              <a:t>Shot precision and recall from the video action model</a:t>
            </a:r>
            <a:endParaRPr lang="en-US" sz="1300" dirty="0"/>
          </a:p>
        </p:txBody>
      </p:sp>
      <p:sp>
        <p:nvSpPr>
          <p:cNvPr id="13" name="Shape 10"/>
          <p:cNvSpPr/>
          <p:nvPr/>
        </p:nvSpPr>
        <p:spPr>
          <a:xfrm>
            <a:off x="7975600" y="2032000"/>
            <a:ext cx="3403600" cy="1555750"/>
          </a:xfrm>
          <a:prstGeom prst="roundRect">
            <a:avLst>
              <a:gd name="adj" fmla="val 5878"/>
            </a:avLst>
          </a:prstGeom>
          <a:solidFill>
            <a:srgbClr val="17382D"/>
          </a:solidFill>
          <a:ln w="9525">
            <a:solidFill>
              <a:srgbClr val="2A5646"/>
            </a:solidFill>
            <a:prstDash val="solid"/>
          </a:ln>
        </p:spPr>
      </p:sp>
      <p:sp>
        <p:nvSpPr>
          <p:cNvPr id="14" name="Text 11"/>
          <p:cNvSpPr txBox="1"/>
          <p:nvPr/>
        </p:nvSpPr>
        <p:spPr>
          <a:xfrm>
            <a:off x="8153400" y="2209800"/>
            <a:ext cx="3048000" cy="508000"/>
          </a:xfrm>
          <a:prstGeom prst="rect">
            <a:avLst/>
          </a:prstGeom>
          <a:noFill/>
          <a:ln/>
        </p:spPr>
        <p:txBody>
          <a:bodyPr wrap="square" lIns="0" tIns="0" rIns="0" bIns="0" rtlCol="0" anchor="t"/>
          <a:lstStyle/>
          <a:p>
            <a:pPr indent="0" marL="0">
              <a:buNone/>
            </a:pPr>
            <a:r>
              <a:rPr lang="en-US" sz="3200" b="1" dirty="0">
                <a:solidFill>
                  <a:srgbClr val="8CE3B6"/>
                </a:solidFill>
                <a:latin typeface="Arial" pitchFamily="34" charset="0"/>
                <a:ea typeface="Arial" pitchFamily="34" charset="-122"/>
                <a:cs typeface="Arial" pitchFamily="34" charset="-120"/>
              </a:rPr>
              <a:t>80%</a:t>
            </a:r>
            <a:endParaRPr lang="en-US" sz="3200" dirty="0"/>
          </a:p>
        </p:txBody>
      </p:sp>
      <p:sp>
        <p:nvSpPr>
          <p:cNvPr id="15" name="Text 12"/>
          <p:cNvSpPr txBox="1"/>
          <p:nvPr/>
        </p:nvSpPr>
        <p:spPr>
          <a:xfrm>
            <a:off x="8153400" y="2794000"/>
            <a:ext cx="3048000" cy="698500"/>
          </a:xfrm>
          <a:prstGeom prst="rect">
            <a:avLst/>
          </a:prstGeom>
          <a:noFill/>
          <a:ln/>
        </p:spPr>
        <p:txBody>
          <a:bodyPr wrap="square" lIns="0" tIns="0" rIns="0" bIns="0" rtlCol="0" anchor="t"/>
          <a:lstStyle/>
          <a:p>
            <a:pPr indent="0" marL="0">
              <a:buNone/>
            </a:pPr>
            <a:r>
              <a:rPr lang="en-US" sz="1300" dirty="0">
                <a:solidFill>
                  <a:srgbClr val="BFD8CE"/>
                </a:solidFill>
                <a:latin typeface="Calibri" pitchFamily="34" charset="0"/>
                <a:ea typeface="Calibri" pitchFamily="34" charset="-122"/>
                <a:cs typeface="Calibri" pitchFamily="34" charset="-120"/>
              </a:rPr>
              <a:t>Shirt numbers read correctly (1,211 test tracklets)</a:t>
            </a:r>
            <a:endParaRPr lang="en-US" sz="1300" dirty="0"/>
          </a:p>
        </p:txBody>
      </p:sp>
      <p:sp>
        <p:nvSpPr>
          <p:cNvPr id="16" name="Shape 13"/>
          <p:cNvSpPr/>
          <p:nvPr/>
        </p:nvSpPr>
        <p:spPr>
          <a:xfrm>
            <a:off x="812800" y="3746500"/>
            <a:ext cx="3403600" cy="1555750"/>
          </a:xfrm>
          <a:prstGeom prst="roundRect">
            <a:avLst>
              <a:gd name="adj" fmla="val 5878"/>
            </a:avLst>
          </a:prstGeom>
          <a:solidFill>
            <a:srgbClr val="17382D"/>
          </a:solidFill>
          <a:ln w="9525">
            <a:solidFill>
              <a:srgbClr val="2A5646"/>
            </a:solidFill>
            <a:prstDash val="solid"/>
          </a:ln>
        </p:spPr>
      </p:sp>
      <p:sp>
        <p:nvSpPr>
          <p:cNvPr id="17" name="Text 14"/>
          <p:cNvSpPr txBox="1"/>
          <p:nvPr/>
        </p:nvSpPr>
        <p:spPr>
          <a:xfrm>
            <a:off x="990600" y="3924300"/>
            <a:ext cx="3048000" cy="508000"/>
          </a:xfrm>
          <a:prstGeom prst="rect">
            <a:avLst/>
          </a:prstGeom>
          <a:noFill/>
          <a:ln/>
        </p:spPr>
        <p:txBody>
          <a:bodyPr wrap="square" lIns="0" tIns="0" rIns="0" bIns="0" rtlCol="0" anchor="t"/>
          <a:lstStyle/>
          <a:p>
            <a:pPr indent="0" marL="0">
              <a:buNone/>
            </a:pPr>
            <a:r>
              <a:rPr lang="en-US" sz="3200" b="1" dirty="0">
                <a:solidFill>
                  <a:srgbClr val="8CE3B6"/>
                </a:solidFill>
                <a:latin typeface="Arial" pitchFamily="34" charset="0"/>
                <a:ea typeface="Arial" pitchFamily="34" charset="-122"/>
                <a:cs typeface="Arial" pitchFamily="34" charset="-120"/>
              </a:rPr>
              <a:t>8 of 8</a:t>
            </a:r>
            <a:endParaRPr lang="en-US" sz="3200" dirty="0"/>
          </a:p>
        </p:txBody>
      </p:sp>
      <p:sp>
        <p:nvSpPr>
          <p:cNvPr id="18" name="Text 15"/>
          <p:cNvSpPr txBox="1"/>
          <p:nvPr/>
        </p:nvSpPr>
        <p:spPr>
          <a:xfrm>
            <a:off x="990600" y="4508500"/>
            <a:ext cx="3048000" cy="698500"/>
          </a:xfrm>
          <a:prstGeom prst="rect">
            <a:avLst/>
          </a:prstGeom>
          <a:noFill/>
          <a:ln/>
        </p:spPr>
        <p:txBody>
          <a:bodyPr wrap="square" lIns="0" tIns="0" rIns="0" bIns="0" rtlCol="0" anchor="t"/>
          <a:lstStyle/>
          <a:p>
            <a:pPr indent="0" marL="0">
              <a:buNone/>
            </a:pPr>
            <a:r>
              <a:rPr lang="en-US" sz="1300" dirty="0">
                <a:solidFill>
                  <a:srgbClr val="BFD8CE"/>
                </a:solidFill>
                <a:latin typeface="Calibri" pitchFamily="34" charset="0"/>
                <a:ea typeface="Calibri" pitchFamily="34" charset="-122"/>
                <a:cs typeface="Calibri" pitchFamily="34" charset="-120"/>
              </a:rPr>
              <a:t>Halves with the attack direction right</a:t>
            </a:r>
            <a:endParaRPr lang="en-US" sz="1300" dirty="0"/>
          </a:p>
        </p:txBody>
      </p:sp>
      <p:sp>
        <p:nvSpPr>
          <p:cNvPr id="19" name="Shape 16"/>
          <p:cNvSpPr/>
          <p:nvPr/>
        </p:nvSpPr>
        <p:spPr>
          <a:xfrm>
            <a:off x="4394200" y="3746500"/>
            <a:ext cx="3403600" cy="1555750"/>
          </a:xfrm>
          <a:prstGeom prst="roundRect">
            <a:avLst>
              <a:gd name="adj" fmla="val 5878"/>
            </a:avLst>
          </a:prstGeom>
          <a:solidFill>
            <a:srgbClr val="17382D"/>
          </a:solidFill>
          <a:ln w="9525">
            <a:solidFill>
              <a:srgbClr val="2A5646"/>
            </a:solidFill>
            <a:prstDash val="solid"/>
          </a:ln>
        </p:spPr>
      </p:sp>
      <p:sp>
        <p:nvSpPr>
          <p:cNvPr id="20" name="Text 17"/>
          <p:cNvSpPr txBox="1"/>
          <p:nvPr/>
        </p:nvSpPr>
        <p:spPr>
          <a:xfrm>
            <a:off x="4572000" y="3924300"/>
            <a:ext cx="3048000" cy="508000"/>
          </a:xfrm>
          <a:prstGeom prst="rect">
            <a:avLst/>
          </a:prstGeom>
          <a:noFill/>
          <a:ln/>
        </p:spPr>
        <p:txBody>
          <a:bodyPr wrap="square" lIns="0" tIns="0" rIns="0" bIns="0" rtlCol="0" anchor="t"/>
          <a:lstStyle/>
          <a:p>
            <a:pPr indent="0" marL="0">
              <a:buNone/>
            </a:pPr>
            <a:r>
              <a:rPr lang="en-US" sz="3200" b="1" dirty="0">
                <a:solidFill>
                  <a:srgbClr val="8CE3B6"/>
                </a:solidFill>
                <a:latin typeface="Arial" pitchFamily="34" charset="0"/>
                <a:ea typeface="Arial" pitchFamily="34" charset="-122"/>
                <a:cs typeface="Arial" pitchFamily="34" charset="-120"/>
              </a:rPr>
              <a:t>95%</a:t>
            </a:r>
            <a:endParaRPr lang="en-US" sz="3200" dirty="0"/>
          </a:p>
        </p:txBody>
      </p:sp>
      <p:sp>
        <p:nvSpPr>
          <p:cNvPr id="21" name="Text 18"/>
          <p:cNvSpPr txBox="1"/>
          <p:nvPr/>
        </p:nvSpPr>
        <p:spPr>
          <a:xfrm>
            <a:off x="4572000" y="4508500"/>
            <a:ext cx="3048000" cy="698500"/>
          </a:xfrm>
          <a:prstGeom prst="rect">
            <a:avLst/>
          </a:prstGeom>
          <a:noFill/>
          <a:ln/>
        </p:spPr>
        <p:txBody>
          <a:bodyPr wrap="square" lIns="0" tIns="0" rIns="0" bIns="0" rtlCol="0" anchor="t"/>
          <a:lstStyle/>
          <a:p>
            <a:pPr indent="0" marL="0">
              <a:buNone/>
            </a:pPr>
            <a:r>
              <a:rPr lang="en-US" sz="1300" dirty="0">
                <a:solidFill>
                  <a:srgbClr val="BFD8CE"/>
                </a:solidFill>
                <a:latin typeface="Calibri" pitchFamily="34" charset="0"/>
                <a:ea typeface="Calibri" pitchFamily="34" charset="-122"/>
                <a:cs typeface="Calibri" pitchFamily="34" charset="-120"/>
              </a:rPr>
              <a:t>Names right when one is given (about half of player time is named)</a:t>
            </a:r>
            <a:endParaRPr lang="en-US" sz="1300" dirty="0"/>
          </a:p>
        </p:txBody>
      </p:sp>
      <p:sp>
        <p:nvSpPr>
          <p:cNvPr id="22" name="Shape 19"/>
          <p:cNvSpPr/>
          <p:nvPr/>
        </p:nvSpPr>
        <p:spPr>
          <a:xfrm>
            <a:off x="7975600" y="3746500"/>
            <a:ext cx="3403600" cy="1555750"/>
          </a:xfrm>
          <a:prstGeom prst="roundRect">
            <a:avLst>
              <a:gd name="adj" fmla="val 5878"/>
            </a:avLst>
          </a:prstGeom>
          <a:solidFill>
            <a:srgbClr val="17382D"/>
          </a:solidFill>
          <a:ln w="9525">
            <a:solidFill>
              <a:srgbClr val="2A5646"/>
            </a:solidFill>
            <a:prstDash val="solid"/>
          </a:ln>
        </p:spPr>
      </p:sp>
      <p:sp>
        <p:nvSpPr>
          <p:cNvPr id="23" name="Text 20"/>
          <p:cNvSpPr txBox="1"/>
          <p:nvPr/>
        </p:nvSpPr>
        <p:spPr>
          <a:xfrm>
            <a:off x="8153400" y="3924300"/>
            <a:ext cx="3048000" cy="508000"/>
          </a:xfrm>
          <a:prstGeom prst="rect">
            <a:avLst/>
          </a:prstGeom>
          <a:noFill/>
          <a:ln/>
        </p:spPr>
        <p:txBody>
          <a:bodyPr wrap="square" lIns="0" tIns="0" rIns="0" bIns="0" rtlCol="0" anchor="t"/>
          <a:lstStyle/>
          <a:p>
            <a:pPr indent="0" marL="0">
              <a:buNone/>
            </a:pPr>
            <a:r>
              <a:rPr lang="en-US" sz="3200" b="1" dirty="0">
                <a:solidFill>
                  <a:srgbClr val="8CE3B6"/>
                </a:solidFill>
                <a:latin typeface="Arial" pitchFamily="34" charset="0"/>
                <a:ea typeface="Arial" pitchFamily="34" charset="-122"/>
                <a:cs typeface="Arial" pitchFamily="34" charset="-120"/>
              </a:rPr>
              <a:t>0.48 → 0.60</a:t>
            </a:r>
            <a:endParaRPr lang="en-US" sz="3200" dirty="0"/>
          </a:p>
        </p:txBody>
      </p:sp>
      <p:sp>
        <p:nvSpPr>
          <p:cNvPr id="24" name="Text 21"/>
          <p:cNvSpPr txBox="1"/>
          <p:nvPr/>
        </p:nvSpPr>
        <p:spPr>
          <a:xfrm>
            <a:off x="8153400" y="4508500"/>
            <a:ext cx="3048000" cy="698500"/>
          </a:xfrm>
          <a:prstGeom prst="rect">
            <a:avLst/>
          </a:prstGeom>
          <a:noFill/>
          <a:ln/>
        </p:spPr>
        <p:txBody>
          <a:bodyPr wrap="square" lIns="0" tIns="0" rIns="0" bIns="0" rtlCol="0" anchor="t"/>
          <a:lstStyle/>
          <a:p>
            <a:pPr indent="0" marL="0">
              <a:buNone/>
            </a:pPr>
            <a:r>
              <a:rPr lang="en-US" sz="1300" dirty="0">
                <a:solidFill>
                  <a:srgbClr val="BFD8CE"/>
                </a:solidFill>
                <a:latin typeface="Calibri" pitchFamily="34" charset="0"/>
                <a:ea typeface="Calibri" pitchFamily="34" charset="-122"/>
                <a:cs typeface="Calibri" pitchFamily="34" charset="-120"/>
              </a:rPr>
              <a:t>Action spotter mean average precision after fine-tuning</a:t>
            </a:r>
            <a:endParaRPr lang="en-US" sz="1300" dirty="0"/>
          </a:p>
        </p:txBody>
      </p:sp>
      <p:sp>
        <p:nvSpPr>
          <p:cNvPr id="25" name="Text 22"/>
          <p:cNvSpPr txBox="1"/>
          <p:nvPr/>
        </p:nvSpPr>
        <p:spPr>
          <a:xfrm>
            <a:off x="812800" y="5588000"/>
            <a:ext cx="10566400" cy="381000"/>
          </a:xfrm>
          <a:prstGeom prst="rect">
            <a:avLst/>
          </a:prstGeom>
          <a:noFill/>
          <a:ln/>
        </p:spPr>
        <p:txBody>
          <a:bodyPr wrap="square" lIns="0" tIns="0" rIns="0" bIns="0" rtlCol="0" anchor="t"/>
          <a:lstStyle/>
          <a:p>
            <a:pPr indent="0" marL="0">
              <a:buNone/>
            </a:pPr>
            <a:r>
              <a:rPr lang="en-US" sz="1200" dirty="0">
                <a:solidFill>
                  <a:srgbClr val="BFD8CE"/>
                </a:solidFill>
                <a:latin typeface="Calibri" pitchFamily="34" charset="0"/>
                <a:ea typeface="Calibri" pitchFamily="34" charset="-122"/>
                <a:cs typeface="Calibri" pitchFamily="34" charset="-120"/>
              </a:rPr>
              <a:t>The pass figure tests the event logic on annotated positions, not the whole chain from video. Tackles, blocks and crosses still run far below real counts.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6EFEA"/>
        </a:solidFill>
      </p:bgPr>
    </p:bg>
    <p:spTree>
      <p:nvGrpSpPr>
        <p:cNvPr id="1" name=""/>
        <p:cNvGrpSpPr/>
        <p:nvPr/>
      </p:nvGrpSpPr>
      <p:grpSpPr>
        <a:xfrm>
          <a:off x="0" y="0"/>
          <a:ext cx="0" cy="0"/>
          <a:chOff x="0" y="0"/>
          <a:chExt cx="0" cy="0"/>
        </a:xfrm>
      </p:grpSpPr>
      <p:sp>
        <p:nvSpPr>
          <p:cNvPr id="3" name="Text 0"/>
          <p:cNvSpPr txBox="1"/>
          <p:nvPr/>
        </p:nvSpPr>
        <p:spPr>
          <a:xfrm>
            <a:off x="812800" y="711200"/>
            <a:ext cx="10566400" cy="215900"/>
          </a:xfrm>
          <a:prstGeom prst="rect">
            <a:avLst/>
          </a:prstGeom>
          <a:noFill/>
          <a:ln/>
        </p:spPr>
        <p:txBody>
          <a:bodyPr wrap="square" lIns="0" tIns="0" rIns="0" bIns="0" rtlCol="0" anchor="t"/>
          <a:lstStyle/>
          <a:p>
            <a:pPr indent="0" marL="0">
              <a:buNone/>
            </a:pPr>
            <a:r>
              <a:rPr lang="en-US" sz="1200" b="1" spc="200" kern="0" dirty="0">
                <a:solidFill>
                  <a:srgbClr val="0A7A5C"/>
                </a:solidFill>
                <a:latin typeface="Calibri" pitchFamily="34" charset="0"/>
                <a:ea typeface="Calibri" pitchFamily="34" charset="-122"/>
                <a:cs typeface="Calibri" pitchFamily="34" charset="-120"/>
              </a:rPr>
              <a:t>DIFFICULTIES WE FACE</a:t>
            </a:r>
            <a:endParaRPr lang="en-US" sz="1200" dirty="0"/>
          </a:p>
        </p:txBody>
      </p:sp>
      <p:sp>
        <p:nvSpPr>
          <p:cNvPr id="4" name="Text 1"/>
          <p:cNvSpPr txBox="1"/>
          <p:nvPr/>
        </p:nvSpPr>
        <p:spPr>
          <a:xfrm>
            <a:off x="812800" y="965200"/>
            <a:ext cx="10566400" cy="571500"/>
          </a:xfrm>
          <a:prstGeom prst="rect">
            <a:avLst/>
          </a:prstGeom>
          <a:noFill/>
          <a:ln/>
        </p:spPr>
        <p:txBody>
          <a:bodyPr wrap="square" lIns="0" tIns="0" rIns="0" bIns="0" rtlCol="0" anchor="ctr"/>
          <a:lstStyle/>
          <a:p>
            <a:pPr indent="0" marL="0">
              <a:buNone/>
            </a:pPr>
            <a:r>
              <a:rPr lang="en-US" sz="3000" b="1" dirty="0">
                <a:solidFill>
                  <a:srgbClr val="16302A"/>
                </a:solidFill>
                <a:latin typeface="Arial" pitchFamily="34" charset="0"/>
                <a:ea typeface="Arial" pitchFamily="34" charset="-122"/>
                <a:cs typeface="Arial" pitchFamily="34" charset="-120"/>
              </a:rPr>
              <a:t>Why broadcast video is hard</a:t>
            </a:r>
            <a:endParaRPr lang="en-US" sz="3000" dirty="0"/>
          </a:p>
        </p:txBody>
      </p:sp>
      <p:sp>
        <p:nvSpPr>
          <p:cNvPr id="5" name="Text 2"/>
          <p:cNvSpPr txBox="1"/>
          <p:nvPr/>
        </p:nvSpPr>
        <p:spPr>
          <a:xfrm>
            <a:off x="812800" y="6254750"/>
            <a:ext cx="5715000" cy="190500"/>
          </a:xfrm>
          <a:prstGeom prst="rect">
            <a:avLst/>
          </a:prstGeom>
          <a:noFill/>
          <a:ln/>
        </p:spPr>
        <p:txBody>
          <a:bodyPr wrap="square" lIns="0" tIns="0" rIns="0" bIns="0" rtlCol="0" anchor="t"/>
          <a:lstStyle/>
          <a:p>
            <a:pPr indent="0" marL="0">
              <a:buNone/>
            </a:pPr>
            <a:r>
              <a:rPr lang="en-US" sz="1200" dirty="0">
                <a:solidFill>
                  <a:srgbClr val="4F6660"/>
                </a:solidFill>
                <a:latin typeface="Calibri" pitchFamily="34" charset="0"/>
                <a:ea typeface="Calibri" pitchFamily="34" charset="-122"/>
                <a:cs typeface="Calibri" pitchFamily="34" charset="-120"/>
              </a:rPr>
              <a:t>PitchProfile · AAI3001</a:t>
            </a:r>
            <a:endParaRPr lang="en-US" sz="1200" dirty="0"/>
          </a:p>
        </p:txBody>
      </p:sp>
      <p:sp>
        <p:nvSpPr>
          <p:cNvPr id="6" name="Text 3"/>
          <p:cNvSpPr txBox="1"/>
          <p:nvPr/>
        </p:nvSpPr>
        <p:spPr>
          <a:xfrm>
            <a:off x="10109200" y="6254750"/>
            <a:ext cx="1270000" cy="190500"/>
          </a:xfrm>
          <a:prstGeom prst="rect">
            <a:avLst/>
          </a:prstGeom>
          <a:noFill/>
          <a:ln/>
        </p:spPr>
        <p:txBody>
          <a:bodyPr wrap="square" lIns="0" tIns="0" rIns="0" bIns="0" rtlCol="0" anchor="t"/>
          <a:lstStyle/>
          <a:p>
            <a:pPr algn="r" indent="0" marL="0">
              <a:buNone/>
            </a:pPr>
            <a:r>
              <a:rPr lang="en-US" sz="1200" dirty="0">
                <a:solidFill>
                  <a:srgbClr val="4F6660"/>
                </a:solidFill>
                <a:latin typeface="Calibri" pitchFamily="34" charset="0"/>
                <a:ea typeface="Calibri" pitchFamily="34" charset="-122"/>
                <a:cs typeface="Calibri" pitchFamily="34" charset="-120"/>
              </a:rPr>
              <a:t>12</a:t>
            </a:r>
            <a:endParaRPr lang="en-US" sz="1200" dirty="0"/>
          </a:p>
        </p:txBody>
      </p:sp>
      <p:sp>
        <p:nvSpPr>
          <p:cNvPr id="7" name="Shape 4"/>
          <p:cNvSpPr/>
          <p:nvPr/>
        </p:nvSpPr>
        <p:spPr>
          <a:xfrm>
            <a:off x="812800" y="1905000"/>
            <a:ext cx="3403600" cy="1841500"/>
          </a:xfrm>
          <a:prstGeom prst="roundRect">
            <a:avLst>
              <a:gd name="adj" fmla="val 4966"/>
            </a:avLst>
          </a:prstGeom>
          <a:solidFill>
            <a:srgbClr val="FBFCFA"/>
          </a:solidFill>
          <a:ln w="9525">
            <a:solidFill>
              <a:srgbClr val="CBD9D1"/>
            </a:solidFill>
            <a:prstDash val="solid"/>
          </a:ln>
        </p:spPr>
      </p:sp>
      <p:sp>
        <p:nvSpPr>
          <p:cNvPr id="8" name="Shape 5"/>
          <p:cNvSpPr/>
          <p:nvPr/>
        </p:nvSpPr>
        <p:spPr>
          <a:xfrm>
            <a:off x="914400" y="1905000"/>
            <a:ext cx="3200400" cy="31750"/>
          </a:xfrm>
          <a:prstGeom prst="rect">
            <a:avLst/>
          </a:prstGeom>
          <a:solidFill>
            <a:srgbClr val="D9730D"/>
          </a:solidFill>
          <a:ln w="12700">
            <a:solidFill>
              <a:srgbClr val="D9730D"/>
            </a:solidFill>
            <a:prstDash val="solid"/>
          </a:ln>
        </p:spPr>
      </p:sp>
      <p:sp>
        <p:nvSpPr>
          <p:cNvPr id="9" name="Text 6"/>
          <p:cNvSpPr txBox="1"/>
          <p:nvPr/>
        </p:nvSpPr>
        <p:spPr>
          <a:xfrm>
            <a:off x="990600" y="2070100"/>
            <a:ext cx="3048000" cy="317500"/>
          </a:xfrm>
          <a:prstGeom prst="rect">
            <a:avLst/>
          </a:prstGeom>
          <a:noFill/>
          <a:ln/>
        </p:spPr>
        <p:txBody>
          <a:bodyPr wrap="square" lIns="0" tIns="0" rIns="0" bIns="0" rtlCol="0" anchor="t"/>
          <a:lstStyle/>
          <a:p>
            <a:pPr indent="0" marL="0">
              <a:buNone/>
            </a:pPr>
            <a:r>
              <a:rPr lang="en-US" sz="1700" b="1" dirty="0">
                <a:solidFill>
                  <a:srgbClr val="16302A"/>
                </a:solidFill>
                <a:latin typeface="Arial" pitchFamily="34" charset="0"/>
                <a:ea typeface="Arial" pitchFamily="34" charset="-122"/>
                <a:cs typeface="Arial" pitchFamily="34" charset="-120"/>
              </a:rPr>
              <a:t>Constant camera cuts</a:t>
            </a:r>
            <a:endParaRPr lang="en-US" sz="1700" dirty="0"/>
          </a:p>
        </p:txBody>
      </p:sp>
      <p:sp>
        <p:nvSpPr>
          <p:cNvPr id="10" name="Text 7"/>
          <p:cNvSpPr txBox="1"/>
          <p:nvPr/>
        </p:nvSpPr>
        <p:spPr>
          <a:xfrm>
            <a:off x="990600" y="2451100"/>
            <a:ext cx="3048000" cy="1206500"/>
          </a:xfrm>
          <a:prstGeom prst="rect">
            <a:avLst/>
          </a:prstGeom>
          <a:noFill/>
          <a:ln/>
        </p:spPr>
        <p:txBody>
          <a:bodyPr wrap="square" lIns="0" tIns="0" rIns="0" bIns="0" rtlCol="0" anchor="t"/>
          <a:lstStyle/>
          <a:p>
            <a:pPr indent="0" marL="0">
              <a:buNone/>
            </a:pPr>
            <a:r>
              <a:rPr lang="en-US" sz="1300" dirty="0">
                <a:solidFill>
                  <a:srgbClr val="4F6660"/>
                </a:solidFill>
                <a:latin typeface="Calibri" pitchFamily="34" charset="0"/>
                <a:ea typeface="Calibri" pitchFamily="34" charset="-122"/>
                <a:cs typeface="Calibri" pitchFamily="34" charset="-120"/>
              </a:rPr>
              <a:t>The picture cuts about every 3.5 seconds. Only a readable shirt number links a player across cuts.</a:t>
            </a:r>
            <a:endParaRPr lang="en-US" sz="1300" dirty="0"/>
          </a:p>
        </p:txBody>
      </p:sp>
      <p:sp>
        <p:nvSpPr>
          <p:cNvPr id="11" name="Shape 8"/>
          <p:cNvSpPr/>
          <p:nvPr/>
        </p:nvSpPr>
        <p:spPr>
          <a:xfrm>
            <a:off x="4394200" y="1905000"/>
            <a:ext cx="3403600" cy="1841500"/>
          </a:xfrm>
          <a:prstGeom prst="roundRect">
            <a:avLst>
              <a:gd name="adj" fmla="val 4966"/>
            </a:avLst>
          </a:prstGeom>
          <a:solidFill>
            <a:srgbClr val="FBFCFA"/>
          </a:solidFill>
          <a:ln w="9525">
            <a:solidFill>
              <a:srgbClr val="CBD9D1"/>
            </a:solidFill>
            <a:prstDash val="solid"/>
          </a:ln>
        </p:spPr>
      </p:sp>
      <p:sp>
        <p:nvSpPr>
          <p:cNvPr id="12" name="Shape 9"/>
          <p:cNvSpPr/>
          <p:nvPr/>
        </p:nvSpPr>
        <p:spPr>
          <a:xfrm>
            <a:off x="4495800" y="1905000"/>
            <a:ext cx="3200400" cy="31750"/>
          </a:xfrm>
          <a:prstGeom prst="rect">
            <a:avLst/>
          </a:prstGeom>
          <a:solidFill>
            <a:srgbClr val="D9730D"/>
          </a:solidFill>
          <a:ln w="12700">
            <a:solidFill>
              <a:srgbClr val="D9730D"/>
            </a:solidFill>
            <a:prstDash val="solid"/>
          </a:ln>
        </p:spPr>
      </p:sp>
      <p:sp>
        <p:nvSpPr>
          <p:cNvPr id="13" name="Text 10"/>
          <p:cNvSpPr txBox="1"/>
          <p:nvPr/>
        </p:nvSpPr>
        <p:spPr>
          <a:xfrm>
            <a:off x="4572000" y="2070100"/>
            <a:ext cx="3048000" cy="317500"/>
          </a:xfrm>
          <a:prstGeom prst="rect">
            <a:avLst/>
          </a:prstGeom>
          <a:noFill/>
          <a:ln/>
        </p:spPr>
        <p:txBody>
          <a:bodyPr wrap="square" lIns="0" tIns="0" rIns="0" bIns="0" rtlCol="0" anchor="t"/>
          <a:lstStyle/>
          <a:p>
            <a:pPr indent="0" marL="0">
              <a:buNone/>
            </a:pPr>
            <a:r>
              <a:rPr lang="en-US" sz="1700" b="1" dirty="0">
                <a:solidFill>
                  <a:srgbClr val="16302A"/>
                </a:solidFill>
                <a:latin typeface="Arial" pitchFamily="34" charset="0"/>
                <a:ea typeface="Arial" pitchFamily="34" charset="-122"/>
                <a:cs typeface="Arial" pitchFamily="34" charset="-120"/>
              </a:rPr>
              <a:t>Only part of the pitch</a:t>
            </a:r>
            <a:endParaRPr lang="en-US" sz="1700" dirty="0"/>
          </a:p>
        </p:txBody>
      </p:sp>
      <p:sp>
        <p:nvSpPr>
          <p:cNvPr id="14" name="Text 11"/>
          <p:cNvSpPr txBox="1"/>
          <p:nvPr/>
        </p:nvSpPr>
        <p:spPr>
          <a:xfrm>
            <a:off x="4572000" y="2451100"/>
            <a:ext cx="3048000" cy="1206500"/>
          </a:xfrm>
          <a:prstGeom prst="rect">
            <a:avLst/>
          </a:prstGeom>
          <a:noFill/>
          <a:ln/>
        </p:spPr>
        <p:txBody>
          <a:bodyPr wrap="square" lIns="0" tIns="0" rIns="0" bIns="0" rtlCol="0" anchor="t"/>
          <a:lstStyle/>
          <a:p>
            <a:pPr indent="0" marL="0">
              <a:buNone/>
            </a:pPr>
            <a:r>
              <a:rPr lang="en-US" sz="1300" dirty="0">
                <a:solidFill>
                  <a:srgbClr val="4F6660"/>
                </a:solidFill>
                <a:latin typeface="Calibri" pitchFamily="34" charset="0"/>
                <a:ea typeface="Calibri" pitchFamily="34" charset="-122"/>
                <a:cs typeface="Calibri" pitchFamily="34" charset="-120"/>
              </a:rPr>
              <a:t>Just 54% of the demo half showed a usable pitch view. Players off screen get no statistics.</a:t>
            </a:r>
            <a:endParaRPr lang="en-US" sz="1300" dirty="0"/>
          </a:p>
        </p:txBody>
      </p:sp>
      <p:sp>
        <p:nvSpPr>
          <p:cNvPr id="15" name="Shape 12"/>
          <p:cNvSpPr/>
          <p:nvPr/>
        </p:nvSpPr>
        <p:spPr>
          <a:xfrm>
            <a:off x="7975600" y="1905000"/>
            <a:ext cx="3403600" cy="1841500"/>
          </a:xfrm>
          <a:prstGeom prst="roundRect">
            <a:avLst>
              <a:gd name="adj" fmla="val 4966"/>
            </a:avLst>
          </a:prstGeom>
          <a:solidFill>
            <a:srgbClr val="FBFCFA"/>
          </a:solidFill>
          <a:ln w="9525">
            <a:solidFill>
              <a:srgbClr val="CBD9D1"/>
            </a:solidFill>
            <a:prstDash val="solid"/>
          </a:ln>
        </p:spPr>
      </p:sp>
      <p:sp>
        <p:nvSpPr>
          <p:cNvPr id="16" name="Shape 13"/>
          <p:cNvSpPr/>
          <p:nvPr/>
        </p:nvSpPr>
        <p:spPr>
          <a:xfrm>
            <a:off x="8077200" y="1905000"/>
            <a:ext cx="3200400" cy="31750"/>
          </a:xfrm>
          <a:prstGeom prst="rect">
            <a:avLst/>
          </a:prstGeom>
          <a:solidFill>
            <a:srgbClr val="D9730D"/>
          </a:solidFill>
          <a:ln w="12700">
            <a:solidFill>
              <a:srgbClr val="D9730D"/>
            </a:solidFill>
            <a:prstDash val="solid"/>
          </a:ln>
        </p:spPr>
      </p:sp>
      <p:sp>
        <p:nvSpPr>
          <p:cNvPr id="17" name="Text 14"/>
          <p:cNvSpPr txBox="1"/>
          <p:nvPr/>
        </p:nvSpPr>
        <p:spPr>
          <a:xfrm>
            <a:off x="8153400" y="2070100"/>
            <a:ext cx="3048000" cy="317500"/>
          </a:xfrm>
          <a:prstGeom prst="rect">
            <a:avLst/>
          </a:prstGeom>
          <a:noFill/>
          <a:ln/>
        </p:spPr>
        <p:txBody>
          <a:bodyPr wrap="square" lIns="0" tIns="0" rIns="0" bIns="0" rtlCol="0" anchor="t"/>
          <a:lstStyle/>
          <a:p>
            <a:pPr indent="0" marL="0">
              <a:buNone/>
            </a:pPr>
            <a:r>
              <a:rPr lang="en-US" sz="1700" b="1" dirty="0">
                <a:solidFill>
                  <a:srgbClr val="16302A"/>
                </a:solidFill>
                <a:latin typeface="Arial" pitchFamily="34" charset="0"/>
                <a:ea typeface="Arial" pitchFamily="34" charset="-122"/>
                <a:cs typeface="Arial" pitchFamily="34" charset="-120"/>
              </a:rPr>
              <a:t>A tiny, hidden ball</a:t>
            </a:r>
            <a:endParaRPr lang="en-US" sz="1700" dirty="0"/>
          </a:p>
        </p:txBody>
      </p:sp>
      <p:sp>
        <p:nvSpPr>
          <p:cNvPr id="18" name="Text 15"/>
          <p:cNvSpPr txBox="1"/>
          <p:nvPr/>
        </p:nvSpPr>
        <p:spPr>
          <a:xfrm>
            <a:off x="8153400" y="2451100"/>
            <a:ext cx="3048000" cy="1206500"/>
          </a:xfrm>
          <a:prstGeom prst="rect">
            <a:avLst/>
          </a:prstGeom>
          <a:noFill/>
          <a:ln/>
        </p:spPr>
        <p:txBody>
          <a:bodyPr wrap="square" lIns="0" tIns="0" rIns="0" bIns="0" rtlCol="0" anchor="t"/>
          <a:lstStyle/>
          <a:p>
            <a:pPr indent="0" marL="0">
              <a:buNone/>
            </a:pPr>
            <a:r>
              <a:rPr lang="en-US" sz="1300" dirty="0">
                <a:solidFill>
                  <a:srgbClr val="4F6660"/>
                </a:solidFill>
                <a:latin typeface="Calibri" pitchFamily="34" charset="0"/>
                <a:ea typeface="Calibri" pitchFamily="34" charset="-122"/>
                <a:cs typeface="Calibri" pitchFamily="34" charset="-120"/>
              </a:rPr>
              <a:t>At 720p the ball is found in 44% of the frames where it is visible, and never when under 10 pixels.</a:t>
            </a:r>
            <a:endParaRPr lang="en-US" sz="1300" dirty="0"/>
          </a:p>
        </p:txBody>
      </p:sp>
      <p:sp>
        <p:nvSpPr>
          <p:cNvPr id="19" name="Shape 16"/>
          <p:cNvSpPr/>
          <p:nvPr/>
        </p:nvSpPr>
        <p:spPr>
          <a:xfrm>
            <a:off x="812800" y="3924300"/>
            <a:ext cx="3403600" cy="1841500"/>
          </a:xfrm>
          <a:prstGeom prst="roundRect">
            <a:avLst>
              <a:gd name="adj" fmla="val 4966"/>
            </a:avLst>
          </a:prstGeom>
          <a:solidFill>
            <a:srgbClr val="FBFCFA"/>
          </a:solidFill>
          <a:ln w="9525">
            <a:solidFill>
              <a:srgbClr val="CBD9D1"/>
            </a:solidFill>
            <a:prstDash val="solid"/>
          </a:ln>
        </p:spPr>
      </p:sp>
      <p:sp>
        <p:nvSpPr>
          <p:cNvPr id="20" name="Shape 17"/>
          <p:cNvSpPr/>
          <p:nvPr/>
        </p:nvSpPr>
        <p:spPr>
          <a:xfrm>
            <a:off x="914400" y="3924300"/>
            <a:ext cx="3200400" cy="31750"/>
          </a:xfrm>
          <a:prstGeom prst="rect">
            <a:avLst/>
          </a:prstGeom>
          <a:solidFill>
            <a:srgbClr val="D9730D"/>
          </a:solidFill>
          <a:ln w="12700">
            <a:solidFill>
              <a:srgbClr val="D9730D"/>
            </a:solidFill>
            <a:prstDash val="solid"/>
          </a:ln>
        </p:spPr>
      </p:sp>
      <p:sp>
        <p:nvSpPr>
          <p:cNvPr id="21" name="Text 18"/>
          <p:cNvSpPr txBox="1"/>
          <p:nvPr/>
        </p:nvSpPr>
        <p:spPr>
          <a:xfrm>
            <a:off x="990600" y="4089400"/>
            <a:ext cx="3048000" cy="317500"/>
          </a:xfrm>
          <a:prstGeom prst="rect">
            <a:avLst/>
          </a:prstGeom>
          <a:noFill/>
          <a:ln/>
        </p:spPr>
        <p:txBody>
          <a:bodyPr wrap="square" lIns="0" tIns="0" rIns="0" bIns="0" rtlCol="0" anchor="t"/>
          <a:lstStyle/>
          <a:p>
            <a:pPr indent="0" marL="0">
              <a:buNone/>
            </a:pPr>
            <a:r>
              <a:rPr lang="en-US" sz="1700" b="1" dirty="0">
                <a:solidFill>
                  <a:srgbClr val="16302A"/>
                </a:solidFill>
                <a:latin typeface="Arial" pitchFamily="34" charset="0"/>
                <a:ea typeface="Arial" pitchFamily="34" charset="-122"/>
                <a:cs typeface="Arial" pitchFamily="34" charset="-120"/>
              </a:rPr>
              <a:t>Tackles and blocks</a:t>
            </a:r>
            <a:endParaRPr lang="en-US" sz="1700" dirty="0"/>
          </a:p>
        </p:txBody>
      </p:sp>
      <p:sp>
        <p:nvSpPr>
          <p:cNvPr id="22" name="Text 19"/>
          <p:cNvSpPr txBox="1"/>
          <p:nvPr/>
        </p:nvSpPr>
        <p:spPr>
          <a:xfrm>
            <a:off x="990600" y="4470400"/>
            <a:ext cx="3048000" cy="1206500"/>
          </a:xfrm>
          <a:prstGeom prst="rect">
            <a:avLst/>
          </a:prstGeom>
          <a:noFill/>
          <a:ln/>
        </p:spPr>
        <p:txBody>
          <a:bodyPr wrap="square" lIns="0" tIns="0" rIns="0" bIns="0" rtlCol="0" anchor="t"/>
          <a:lstStyle/>
          <a:p>
            <a:pPr indent="0" marL="0">
              <a:buNone/>
            </a:pPr>
            <a:r>
              <a:rPr lang="en-US" sz="1300" dirty="0">
                <a:solidFill>
                  <a:srgbClr val="4F6660"/>
                </a:solidFill>
                <a:latin typeface="Calibri" pitchFamily="34" charset="0"/>
                <a:ea typeface="Calibri" pitchFamily="34" charset="-122"/>
                <a:cs typeface="Calibri" pitchFamily="34" charset="-120"/>
              </a:rPr>
              <a:t>From 2D positions a tackle looks like any touch. The video model finds about one in eight.</a:t>
            </a:r>
            <a:endParaRPr lang="en-US" sz="1300" dirty="0"/>
          </a:p>
        </p:txBody>
      </p:sp>
      <p:sp>
        <p:nvSpPr>
          <p:cNvPr id="23" name="Shape 20"/>
          <p:cNvSpPr/>
          <p:nvPr/>
        </p:nvSpPr>
        <p:spPr>
          <a:xfrm>
            <a:off x="4394200" y="3924300"/>
            <a:ext cx="3403600" cy="1841500"/>
          </a:xfrm>
          <a:prstGeom prst="roundRect">
            <a:avLst>
              <a:gd name="adj" fmla="val 4966"/>
            </a:avLst>
          </a:prstGeom>
          <a:solidFill>
            <a:srgbClr val="FBFCFA"/>
          </a:solidFill>
          <a:ln w="9525">
            <a:solidFill>
              <a:srgbClr val="CBD9D1"/>
            </a:solidFill>
            <a:prstDash val="solid"/>
          </a:ln>
        </p:spPr>
      </p:sp>
      <p:sp>
        <p:nvSpPr>
          <p:cNvPr id="24" name="Shape 21"/>
          <p:cNvSpPr/>
          <p:nvPr/>
        </p:nvSpPr>
        <p:spPr>
          <a:xfrm>
            <a:off x="4495800" y="3924300"/>
            <a:ext cx="3200400" cy="31750"/>
          </a:xfrm>
          <a:prstGeom prst="rect">
            <a:avLst/>
          </a:prstGeom>
          <a:solidFill>
            <a:srgbClr val="D9730D"/>
          </a:solidFill>
          <a:ln w="12700">
            <a:solidFill>
              <a:srgbClr val="D9730D"/>
            </a:solidFill>
            <a:prstDash val="solid"/>
          </a:ln>
        </p:spPr>
      </p:sp>
      <p:sp>
        <p:nvSpPr>
          <p:cNvPr id="25" name="Text 22"/>
          <p:cNvSpPr txBox="1"/>
          <p:nvPr/>
        </p:nvSpPr>
        <p:spPr>
          <a:xfrm>
            <a:off x="4572000" y="4089400"/>
            <a:ext cx="3048000" cy="317500"/>
          </a:xfrm>
          <a:prstGeom prst="rect">
            <a:avLst/>
          </a:prstGeom>
          <a:noFill/>
          <a:ln/>
        </p:spPr>
        <p:txBody>
          <a:bodyPr wrap="square" lIns="0" tIns="0" rIns="0" bIns="0" rtlCol="0" anchor="t"/>
          <a:lstStyle/>
          <a:p>
            <a:pPr indent="0" marL="0">
              <a:buNone/>
            </a:pPr>
            <a:r>
              <a:rPr lang="en-US" sz="1700" b="1" dirty="0">
                <a:solidFill>
                  <a:srgbClr val="16302A"/>
                </a:solidFill>
                <a:latin typeface="Arial" pitchFamily="34" charset="0"/>
                <a:ea typeface="Arial" pitchFamily="34" charset="-122"/>
                <a:cs typeface="Arial" pitchFamily="34" charset="-120"/>
              </a:rPr>
              <a:t>Naming every player</a:t>
            </a:r>
            <a:endParaRPr lang="en-US" sz="1700" dirty="0"/>
          </a:p>
        </p:txBody>
      </p:sp>
      <p:sp>
        <p:nvSpPr>
          <p:cNvPr id="26" name="Text 23"/>
          <p:cNvSpPr txBox="1"/>
          <p:nvPr/>
        </p:nvSpPr>
        <p:spPr>
          <a:xfrm>
            <a:off x="4572000" y="4470400"/>
            <a:ext cx="3048000" cy="1206500"/>
          </a:xfrm>
          <a:prstGeom prst="rect">
            <a:avLst/>
          </a:prstGeom>
          <a:noFill/>
          <a:ln/>
        </p:spPr>
        <p:txBody>
          <a:bodyPr wrap="square" lIns="0" tIns="0" rIns="0" bIns="0" rtlCol="0" anchor="t"/>
          <a:lstStyle/>
          <a:p>
            <a:pPr indent="0" marL="0">
              <a:buNone/>
            </a:pPr>
            <a:r>
              <a:rPr lang="en-US" sz="1300" dirty="0">
                <a:solidFill>
                  <a:srgbClr val="4F6660"/>
                </a:solidFill>
                <a:latin typeface="Calibri" pitchFamily="34" charset="0"/>
                <a:ea typeface="Calibri" pitchFamily="34" charset="-122"/>
                <a:cs typeface="Calibri" pitchFamily="34" charset="-120"/>
              </a:rPr>
              <a:t>About half of player time is tied to a shirt number. Striped kits are read worst.</a:t>
            </a:r>
            <a:endParaRPr lang="en-US" sz="1300" dirty="0"/>
          </a:p>
        </p:txBody>
      </p:sp>
      <p:sp>
        <p:nvSpPr>
          <p:cNvPr id="27" name="Shape 24"/>
          <p:cNvSpPr/>
          <p:nvPr/>
        </p:nvSpPr>
        <p:spPr>
          <a:xfrm>
            <a:off x="7975600" y="3924300"/>
            <a:ext cx="3403600" cy="1841500"/>
          </a:xfrm>
          <a:prstGeom prst="roundRect">
            <a:avLst>
              <a:gd name="adj" fmla="val 4966"/>
            </a:avLst>
          </a:prstGeom>
          <a:solidFill>
            <a:srgbClr val="FBFCFA"/>
          </a:solidFill>
          <a:ln w="9525">
            <a:solidFill>
              <a:srgbClr val="CBD9D1"/>
            </a:solidFill>
            <a:prstDash val="solid"/>
          </a:ln>
        </p:spPr>
      </p:sp>
      <p:sp>
        <p:nvSpPr>
          <p:cNvPr id="28" name="Shape 25"/>
          <p:cNvSpPr/>
          <p:nvPr/>
        </p:nvSpPr>
        <p:spPr>
          <a:xfrm>
            <a:off x="8077200" y="3924300"/>
            <a:ext cx="3200400" cy="31750"/>
          </a:xfrm>
          <a:prstGeom prst="rect">
            <a:avLst/>
          </a:prstGeom>
          <a:solidFill>
            <a:srgbClr val="D9730D"/>
          </a:solidFill>
          <a:ln w="12700">
            <a:solidFill>
              <a:srgbClr val="D9730D"/>
            </a:solidFill>
            <a:prstDash val="solid"/>
          </a:ln>
        </p:spPr>
      </p:sp>
      <p:sp>
        <p:nvSpPr>
          <p:cNvPr id="29" name="Text 26"/>
          <p:cNvSpPr txBox="1"/>
          <p:nvPr/>
        </p:nvSpPr>
        <p:spPr>
          <a:xfrm>
            <a:off x="8153400" y="4089400"/>
            <a:ext cx="3048000" cy="317500"/>
          </a:xfrm>
          <a:prstGeom prst="rect">
            <a:avLst/>
          </a:prstGeom>
          <a:noFill/>
          <a:ln/>
        </p:spPr>
        <p:txBody>
          <a:bodyPr wrap="square" lIns="0" tIns="0" rIns="0" bIns="0" rtlCol="0" anchor="t"/>
          <a:lstStyle/>
          <a:p>
            <a:pPr indent="0" marL="0">
              <a:buNone/>
            </a:pPr>
            <a:r>
              <a:rPr lang="en-US" sz="1700" b="1" dirty="0">
                <a:solidFill>
                  <a:srgbClr val="16302A"/>
                </a:solidFill>
                <a:latin typeface="Arial" pitchFamily="34" charset="0"/>
                <a:ea typeface="Arial" pitchFamily="34" charset="-122"/>
                <a:cs typeface="Arial" pitchFamily="34" charset="-120"/>
              </a:rPr>
              <a:t>Labels, data and compute</a:t>
            </a:r>
            <a:endParaRPr lang="en-US" sz="1700" dirty="0"/>
          </a:p>
        </p:txBody>
      </p:sp>
      <p:sp>
        <p:nvSpPr>
          <p:cNvPr id="30" name="Text 27"/>
          <p:cNvSpPr txBox="1"/>
          <p:nvPr/>
        </p:nvSpPr>
        <p:spPr>
          <a:xfrm>
            <a:off x="8153400" y="4470400"/>
            <a:ext cx="3048000" cy="1206500"/>
          </a:xfrm>
          <a:prstGeom prst="rect">
            <a:avLst/>
          </a:prstGeom>
          <a:noFill/>
          <a:ln/>
        </p:spPr>
        <p:txBody>
          <a:bodyPr wrap="square" lIns="0" tIns="0" rIns="0" bIns="0" rtlCol="0" anchor="t"/>
          <a:lstStyle/>
          <a:p>
            <a:pPr indent="0" marL="0">
              <a:buNone/>
            </a:pPr>
            <a:r>
              <a:rPr lang="en-US" sz="1300" dirty="0">
                <a:solidFill>
                  <a:srgbClr val="4F6660"/>
                </a:solidFill>
                <a:latin typeface="Calibri" pitchFamily="34" charset="0"/>
                <a:ea typeface="Calibri" pitchFamily="34" charset="-122"/>
                <a:cs typeface="Calibri" pitchFamily="34" charset="-120"/>
              </a:rPr>
              <a:t>No archetype labels yet. Training data sits under a SoccerNet NDA. A half takes about 33 minutes.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6F2"/>
        </a:solidFill>
      </p:bgPr>
    </p:bg>
    <p:spTree>
      <p:nvGrpSpPr>
        <p:cNvPr id="1" name=""/>
        <p:cNvGrpSpPr/>
        <p:nvPr/>
      </p:nvGrpSpPr>
      <p:grpSpPr>
        <a:xfrm>
          <a:off x="0" y="0"/>
          <a:ext cx="0" cy="0"/>
          <a:chOff x="0" y="0"/>
          <a:chExt cx="0" cy="0"/>
        </a:xfrm>
      </p:grpSpPr>
      <p:sp>
        <p:nvSpPr>
          <p:cNvPr id="3" name="Text 0"/>
          <p:cNvSpPr txBox="1"/>
          <p:nvPr/>
        </p:nvSpPr>
        <p:spPr>
          <a:xfrm>
            <a:off x="812800" y="711200"/>
            <a:ext cx="10566400" cy="215900"/>
          </a:xfrm>
          <a:prstGeom prst="rect">
            <a:avLst/>
          </a:prstGeom>
          <a:noFill/>
          <a:ln/>
        </p:spPr>
        <p:txBody>
          <a:bodyPr wrap="square" lIns="0" tIns="0" rIns="0" bIns="0" rtlCol="0" anchor="t"/>
          <a:lstStyle/>
          <a:p>
            <a:pPr indent="0" marL="0">
              <a:buNone/>
            </a:pPr>
            <a:r>
              <a:rPr lang="en-US" sz="1200" b="1" spc="200" kern="0" dirty="0">
                <a:solidFill>
                  <a:srgbClr val="0A7A5C"/>
                </a:solidFill>
                <a:latin typeface="Calibri" pitchFamily="34" charset="0"/>
                <a:ea typeface="Calibri" pitchFamily="34" charset="-122"/>
                <a:cs typeface="Calibri" pitchFamily="34" charset="-120"/>
              </a:rPr>
              <a:t>WHAT WE WOULD IMPROVE</a:t>
            </a:r>
            <a:endParaRPr lang="en-US" sz="1200" dirty="0"/>
          </a:p>
        </p:txBody>
      </p:sp>
      <p:sp>
        <p:nvSpPr>
          <p:cNvPr id="4" name="Text 1"/>
          <p:cNvSpPr txBox="1"/>
          <p:nvPr/>
        </p:nvSpPr>
        <p:spPr>
          <a:xfrm>
            <a:off x="812800" y="965200"/>
            <a:ext cx="10566400" cy="571500"/>
          </a:xfrm>
          <a:prstGeom prst="rect">
            <a:avLst/>
          </a:prstGeom>
          <a:noFill/>
          <a:ln/>
        </p:spPr>
        <p:txBody>
          <a:bodyPr wrap="square" lIns="0" tIns="0" rIns="0" bIns="0" rtlCol="0" anchor="ctr"/>
          <a:lstStyle/>
          <a:p>
            <a:pPr indent="0" marL="0">
              <a:buNone/>
            </a:pPr>
            <a:r>
              <a:rPr lang="en-US" sz="3000" b="1" dirty="0">
                <a:solidFill>
                  <a:srgbClr val="16302A"/>
                </a:solidFill>
                <a:latin typeface="Arial" pitchFamily="34" charset="0"/>
                <a:ea typeface="Arial" pitchFamily="34" charset="-122"/>
                <a:cs typeface="Arial" pitchFamily="34" charset="-120"/>
              </a:rPr>
              <a:t>Next steps, in order of expected value</a:t>
            </a:r>
            <a:endParaRPr lang="en-US" sz="3000" dirty="0"/>
          </a:p>
        </p:txBody>
      </p:sp>
      <p:sp>
        <p:nvSpPr>
          <p:cNvPr id="5" name="Text 2"/>
          <p:cNvSpPr txBox="1"/>
          <p:nvPr/>
        </p:nvSpPr>
        <p:spPr>
          <a:xfrm>
            <a:off x="812800" y="6254750"/>
            <a:ext cx="5715000" cy="190500"/>
          </a:xfrm>
          <a:prstGeom prst="rect">
            <a:avLst/>
          </a:prstGeom>
          <a:noFill/>
          <a:ln/>
        </p:spPr>
        <p:txBody>
          <a:bodyPr wrap="square" lIns="0" tIns="0" rIns="0" bIns="0" rtlCol="0" anchor="t"/>
          <a:lstStyle/>
          <a:p>
            <a:pPr indent="0" marL="0">
              <a:buNone/>
            </a:pPr>
            <a:r>
              <a:rPr lang="en-US" sz="1200" dirty="0">
                <a:solidFill>
                  <a:srgbClr val="4F6660"/>
                </a:solidFill>
                <a:latin typeface="Calibri" pitchFamily="34" charset="0"/>
                <a:ea typeface="Calibri" pitchFamily="34" charset="-122"/>
                <a:cs typeface="Calibri" pitchFamily="34" charset="-120"/>
              </a:rPr>
              <a:t>PitchProfile · AAI3001</a:t>
            </a:r>
            <a:endParaRPr lang="en-US" sz="1200" dirty="0"/>
          </a:p>
        </p:txBody>
      </p:sp>
      <p:sp>
        <p:nvSpPr>
          <p:cNvPr id="6" name="Text 3"/>
          <p:cNvSpPr txBox="1"/>
          <p:nvPr/>
        </p:nvSpPr>
        <p:spPr>
          <a:xfrm>
            <a:off x="10109200" y="6254750"/>
            <a:ext cx="1270000" cy="190500"/>
          </a:xfrm>
          <a:prstGeom prst="rect">
            <a:avLst/>
          </a:prstGeom>
          <a:noFill/>
          <a:ln/>
        </p:spPr>
        <p:txBody>
          <a:bodyPr wrap="square" lIns="0" tIns="0" rIns="0" bIns="0" rtlCol="0" anchor="t"/>
          <a:lstStyle/>
          <a:p>
            <a:pPr algn="r" indent="0" marL="0">
              <a:buNone/>
            </a:pPr>
            <a:r>
              <a:rPr lang="en-US" sz="1200" dirty="0">
                <a:solidFill>
                  <a:srgbClr val="4F6660"/>
                </a:solidFill>
                <a:latin typeface="Calibri" pitchFamily="34" charset="0"/>
                <a:ea typeface="Calibri" pitchFamily="34" charset="-122"/>
                <a:cs typeface="Calibri" pitchFamily="34" charset="-120"/>
              </a:rPr>
              <a:t>13</a:t>
            </a:r>
            <a:endParaRPr lang="en-US" sz="1200" dirty="0"/>
          </a:p>
        </p:txBody>
      </p:sp>
      <p:sp>
        <p:nvSpPr>
          <p:cNvPr id="7" name="Shape 4"/>
          <p:cNvSpPr/>
          <p:nvPr/>
        </p:nvSpPr>
        <p:spPr>
          <a:xfrm>
            <a:off x="812800" y="1905000"/>
            <a:ext cx="10566400" cy="546100"/>
          </a:xfrm>
          <a:prstGeom prst="roundRect">
            <a:avLst>
              <a:gd name="adj" fmla="val 16744"/>
            </a:avLst>
          </a:prstGeom>
          <a:solidFill>
            <a:srgbClr val="FBFCFA"/>
          </a:solidFill>
          <a:ln w="9525">
            <a:solidFill>
              <a:srgbClr val="D5E1DA"/>
            </a:solidFill>
            <a:prstDash val="solid"/>
          </a:ln>
        </p:spPr>
      </p:sp>
      <p:sp>
        <p:nvSpPr>
          <p:cNvPr id="8" name="Text 5"/>
          <p:cNvSpPr txBox="1"/>
          <p:nvPr/>
        </p:nvSpPr>
        <p:spPr>
          <a:xfrm>
            <a:off x="990600" y="1905000"/>
            <a:ext cx="317500" cy="546100"/>
          </a:xfrm>
          <a:prstGeom prst="rect">
            <a:avLst/>
          </a:prstGeom>
          <a:noFill/>
          <a:ln/>
        </p:spPr>
        <p:txBody>
          <a:bodyPr wrap="square" lIns="0" tIns="0" rIns="0" bIns="0" rtlCol="0" anchor="ctr"/>
          <a:lstStyle/>
          <a:p>
            <a:pPr indent="0" marL="0">
              <a:buNone/>
            </a:pPr>
            <a:r>
              <a:rPr lang="en-US" sz="1700" b="1" dirty="0">
                <a:solidFill>
                  <a:srgbClr val="0A7A5C"/>
                </a:solidFill>
                <a:latin typeface="Arial" pitchFamily="34" charset="0"/>
                <a:ea typeface="Arial" pitchFamily="34" charset="-122"/>
                <a:cs typeface="Arial" pitchFamily="34" charset="-120"/>
              </a:rPr>
              <a:t>1</a:t>
            </a:r>
            <a:endParaRPr lang="en-US" sz="1700" dirty="0"/>
          </a:p>
        </p:txBody>
      </p:sp>
      <p:sp>
        <p:nvSpPr>
          <p:cNvPr id="9" name="Text 6"/>
          <p:cNvSpPr txBox="1"/>
          <p:nvPr/>
        </p:nvSpPr>
        <p:spPr>
          <a:xfrm>
            <a:off x="1371600" y="1905000"/>
            <a:ext cx="3556000" cy="546100"/>
          </a:xfrm>
          <a:prstGeom prst="rect">
            <a:avLst/>
          </a:prstGeom>
          <a:noFill/>
          <a:ln/>
        </p:spPr>
        <p:txBody>
          <a:bodyPr wrap="square" lIns="0" tIns="0" rIns="0" bIns="0" rtlCol="0" anchor="ctr"/>
          <a:lstStyle/>
          <a:p>
            <a:pPr indent="0" marL="0">
              <a:buNone/>
            </a:pPr>
            <a:r>
              <a:rPr lang="en-US" sz="1700" b="1" dirty="0">
                <a:solidFill>
                  <a:srgbClr val="16302A"/>
                </a:solidFill>
                <a:latin typeface="Arial" pitchFamily="34" charset="0"/>
                <a:ea typeface="Arial" pitchFamily="34" charset="-122"/>
                <a:cs typeface="Arial" pitchFamily="34" charset="-120"/>
              </a:rPr>
              <a:t>Better ball detection</a:t>
            </a:r>
            <a:endParaRPr lang="en-US" sz="1700" dirty="0"/>
          </a:p>
        </p:txBody>
      </p:sp>
      <p:sp>
        <p:nvSpPr>
          <p:cNvPr id="10" name="Text 7"/>
          <p:cNvSpPr txBox="1"/>
          <p:nvPr/>
        </p:nvSpPr>
        <p:spPr>
          <a:xfrm>
            <a:off x="5080000" y="1905000"/>
            <a:ext cx="6096000" cy="546100"/>
          </a:xfrm>
          <a:prstGeom prst="rect">
            <a:avLst/>
          </a:prstGeom>
          <a:noFill/>
          <a:ln/>
        </p:spPr>
        <p:txBody>
          <a:bodyPr wrap="square" lIns="0" tIns="0" rIns="0" bIns="0" rtlCol="0" anchor="ctr"/>
          <a:lstStyle/>
          <a:p>
            <a:pPr indent="0" marL="0">
              <a:buNone/>
            </a:pPr>
            <a:r>
              <a:rPr lang="en-US" sz="1300" dirty="0">
                <a:solidFill>
                  <a:srgbClr val="4F6660"/>
                </a:solidFill>
                <a:latin typeface="Calibri" pitchFamily="34" charset="0"/>
                <a:ea typeface="Calibri" pitchFamily="34" charset="-122"/>
                <a:cs typeface="Calibri" pitchFamily="34" charset="-120"/>
              </a:rPr>
              <a:t>Fine-tune a ball detector; many spotted passes have no ball to credit.</a:t>
            </a:r>
            <a:endParaRPr lang="en-US" sz="1300" dirty="0"/>
          </a:p>
        </p:txBody>
      </p:sp>
      <p:sp>
        <p:nvSpPr>
          <p:cNvPr id="11" name="Shape 8"/>
          <p:cNvSpPr/>
          <p:nvPr/>
        </p:nvSpPr>
        <p:spPr>
          <a:xfrm>
            <a:off x="812800" y="2540000"/>
            <a:ext cx="10566400" cy="546100"/>
          </a:xfrm>
          <a:prstGeom prst="roundRect">
            <a:avLst>
              <a:gd name="adj" fmla="val 16744"/>
            </a:avLst>
          </a:prstGeom>
          <a:solidFill>
            <a:srgbClr val="FBFCFA"/>
          </a:solidFill>
          <a:ln w="9525">
            <a:solidFill>
              <a:srgbClr val="D5E1DA"/>
            </a:solidFill>
            <a:prstDash val="solid"/>
          </a:ln>
        </p:spPr>
      </p:sp>
      <p:sp>
        <p:nvSpPr>
          <p:cNvPr id="12" name="Text 9"/>
          <p:cNvSpPr txBox="1"/>
          <p:nvPr/>
        </p:nvSpPr>
        <p:spPr>
          <a:xfrm>
            <a:off x="990600" y="2540000"/>
            <a:ext cx="317500" cy="546100"/>
          </a:xfrm>
          <a:prstGeom prst="rect">
            <a:avLst/>
          </a:prstGeom>
          <a:noFill/>
          <a:ln/>
        </p:spPr>
        <p:txBody>
          <a:bodyPr wrap="square" lIns="0" tIns="0" rIns="0" bIns="0" rtlCol="0" anchor="ctr"/>
          <a:lstStyle/>
          <a:p>
            <a:pPr indent="0" marL="0">
              <a:buNone/>
            </a:pPr>
            <a:r>
              <a:rPr lang="en-US" sz="1700" b="1" dirty="0">
                <a:solidFill>
                  <a:srgbClr val="0A7A5C"/>
                </a:solidFill>
                <a:latin typeface="Arial" pitchFamily="34" charset="0"/>
                <a:ea typeface="Arial" pitchFamily="34" charset="-122"/>
                <a:cs typeface="Arial" pitchFamily="34" charset="-120"/>
              </a:rPr>
              <a:t>2</a:t>
            </a:r>
            <a:endParaRPr lang="en-US" sz="1700" dirty="0"/>
          </a:p>
        </p:txBody>
      </p:sp>
      <p:sp>
        <p:nvSpPr>
          <p:cNvPr id="13" name="Text 10"/>
          <p:cNvSpPr txBox="1"/>
          <p:nvPr/>
        </p:nvSpPr>
        <p:spPr>
          <a:xfrm>
            <a:off x="1371600" y="2540000"/>
            <a:ext cx="3556000" cy="546100"/>
          </a:xfrm>
          <a:prstGeom prst="rect">
            <a:avLst/>
          </a:prstGeom>
          <a:noFill/>
          <a:ln/>
        </p:spPr>
        <p:txBody>
          <a:bodyPr wrap="square" lIns="0" tIns="0" rIns="0" bIns="0" rtlCol="0" anchor="ctr"/>
          <a:lstStyle/>
          <a:p>
            <a:pPr indent="0" marL="0">
              <a:buNone/>
            </a:pPr>
            <a:r>
              <a:rPr lang="en-US" sz="1700" b="1" dirty="0">
                <a:solidFill>
                  <a:srgbClr val="16302A"/>
                </a:solidFill>
                <a:latin typeface="Arial" pitchFamily="34" charset="0"/>
                <a:ea typeface="Arial" pitchFamily="34" charset="-122"/>
                <a:cs typeface="Arial" pitchFamily="34" charset="-120"/>
              </a:rPr>
              <a:t>Name more players</a:t>
            </a:r>
            <a:endParaRPr lang="en-US" sz="1700" dirty="0"/>
          </a:p>
        </p:txBody>
      </p:sp>
      <p:sp>
        <p:nvSpPr>
          <p:cNvPr id="14" name="Text 11"/>
          <p:cNvSpPr txBox="1"/>
          <p:nvPr/>
        </p:nvSpPr>
        <p:spPr>
          <a:xfrm>
            <a:off x="5080000" y="2540000"/>
            <a:ext cx="6096000" cy="546100"/>
          </a:xfrm>
          <a:prstGeom prst="rect">
            <a:avLst/>
          </a:prstGeom>
          <a:noFill/>
          <a:ln/>
        </p:spPr>
        <p:txBody>
          <a:bodyPr wrap="square" lIns="0" tIns="0" rIns="0" bIns="0" rtlCol="0" anchor="ctr"/>
          <a:lstStyle/>
          <a:p>
            <a:pPr indent="0" marL="0">
              <a:buNone/>
            </a:pPr>
            <a:r>
              <a:rPr lang="en-US" sz="1300" dirty="0">
                <a:solidFill>
                  <a:srgbClr val="4F6660"/>
                </a:solidFill>
                <a:latin typeface="Calibri" pitchFamily="34" charset="0"/>
                <a:ea typeface="Calibri" pitchFamily="34" charset="-122"/>
                <a:cs typeface="Calibri" pitchFamily="34" charset="-120"/>
              </a:rPr>
              <a:t>Read more shirt numbers; name the rest in the review screen.</a:t>
            </a:r>
            <a:endParaRPr lang="en-US" sz="1300" dirty="0"/>
          </a:p>
        </p:txBody>
      </p:sp>
      <p:sp>
        <p:nvSpPr>
          <p:cNvPr id="15" name="Shape 12"/>
          <p:cNvSpPr/>
          <p:nvPr/>
        </p:nvSpPr>
        <p:spPr>
          <a:xfrm>
            <a:off x="812800" y="3175000"/>
            <a:ext cx="10566400" cy="546100"/>
          </a:xfrm>
          <a:prstGeom prst="roundRect">
            <a:avLst>
              <a:gd name="adj" fmla="val 16744"/>
            </a:avLst>
          </a:prstGeom>
          <a:solidFill>
            <a:srgbClr val="FBFCFA"/>
          </a:solidFill>
          <a:ln w="9525">
            <a:solidFill>
              <a:srgbClr val="D5E1DA"/>
            </a:solidFill>
            <a:prstDash val="solid"/>
          </a:ln>
        </p:spPr>
      </p:sp>
      <p:sp>
        <p:nvSpPr>
          <p:cNvPr id="16" name="Text 13"/>
          <p:cNvSpPr txBox="1"/>
          <p:nvPr/>
        </p:nvSpPr>
        <p:spPr>
          <a:xfrm>
            <a:off x="990600" y="3175000"/>
            <a:ext cx="317500" cy="546100"/>
          </a:xfrm>
          <a:prstGeom prst="rect">
            <a:avLst/>
          </a:prstGeom>
          <a:noFill/>
          <a:ln/>
        </p:spPr>
        <p:txBody>
          <a:bodyPr wrap="square" lIns="0" tIns="0" rIns="0" bIns="0" rtlCol="0" anchor="ctr"/>
          <a:lstStyle/>
          <a:p>
            <a:pPr indent="0" marL="0">
              <a:buNone/>
            </a:pPr>
            <a:r>
              <a:rPr lang="en-US" sz="1700" b="1" dirty="0">
                <a:solidFill>
                  <a:srgbClr val="0A7A5C"/>
                </a:solidFill>
                <a:latin typeface="Arial" pitchFamily="34" charset="0"/>
                <a:ea typeface="Arial" pitchFamily="34" charset="-122"/>
                <a:cs typeface="Arial" pitchFamily="34" charset="-120"/>
              </a:rPr>
              <a:t>3</a:t>
            </a:r>
            <a:endParaRPr lang="en-US" sz="1700" dirty="0"/>
          </a:p>
        </p:txBody>
      </p:sp>
      <p:sp>
        <p:nvSpPr>
          <p:cNvPr id="17" name="Text 14"/>
          <p:cNvSpPr txBox="1"/>
          <p:nvPr/>
        </p:nvSpPr>
        <p:spPr>
          <a:xfrm>
            <a:off x="1371600" y="3175000"/>
            <a:ext cx="3556000" cy="546100"/>
          </a:xfrm>
          <a:prstGeom prst="rect">
            <a:avLst/>
          </a:prstGeom>
          <a:noFill/>
          <a:ln/>
        </p:spPr>
        <p:txBody>
          <a:bodyPr wrap="square" lIns="0" tIns="0" rIns="0" bIns="0" rtlCol="0" anchor="ctr"/>
          <a:lstStyle/>
          <a:p>
            <a:pPr indent="0" marL="0">
              <a:buNone/>
            </a:pPr>
            <a:r>
              <a:rPr lang="en-US" sz="1700" b="1" dirty="0">
                <a:solidFill>
                  <a:srgbClr val="16302A"/>
                </a:solidFill>
                <a:latin typeface="Arial" pitchFamily="34" charset="0"/>
                <a:ea typeface="Arial" pitchFamily="34" charset="-122"/>
                <a:cs typeface="Arial" pitchFamily="34" charset="-120"/>
              </a:rPr>
              <a:t>Estimate off-screen play</a:t>
            </a:r>
            <a:endParaRPr lang="en-US" sz="1700" dirty="0"/>
          </a:p>
        </p:txBody>
      </p:sp>
      <p:sp>
        <p:nvSpPr>
          <p:cNvPr id="18" name="Text 15"/>
          <p:cNvSpPr txBox="1"/>
          <p:nvPr/>
        </p:nvSpPr>
        <p:spPr>
          <a:xfrm>
            <a:off x="5080000" y="3175000"/>
            <a:ext cx="6096000" cy="546100"/>
          </a:xfrm>
          <a:prstGeom prst="rect">
            <a:avLst/>
          </a:prstGeom>
          <a:noFill/>
          <a:ln/>
        </p:spPr>
        <p:txBody>
          <a:bodyPr wrap="square" lIns="0" tIns="0" rIns="0" bIns="0" rtlCol="0" anchor="ctr"/>
          <a:lstStyle/>
          <a:p>
            <a:pPr indent="0" marL="0">
              <a:buNone/>
            </a:pPr>
            <a:r>
              <a:rPr lang="en-US" sz="1300" dirty="0">
                <a:solidFill>
                  <a:srgbClr val="4F6660"/>
                </a:solidFill>
                <a:latin typeface="Calibri" pitchFamily="34" charset="0"/>
                <a:ea typeface="Calibri" pitchFamily="34" charset="-122"/>
                <a:cs typeface="Calibri" pitchFamily="34" charset="-120"/>
              </a:rPr>
              <a:t>Fill in distance and positions while the camera looks elsewhere.</a:t>
            </a:r>
            <a:endParaRPr lang="en-US" sz="1300" dirty="0"/>
          </a:p>
        </p:txBody>
      </p:sp>
      <p:sp>
        <p:nvSpPr>
          <p:cNvPr id="19" name="Shape 16"/>
          <p:cNvSpPr/>
          <p:nvPr/>
        </p:nvSpPr>
        <p:spPr>
          <a:xfrm>
            <a:off x="812800" y="3810000"/>
            <a:ext cx="10566400" cy="546100"/>
          </a:xfrm>
          <a:prstGeom prst="roundRect">
            <a:avLst>
              <a:gd name="adj" fmla="val 16744"/>
            </a:avLst>
          </a:prstGeom>
          <a:solidFill>
            <a:srgbClr val="FBFCFA"/>
          </a:solidFill>
          <a:ln w="9525">
            <a:solidFill>
              <a:srgbClr val="D5E1DA"/>
            </a:solidFill>
            <a:prstDash val="solid"/>
          </a:ln>
        </p:spPr>
      </p:sp>
      <p:sp>
        <p:nvSpPr>
          <p:cNvPr id="20" name="Text 17"/>
          <p:cNvSpPr txBox="1"/>
          <p:nvPr/>
        </p:nvSpPr>
        <p:spPr>
          <a:xfrm>
            <a:off x="990600" y="3810000"/>
            <a:ext cx="317500" cy="546100"/>
          </a:xfrm>
          <a:prstGeom prst="rect">
            <a:avLst/>
          </a:prstGeom>
          <a:noFill/>
          <a:ln/>
        </p:spPr>
        <p:txBody>
          <a:bodyPr wrap="square" lIns="0" tIns="0" rIns="0" bIns="0" rtlCol="0" anchor="ctr"/>
          <a:lstStyle/>
          <a:p>
            <a:pPr indent="0" marL="0">
              <a:buNone/>
            </a:pPr>
            <a:r>
              <a:rPr lang="en-US" sz="1700" b="1" dirty="0">
                <a:solidFill>
                  <a:srgbClr val="0A7A5C"/>
                </a:solidFill>
                <a:latin typeface="Arial" pitchFamily="34" charset="0"/>
                <a:ea typeface="Arial" pitchFamily="34" charset="-122"/>
                <a:cs typeface="Arial" pitchFamily="34" charset="-120"/>
              </a:rPr>
              <a:t>4</a:t>
            </a:r>
            <a:endParaRPr lang="en-US" sz="1700" dirty="0"/>
          </a:p>
        </p:txBody>
      </p:sp>
      <p:sp>
        <p:nvSpPr>
          <p:cNvPr id="21" name="Text 18"/>
          <p:cNvSpPr txBox="1"/>
          <p:nvPr/>
        </p:nvSpPr>
        <p:spPr>
          <a:xfrm>
            <a:off x="1371600" y="3810000"/>
            <a:ext cx="3556000" cy="546100"/>
          </a:xfrm>
          <a:prstGeom prst="rect">
            <a:avLst/>
          </a:prstGeom>
          <a:noFill/>
          <a:ln/>
        </p:spPr>
        <p:txBody>
          <a:bodyPr wrap="square" lIns="0" tIns="0" rIns="0" bIns="0" rtlCol="0" anchor="ctr"/>
          <a:lstStyle/>
          <a:p>
            <a:pPr indent="0" marL="0">
              <a:buNone/>
            </a:pPr>
            <a:r>
              <a:rPr lang="en-US" sz="1700" b="1" dirty="0">
                <a:solidFill>
                  <a:srgbClr val="16302A"/>
                </a:solidFill>
                <a:latin typeface="Arial" pitchFamily="34" charset="0"/>
                <a:ea typeface="Arial" pitchFamily="34" charset="-122"/>
                <a:cs typeface="Arial" pitchFamily="34" charset="-120"/>
              </a:rPr>
              <a:t>Fix tackles</a:t>
            </a:r>
            <a:endParaRPr lang="en-US" sz="1700" dirty="0"/>
          </a:p>
        </p:txBody>
      </p:sp>
      <p:sp>
        <p:nvSpPr>
          <p:cNvPr id="22" name="Text 19"/>
          <p:cNvSpPr txBox="1"/>
          <p:nvPr/>
        </p:nvSpPr>
        <p:spPr>
          <a:xfrm>
            <a:off x="5080000" y="3810000"/>
            <a:ext cx="6096000" cy="546100"/>
          </a:xfrm>
          <a:prstGeom prst="rect">
            <a:avLst/>
          </a:prstGeom>
          <a:noFill/>
          <a:ln/>
        </p:spPr>
        <p:txBody>
          <a:bodyPr wrap="square" lIns="0" tIns="0" rIns="0" bIns="0" rtlCol="0" anchor="ctr"/>
          <a:lstStyle/>
          <a:p>
            <a:pPr indent="0" marL="0">
              <a:buNone/>
            </a:pPr>
            <a:r>
              <a:rPr lang="en-US" sz="1300" dirty="0">
                <a:solidFill>
                  <a:srgbClr val="4F6660"/>
                </a:solidFill>
                <a:latin typeface="Calibri" pitchFamily="34" charset="0"/>
                <a:ea typeface="Calibri" pitchFamily="34" charset="-122"/>
                <a:cs typeface="Calibri" pitchFamily="34" charset="-120"/>
              </a:rPr>
              <a:t>Needs far more labelled tackles, or a model of the two-player contact.</a:t>
            </a:r>
            <a:endParaRPr lang="en-US" sz="1300" dirty="0"/>
          </a:p>
        </p:txBody>
      </p:sp>
      <p:sp>
        <p:nvSpPr>
          <p:cNvPr id="23" name="Shape 20"/>
          <p:cNvSpPr/>
          <p:nvPr/>
        </p:nvSpPr>
        <p:spPr>
          <a:xfrm>
            <a:off x="812800" y="4445000"/>
            <a:ext cx="10566400" cy="546100"/>
          </a:xfrm>
          <a:prstGeom prst="roundRect">
            <a:avLst>
              <a:gd name="adj" fmla="val 16744"/>
            </a:avLst>
          </a:prstGeom>
          <a:solidFill>
            <a:srgbClr val="FBFCFA"/>
          </a:solidFill>
          <a:ln w="9525">
            <a:solidFill>
              <a:srgbClr val="D5E1DA"/>
            </a:solidFill>
            <a:prstDash val="solid"/>
          </a:ln>
        </p:spPr>
      </p:sp>
      <p:sp>
        <p:nvSpPr>
          <p:cNvPr id="24" name="Text 21"/>
          <p:cNvSpPr txBox="1"/>
          <p:nvPr/>
        </p:nvSpPr>
        <p:spPr>
          <a:xfrm>
            <a:off x="990600" y="4445000"/>
            <a:ext cx="317500" cy="546100"/>
          </a:xfrm>
          <a:prstGeom prst="rect">
            <a:avLst/>
          </a:prstGeom>
          <a:noFill/>
          <a:ln/>
        </p:spPr>
        <p:txBody>
          <a:bodyPr wrap="square" lIns="0" tIns="0" rIns="0" bIns="0" rtlCol="0" anchor="ctr"/>
          <a:lstStyle/>
          <a:p>
            <a:pPr indent="0" marL="0">
              <a:buNone/>
            </a:pPr>
            <a:r>
              <a:rPr lang="en-US" sz="1700" b="1" dirty="0">
                <a:solidFill>
                  <a:srgbClr val="0A7A5C"/>
                </a:solidFill>
                <a:latin typeface="Arial" pitchFamily="34" charset="0"/>
                <a:ea typeface="Arial" pitchFamily="34" charset="-122"/>
                <a:cs typeface="Arial" pitchFamily="34" charset="-120"/>
              </a:rPr>
              <a:t>5</a:t>
            </a:r>
            <a:endParaRPr lang="en-US" sz="1700" dirty="0"/>
          </a:p>
        </p:txBody>
      </p:sp>
      <p:sp>
        <p:nvSpPr>
          <p:cNvPr id="25" name="Text 22"/>
          <p:cNvSpPr txBox="1"/>
          <p:nvPr/>
        </p:nvSpPr>
        <p:spPr>
          <a:xfrm>
            <a:off x="1371600" y="4445000"/>
            <a:ext cx="3556000" cy="546100"/>
          </a:xfrm>
          <a:prstGeom prst="rect">
            <a:avLst/>
          </a:prstGeom>
          <a:noFill/>
          <a:ln/>
        </p:spPr>
        <p:txBody>
          <a:bodyPr wrap="square" lIns="0" tIns="0" rIns="0" bIns="0" rtlCol="0" anchor="ctr"/>
          <a:lstStyle/>
          <a:p>
            <a:pPr indent="0" marL="0">
              <a:buNone/>
            </a:pPr>
            <a:r>
              <a:rPr lang="en-US" sz="1700" b="1" dirty="0">
                <a:solidFill>
                  <a:srgbClr val="16302A"/>
                </a:solidFill>
                <a:latin typeface="Arial" pitchFamily="34" charset="0"/>
                <a:ea typeface="Arial" pitchFamily="34" charset="-122"/>
                <a:cs typeface="Arial" pitchFamily="34" charset="-120"/>
              </a:rPr>
              <a:t>Fit archetype profiles</a:t>
            </a:r>
            <a:endParaRPr lang="en-US" sz="1700" dirty="0"/>
          </a:p>
        </p:txBody>
      </p:sp>
      <p:sp>
        <p:nvSpPr>
          <p:cNvPr id="26" name="Text 23"/>
          <p:cNvSpPr txBox="1"/>
          <p:nvPr/>
        </p:nvSpPr>
        <p:spPr>
          <a:xfrm>
            <a:off x="5080000" y="4445000"/>
            <a:ext cx="6096000" cy="546100"/>
          </a:xfrm>
          <a:prstGeom prst="rect">
            <a:avLst/>
          </a:prstGeom>
          <a:noFill/>
          <a:ln/>
        </p:spPr>
        <p:txBody>
          <a:bodyPr wrap="square" lIns="0" tIns="0" rIns="0" bIns="0" rtlCol="0" anchor="ctr"/>
          <a:lstStyle/>
          <a:p>
            <a:pPr indent="0" marL="0">
              <a:buNone/>
            </a:pPr>
            <a:r>
              <a:rPr lang="en-US" sz="1300" dirty="0">
                <a:solidFill>
                  <a:srgbClr val="4F6660"/>
                </a:solidFill>
                <a:latin typeface="Calibri" pitchFamily="34" charset="0"/>
                <a:ea typeface="Calibri" pitchFamily="34" charset="-122"/>
                <a:cs typeface="Calibri" pitchFamily="34" charset="-120"/>
              </a:rPr>
              <a:t>Label a varied set of players, fit the model, test on held-out matches.</a:t>
            </a:r>
            <a:endParaRPr lang="en-US" sz="1300" dirty="0"/>
          </a:p>
        </p:txBody>
      </p:sp>
      <p:sp>
        <p:nvSpPr>
          <p:cNvPr id="27" name="Shape 24"/>
          <p:cNvSpPr/>
          <p:nvPr/>
        </p:nvSpPr>
        <p:spPr>
          <a:xfrm>
            <a:off x="812800" y="5080000"/>
            <a:ext cx="10566400" cy="546100"/>
          </a:xfrm>
          <a:prstGeom prst="roundRect">
            <a:avLst>
              <a:gd name="adj" fmla="val 16744"/>
            </a:avLst>
          </a:prstGeom>
          <a:solidFill>
            <a:srgbClr val="FBFCFA"/>
          </a:solidFill>
          <a:ln w="9525">
            <a:solidFill>
              <a:srgbClr val="D5E1DA"/>
            </a:solidFill>
            <a:prstDash val="solid"/>
          </a:ln>
        </p:spPr>
      </p:sp>
      <p:sp>
        <p:nvSpPr>
          <p:cNvPr id="28" name="Text 25"/>
          <p:cNvSpPr txBox="1"/>
          <p:nvPr/>
        </p:nvSpPr>
        <p:spPr>
          <a:xfrm>
            <a:off x="990600" y="5080000"/>
            <a:ext cx="317500" cy="546100"/>
          </a:xfrm>
          <a:prstGeom prst="rect">
            <a:avLst/>
          </a:prstGeom>
          <a:noFill/>
          <a:ln/>
        </p:spPr>
        <p:txBody>
          <a:bodyPr wrap="square" lIns="0" tIns="0" rIns="0" bIns="0" rtlCol="0" anchor="ctr"/>
          <a:lstStyle/>
          <a:p>
            <a:pPr indent="0" marL="0">
              <a:buNone/>
            </a:pPr>
            <a:r>
              <a:rPr lang="en-US" sz="1700" b="1" dirty="0">
                <a:solidFill>
                  <a:srgbClr val="0A7A5C"/>
                </a:solidFill>
                <a:latin typeface="Arial" pitchFamily="34" charset="0"/>
                <a:ea typeface="Arial" pitchFamily="34" charset="-122"/>
                <a:cs typeface="Arial" pitchFamily="34" charset="-120"/>
              </a:rPr>
              <a:t>6</a:t>
            </a:r>
            <a:endParaRPr lang="en-US" sz="1700" dirty="0"/>
          </a:p>
        </p:txBody>
      </p:sp>
      <p:sp>
        <p:nvSpPr>
          <p:cNvPr id="29" name="Text 26"/>
          <p:cNvSpPr txBox="1"/>
          <p:nvPr/>
        </p:nvSpPr>
        <p:spPr>
          <a:xfrm>
            <a:off x="1371600" y="5080000"/>
            <a:ext cx="3556000" cy="546100"/>
          </a:xfrm>
          <a:prstGeom prst="rect">
            <a:avLst/>
          </a:prstGeom>
          <a:noFill/>
          <a:ln/>
        </p:spPr>
        <p:txBody>
          <a:bodyPr wrap="square" lIns="0" tIns="0" rIns="0" bIns="0" rtlCol="0" anchor="ctr"/>
          <a:lstStyle/>
          <a:p>
            <a:pPr indent="0" marL="0">
              <a:buNone/>
            </a:pPr>
            <a:r>
              <a:rPr lang="en-US" sz="1700" b="1" dirty="0">
                <a:solidFill>
                  <a:srgbClr val="16302A"/>
                </a:solidFill>
                <a:latin typeface="Arial" pitchFamily="34" charset="0"/>
                <a:ea typeface="Arial" pitchFamily="34" charset="-122"/>
                <a:cs typeface="Arial" pitchFamily="34" charset="-120"/>
              </a:rPr>
              <a:t>Accept any uploaded video</a:t>
            </a:r>
            <a:endParaRPr lang="en-US" sz="1700" dirty="0"/>
          </a:p>
        </p:txBody>
      </p:sp>
      <p:sp>
        <p:nvSpPr>
          <p:cNvPr id="30" name="Text 27"/>
          <p:cNvSpPr txBox="1"/>
          <p:nvPr/>
        </p:nvSpPr>
        <p:spPr>
          <a:xfrm>
            <a:off x="5080000" y="5080000"/>
            <a:ext cx="6096000" cy="546100"/>
          </a:xfrm>
          <a:prstGeom prst="rect">
            <a:avLst/>
          </a:prstGeom>
          <a:noFill/>
          <a:ln/>
        </p:spPr>
        <p:txBody>
          <a:bodyPr wrap="square" lIns="0" tIns="0" rIns="0" bIns="0" rtlCol="0" anchor="ctr"/>
          <a:lstStyle/>
          <a:p>
            <a:pPr indent="0" marL="0">
              <a:buNone/>
            </a:pPr>
            <a:r>
              <a:rPr lang="en-US" sz="1300" dirty="0">
                <a:solidFill>
                  <a:srgbClr val="4F6660"/>
                </a:solidFill>
                <a:latin typeface="Calibri" pitchFamily="34" charset="0"/>
                <a:ea typeface="Calibri" pitchFamily="34" charset="-122"/>
                <a:cs typeface="Calibri" pitchFamily="34" charset="-120"/>
              </a:rPr>
              <a:t>Queue a full analysis from the upload screen, not only library matches.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PitchProfile: Match Analysis from Video</dc:title>
  <dc:subject>PptxGenJS Presentation</dc:subject>
  <dc:creator>PptxGenJS</dc:creator>
  <cp:lastModifiedBy>PptxGenJS</cp:lastModifiedBy>
  <cp:revision>1</cp:revision>
  <dcterms:created xsi:type="dcterms:W3CDTF">2026-10-06T06:28:06Z</dcterms:created>
  <dcterms:modified xsi:type="dcterms:W3CDTF">2026-10-06T06:28:06Z</dcterms:modified>
</cp:coreProperties>
</file>
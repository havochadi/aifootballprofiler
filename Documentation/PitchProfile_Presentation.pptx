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3.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4.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5.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Open problem" id="{01423f6c-552b-c53c-1dfb-ad9a46b13c7a}">
          <p14:sldIdLst>
            <p14:sldId id="256"/>
            <p14:sldId id="257"/>
            <p14:sldId id="258"/>
            <p14:sldId id="259"/>
          </p14:sldIdLst>
        </p14:section>
        <p14:section name="2 · Phases" id="{c8e4973d-e4c3-435e-2262-b1e4f1f69988}">
          <p14:sldIdLst>
            <p14:sldId id="260"/>
          </p14:sldIdLst>
        </p14:section>
        <p14:section name="3 · Problems and models" id="{4c40f2cb-98d1-367b-1c37-5f87531fab9f}">
          <p14:sldIdLst>
            <p14:sldId id="261"/>
            <p14:sldId id="262"/>
            <p14:sldId id="263"/>
            <p14:sldId id="264"/>
            <p14:sldId id="265"/>
            <p14:sldId id="266"/>
            <p14:sldId id="267"/>
            <p14:sldId id="268"/>
            <p14:sldId id="269"/>
            <p14:sldId id="270"/>
            <p14:sldId id="271"/>
            <p14:sldId id="272"/>
            <p14:sldId id="273"/>
          </p14:sldIdLst>
        </p14:section>
        <p14:section name="4 · Results and scalability" id="{d6cc7bb4-9919-7442-2f7e-3f849cecf9c4}">
          <p14:sldIdLst>
            <p14:sldId id="274"/>
            <p14:sldId id="275"/>
          </p14:sldIdLst>
        </p14:section>
        <p14:section name="Backup" id="{d273c363-248e-f671-e1d0-8f1da7b9ee67}">
          <p14:sldIdLst>
            <p14:sldId id="276"/>
            <p14:sldId id="277"/>
            <p14:sldId id="278"/>
            <p14:sldId id="279"/>
            <p14:sldId id="280"/>
            <p14:sldId id="281"/>
            <p14:sldId id="282"/>
            <p14:sldId id="283"/>
            <p14:sldId id="284"/>
            <p14:sldId id="285"/>
            <p14:sldId id="286"/>
            <p14:sldId id="287"/>
          </p14:sldIdLst>
        </p14:section>
        <p14:section name="Appendix" id="{1d453743-208a-e5b8-614d-15fc8d49c485}">
          <p14:sldIdLst>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Detected</c:v>
                </c:pt>
              </c:strCache>
            </c:strRef>
          </c:tx>
          <c:spPr>
            <a:solidFill>
              <a:srgbClr val="B7D3C7"/>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G18 H1</c:v>
                  </c:pt>
                  <c:pt idx="1">
                    <c:v>G18 H2</c:v>
                  </c:pt>
                  <c:pt idx="2">
                    <c:v>G24 H1</c:v>
                  </c:pt>
                  <c:pt idx="3">
                    <c:v>G24 H2</c:v>
                  </c:pt>
                  <c:pt idx="4">
                    <c:v>G47 H1</c:v>
                  </c:pt>
                  <c:pt idx="5">
                    <c:v>G47 H2</c:v>
                  </c:pt>
                </c:lvl>
              </c:multiLvlStrCache>
            </c:multiLvlStrRef>
          </c:cat>
          <c:val>
            <c:numRef>
              <c:f>Sheet1!$B$2:$B$7</c:f>
              <c:numCache>
                <c:formatCode>General</c:formatCode>
                <c:ptCount val="6"/>
                <c:pt idx="0">
                  <c:v>82.19999999999999</c:v>
                </c:pt>
                <c:pt idx="1">
                  <c:v>85.1</c:v>
                </c:pt>
                <c:pt idx="2">
                  <c:v>96.1</c:v>
                </c:pt>
                <c:pt idx="3">
                  <c:v>95.8</c:v>
                </c:pt>
                <c:pt idx="4">
                  <c:v>88.4</c:v>
                </c:pt>
                <c:pt idx="5">
                  <c:v>86.7</c:v>
                </c:pt>
              </c:numCache>
            </c:numRef>
          </c:val>
        </c:ser>
        <c:ser>
          <c:idx val="1"/>
          <c:order val="1"/>
          <c:tx>
            <c:strRef>
              <c:f>Sheet1!$C$1</c:f>
              <c:strCache>
                <c:ptCount val="1"/>
                <c:pt idx="0">
                  <c:v>Given a name</c:v>
                </c:pt>
              </c:strCache>
            </c:strRef>
          </c:tx>
          <c:spPr>
            <a:solidFill>
              <a:srgbClr val="4FB08B"/>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G18 H1</c:v>
                  </c:pt>
                  <c:pt idx="1">
                    <c:v>G18 H2</c:v>
                  </c:pt>
                  <c:pt idx="2">
                    <c:v>G24 H1</c:v>
                  </c:pt>
                  <c:pt idx="3">
                    <c:v>G24 H2</c:v>
                  </c:pt>
                  <c:pt idx="4">
                    <c:v>G47 H1</c:v>
                  </c:pt>
                  <c:pt idx="5">
                    <c:v>G47 H2</c:v>
                  </c:pt>
                </c:lvl>
              </c:multiLvlStrCache>
            </c:multiLvlStrRef>
          </c:cat>
          <c:val>
            <c:numRef>
              <c:f>Sheet1!$C$2:$C$7</c:f>
              <c:numCache>
                <c:formatCode>General</c:formatCode>
                <c:ptCount val="6"/>
                <c:pt idx="0">
                  <c:v>65.8</c:v>
                </c:pt>
                <c:pt idx="1">
                  <c:v>65.3</c:v>
                </c:pt>
                <c:pt idx="2">
                  <c:v>38</c:v>
                </c:pt>
                <c:pt idx="3">
                  <c:v>33.900000000000006</c:v>
                </c:pt>
                <c:pt idx="4">
                  <c:v>67.80000000000001</c:v>
                </c:pt>
                <c:pt idx="5">
                  <c:v>67.30000000000001</c:v>
                </c:pt>
              </c:numCache>
            </c:numRef>
          </c:val>
        </c:ser>
        <c:ser>
          <c:idx val="2"/>
          <c:order val="2"/>
          <c:tx>
            <c:strRef>
              <c:f>Sheet1!$D$1</c:f>
              <c:strCache>
                <c:ptCount val="1"/>
                <c:pt idx="0">
                  <c:v>Named correctly</c:v>
                </c:pt>
              </c:strCache>
            </c:strRef>
          </c:tx>
          <c:spPr>
            <a:solidFill>
              <a:srgbClr val="0A7A5C"/>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G18 H1</c:v>
                  </c:pt>
                  <c:pt idx="1">
                    <c:v>G18 H2</c:v>
                  </c:pt>
                  <c:pt idx="2">
                    <c:v>G24 H1</c:v>
                  </c:pt>
                  <c:pt idx="3">
                    <c:v>G24 H2</c:v>
                  </c:pt>
                  <c:pt idx="4">
                    <c:v>G47 H1</c:v>
                  </c:pt>
                  <c:pt idx="5">
                    <c:v>G47 H2</c:v>
                  </c:pt>
                </c:lvl>
              </c:multiLvlStrCache>
            </c:multiLvlStrRef>
          </c:cat>
          <c:val>
            <c:numRef>
              <c:f>Sheet1!$D$2:$D$7</c:f>
              <c:numCache>
                <c:formatCode>General</c:formatCode>
                <c:ptCount val="6"/>
                <c:pt idx="0">
                  <c:v>62.9</c:v>
                </c:pt>
                <c:pt idx="1">
                  <c:v>62.9</c:v>
                </c:pt>
                <c:pt idx="2">
                  <c:v>36.9</c:v>
                </c:pt>
                <c:pt idx="3">
                  <c:v>29.7</c:v>
                </c:pt>
                <c:pt idx="4">
                  <c:v>64.4</c:v>
                </c:pt>
                <c:pt idx="5">
                  <c:v>64.8</c:v>
                </c:pt>
              </c:numCache>
            </c:numRef>
          </c:val>
        </c:ser>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4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5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66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2E4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Number-reading head</c:v>
                </c:pt>
              </c:strCache>
            </c:strRef>
          </c:tx>
          <c:spPr>
            <a:solidFill>
              <a:srgbClr val="D9730D"/>
            </a:solidFill>
            <a:ln w="38100" cap="flat">
              <a:solidFill>
                <a:srgbClr val="D9730D"/>
              </a:solidFill>
              <a:prstDash val="solid"/>
              <a:round/>
            </a:ln>
            <a:effectLst/>
          </c:spPr>
          <c:marker>
            <c:symbol val="circle"/>
            <c:size val="7"/>
            <c:spPr>
              <a:solidFill>
                <a:srgbClr val="D9730D"/>
              </a:solidFill>
              <a:ln w="9525" cap="flat">
                <a:solidFill>
                  <a:srgbClr val="D9730D"/>
                </a:solidFill>
                <a:prstDash val="solid"/>
                <a:round/>
              </a:ln>
              <a:effectLst/>
            </c:spPr>
          </c:marker>
          <c:xVal>
            <c:numRef>
              <c:f>Sheet1!$A$2:$A$13</c:f>
              <c:numCache>
                <c:formatCode>General</c:formatCode>
                <c:ptCount val="12"/>
                <c:pt idx="0">
                  <c:v>0.2</c:v>
                </c:pt>
                <c:pt idx="1">
                  <c:v>5</c:v>
                </c:pt>
                <c:pt idx="2">
                  <c:v>16.400000000000002</c:v>
                </c:pt>
                <c:pt idx="3">
                  <c:v>24.4</c:v>
                </c:pt>
                <c:pt idx="4">
                  <c:v>38</c:v>
                </c:pt>
                <c:pt idx="5">
                  <c:v>53.7</c:v>
                </c:pt>
                <c:pt idx="6">
                  <c:v>60.4</c:v>
                </c:pt>
                <c:pt idx="7">
                  <c:v>74.3</c:v>
                </c:pt>
                <c:pt idx="8">
                  <c:v>85.39999999999999</c:v>
                </c:pt>
                <c:pt idx="9">
                  <c:v>93.8</c:v>
                </c:pt>
                <c:pt idx="10">
                  <c:v>98.4</c:v>
                </c:pt>
                <c:pt idx="11">
                  <c:v>100</c:v>
                </c:pt>
              </c:numCache>
            </c:numRef>
          </c:xVal>
          <c:yVal>
            <c:numRef>
              <c:f>Sheet1!$B$2:$B$13</c:f>
              <c:numCache>
                <c:formatCode>General</c:formatCode>
                <c:ptCount val="12"/>
                <c:pt idx="0">
                  <c:v>100</c:v>
                </c:pt>
                <c:pt idx="1">
                  <c:v>99.6</c:v>
                </c:pt>
                <c:pt idx="2">
                  <c:v>99.7</c:v>
                </c:pt>
                <c:pt idx="3">
                  <c:v>99.6</c:v>
                </c:pt>
                <c:pt idx="4">
                  <c:v>94.19999999999999</c:v>
                </c:pt>
                <c:pt idx="5">
                  <c:v>83.1</c:v>
                </c:pt>
                <c:pt idx="6">
                  <c:v/>
                </c:pt>
                <c:pt idx="7">
                  <c:v/>
                </c:pt>
                <c:pt idx="8">
                  <c:v/>
                </c:pt>
                <c:pt idx="9">
                  <c:v/>
                </c:pt>
                <c:pt idx="10">
                  <c:v/>
                </c:pt>
                <c:pt idx="11">
                  <c:v>54.300000000000004</c:v>
                </c:pt>
              </c:numCache>
            </c:numRef>
          </c:yVal>
          <c:smooth val="0"/>
        </c:ser>
        <c:ser>
          <c:idx val="1"/>
          <c:order val="1"/>
          <c:tx>
            <c:strRef>
              <c:f>Sheet1!$C$1</c:f>
              <c:strCache>
                <c:ptCount val="1"/>
                <c:pt idx="0">
                  <c:v>Appearance embedding</c:v>
                </c:pt>
              </c:strCache>
            </c:strRef>
          </c:tx>
          <c:spPr>
            <a:solidFill>
              <a:srgbClr val="0A7A5C"/>
            </a:solidFill>
            <a:ln w="38100" cap="flat">
              <a:solidFill>
                <a:srgbClr val="0A7A5C"/>
              </a:solidFill>
              <a:prstDash val="solid"/>
              <a:round/>
            </a:ln>
            <a:effectLst/>
          </c:spPr>
          <c:marker>
            <c:symbol val="circle"/>
            <c:size val="7"/>
            <c:spPr>
              <a:solidFill>
                <a:srgbClr val="0A7A5C"/>
              </a:solidFill>
              <a:ln w="9525" cap="flat">
                <a:solidFill>
                  <a:srgbClr val="0A7A5C"/>
                </a:solidFill>
                <a:prstDash val="solid"/>
                <a:round/>
              </a:ln>
              <a:effectLst/>
            </c:spPr>
          </c:marker>
          <c:xVal>
            <c:numRef>
              <c:f>Sheet1!$A$2:$A$13</c:f>
              <c:numCache>
                <c:formatCode>General</c:formatCode>
                <c:ptCount val="12"/>
                <c:pt idx="0">
                  <c:v>0.2</c:v>
                </c:pt>
                <c:pt idx="1">
                  <c:v>5</c:v>
                </c:pt>
                <c:pt idx="2">
                  <c:v>16.400000000000002</c:v>
                </c:pt>
                <c:pt idx="3">
                  <c:v>24.4</c:v>
                </c:pt>
                <c:pt idx="4">
                  <c:v>38</c:v>
                </c:pt>
                <c:pt idx="5">
                  <c:v>53.7</c:v>
                </c:pt>
                <c:pt idx="6">
                  <c:v>60.4</c:v>
                </c:pt>
                <c:pt idx="7">
                  <c:v>74.3</c:v>
                </c:pt>
                <c:pt idx="8">
                  <c:v>85.39999999999999</c:v>
                </c:pt>
                <c:pt idx="9">
                  <c:v>93.8</c:v>
                </c:pt>
                <c:pt idx="10">
                  <c:v>98.4</c:v>
                </c:pt>
                <c:pt idx="11">
                  <c:v>100</c:v>
                </c:pt>
              </c:numCache>
            </c:numRef>
          </c:xVal>
          <c:yVal>
            <c:numRef>
              <c:f>Sheet1!$C$2:$C$13</c:f>
              <c:numCache>
                <c:formatCode>General</c:formatCode>
                <c:ptCount val="12"/>
                <c:pt idx="0">
                  <c:v/>
                </c:pt>
                <c:pt idx="1">
                  <c:v/>
                </c:pt>
                <c:pt idx="2">
                  <c:v/>
                </c:pt>
                <c:pt idx="3">
                  <c:v/>
                </c:pt>
                <c:pt idx="4">
                  <c:v/>
                </c:pt>
                <c:pt idx="5">
                  <c:v/>
                </c:pt>
                <c:pt idx="6">
                  <c:v>99.6</c:v>
                </c:pt>
                <c:pt idx="7">
                  <c:v>99.6</c:v>
                </c:pt>
                <c:pt idx="8">
                  <c:v>99.4</c:v>
                </c:pt>
                <c:pt idx="9">
                  <c:v>99.1</c:v>
                </c:pt>
                <c:pt idx="10">
                  <c:v>98.8</c:v>
                </c:pt>
                <c:pt idx="11">
                  <c:v>98.3</c:v>
                </c:pt>
              </c:numCache>
            </c:numRef>
          </c:yVal>
          <c:smooth val="0"/>
        </c:ser>
        <c:dLbls>
          <c:numFmt formatCode="General" sourceLinked="0"/>
          <c:txPr>
            <a:bodyPr/>
            <a:lstStyle/>
            <a:p>
              <a:pPr>
                <a:defRPr b="0" i="0" strike="noStrike" sz="1000" u="none">
                  <a:solidFill>
                    <a:srgbClr val="16302A"/>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100" b="0" i="0" u="none" strike="noStrike">
                    <a:solidFill>
                      <a:srgbClr val="2E4A41"/>
                    </a:solidFill>
                    <a:latin typeface="Arial"/>
                  </a:defRPr>
                </a:pPr>
                <a:r>
                  <a:rPr sz="1100" b="0" i="0" u="none" strike="noStrike">
                    <a:solidFill>
                      <a:srgbClr val="2E4A41"/>
                    </a:solidFill>
                    <a:latin typeface="Arial"/>
                  </a:rPr>
                  <a:t>Share of tracklets given an answer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2E4A41"/>
                </a:solidFill>
                <a:latin typeface="+mn-lt"/>
              </a:defRPr>
            </a:pPr>
            <a:endParaRPr lang="en-US"/>
          </a:p>
        </c:txPr>
        <c:crossAx val="2094734552"/>
        <c:crosses val="autoZero"/>
        <c:auto val="1"/>
        <c:lblAlgn val="ctr"/>
        <c:noMultiLvlLbl val="1"/>
        <c:majorUnit val="25"/>
      </c:valAx>
      <c:valAx>
        <c:axId val="2094734552"/>
        <c:scaling>
          <c:orientation val="minMax"/>
          <c:max val="100"/>
          <c:min val="50"/>
        </c:scaling>
        <c:delete val="0"/>
        <c:axPos val="l"/>
        <c:majorGridlines>
          <c:spPr>
            <a:ln w="9525" cap="flat">
              <a:solidFill>
                <a:srgbClr val="D5E1DA"/>
              </a:solidFill>
              <a:prstDash val="solid"/>
              <a:round/>
            </a:ln>
          </c:spPr>
        </c:majorGridlines>
        <c:title>
          <c:tx>
            <c:rich>
              <a:bodyPr/>
              <a:lstStyle/>
              <a:p>
                <a:pPr>
                  <a:defRPr sz="1100" b="0" i="0" u="none" strike="noStrike">
                    <a:solidFill>
                      <a:srgbClr val="2E4A41"/>
                    </a:solidFill>
                    <a:latin typeface="Arial"/>
                  </a:defRPr>
                </a:pPr>
                <a:r>
                  <a:rPr sz="1100" b="0" i="0" u="none" strike="noStrike">
                    <a:solidFill>
                      <a:srgbClr val="2E4A41"/>
                    </a:solidFill>
                    <a:latin typeface="Arial"/>
                  </a:rPr>
                  <a:t>Answers that are right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4F6660"/>
                </a:solidFill>
                <a:latin typeface="+mn-lt"/>
              </a:defRPr>
            </a:pPr>
            <a:endParaRPr lang="en-US"/>
          </a:p>
        </c:txPr>
        <c:crossAx val="2094734554"/>
        <c:crosses val="autoZero"/>
        <c:crossBetween val="midCat"/>
        <c:majorUnit val="10"/>
      </c:valAx>
      <c:spPr>
        <a:noFill/>
        <a:ln>
          <a:noFill/>
        </a:ln>
        <a:effectLst/>
      </c:spPr>
    </c:plotArea>
    <c:legend>
      <c:legendPos val="t"/>
      <c:overlay val="0"/>
      <c:txPr>
        <a:bodyPr/>
        <a:lstStyle/>
        <a:p>
          <a:pPr>
            <a:defRPr sz="1100">
              <a:solidFill>
                <a:srgbClr val="2E4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Precision</c:v>
                </c:pt>
              </c:strCache>
            </c:strRef>
          </c:tx>
          <c:spPr>
            <a:solidFill>
              <a:srgbClr val="4FB08B"/>
            </a:solidFill>
            <a:effectLst/>
          </c:spPr>
          <c:invertIfNegative val="0"/>
          <c:dLbls>
            <c:numFmt formatCode="0&quot;%&quot;"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Sheet1!$A$2:$A$10</c:f>
              <c:multiLvlStrCache>
                <c:ptCount val="9"/>
                <c:lvl>
                  <c:pt idx="0">
                    <c:v>Pass</c:v>
                  </c:pt>
                  <c:pt idx="1">
                    <c:v>Carry</c:v>
                  </c:pt>
                  <c:pt idx="2">
                    <c:v>High pass</c:v>
                  </c:pt>
                  <c:pt idx="3">
                    <c:v>Throw-in</c:v>
                  </c:pt>
                  <c:pt idx="4">
                    <c:v>Header</c:v>
                  </c:pt>
                  <c:pt idx="5">
                    <c:v>Cross</c:v>
                  </c:pt>
                  <c:pt idx="6">
                    <c:v>Shot</c:v>
                  </c:pt>
                  <c:pt idx="7">
                    <c:v>Block</c:v>
                  </c:pt>
                  <c:pt idx="8">
                    <c:v>Tackle</c:v>
                  </c:pt>
                </c:lvl>
              </c:multiLvlStrCache>
            </c:multiLvlStrRef>
          </c:cat>
          <c:val>
            <c:numRef>
              <c:f>Sheet1!$B$2:$B$10</c:f>
              <c:numCache>
                <c:formatCode>General</c:formatCode>
                <c:ptCount val="9"/>
                <c:pt idx="0">
                  <c:v>88.7</c:v>
                </c:pt>
                <c:pt idx="1">
                  <c:v>82.69999999999999</c:v>
                </c:pt>
                <c:pt idx="2">
                  <c:v>83.8</c:v>
                </c:pt>
                <c:pt idx="3">
                  <c:v>97.3</c:v>
                </c:pt>
                <c:pt idx="4">
                  <c:v>65</c:v>
                </c:pt>
                <c:pt idx="5">
                  <c:v>82.6</c:v>
                </c:pt>
                <c:pt idx="6">
                  <c:v>57.4</c:v>
                </c:pt>
                <c:pt idx="7">
                  <c:v>34.300000000000004</c:v>
                </c:pt>
                <c:pt idx="8">
                  <c:v>22.6</c:v>
                </c:pt>
              </c:numCache>
            </c:numRef>
          </c:val>
        </c:ser>
        <c:ser>
          <c:idx val="1"/>
          <c:order val="1"/>
          <c:tx>
            <c:strRef>
              <c:f>Sheet1!$C$1</c:f>
              <c:strCache>
                <c:ptCount val="1"/>
                <c:pt idx="0">
                  <c:v>Recall</c:v>
                </c:pt>
              </c:strCache>
            </c:strRef>
          </c:tx>
          <c:spPr>
            <a:solidFill>
              <a:srgbClr val="0A7A5C"/>
            </a:solidFill>
            <a:effectLst/>
          </c:spPr>
          <c:invertIfNegative val="0"/>
          <c:dLbls>
            <c:numFmt formatCode="0&quot;%&quot;"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Sheet1!$A$2:$A$10</c:f>
              <c:multiLvlStrCache>
                <c:ptCount val="9"/>
                <c:lvl>
                  <c:pt idx="0">
                    <c:v>Pass</c:v>
                  </c:pt>
                  <c:pt idx="1">
                    <c:v>Carry</c:v>
                  </c:pt>
                  <c:pt idx="2">
                    <c:v>High pass</c:v>
                  </c:pt>
                  <c:pt idx="3">
                    <c:v>Throw-in</c:v>
                  </c:pt>
                  <c:pt idx="4">
                    <c:v>Header</c:v>
                  </c:pt>
                  <c:pt idx="5">
                    <c:v>Cross</c:v>
                  </c:pt>
                  <c:pt idx="6">
                    <c:v>Shot</c:v>
                  </c:pt>
                  <c:pt idx="7">
                    <c:v>Block</c:v>
                  </c:pt>
                  <c:pt idx="8">
                    <c:v>Tackle</c:v>
                  </c:pt>
                </c:lvl>
              </c:multiLvlStrCache>
            </c:multiLvlStrRef>
          </c:cat>
          <c:val>
            <c:numRef>
              <c:f>Sheet1!$C$2:$C$10</c:f>
              <c:numCache>
                <c:formatCode>General</c:formatCode>
                <c:ptCount val="9"/>
                <c:pt idx="0">
                  <c:v>87.7</c:v>
                </c:pt>
                <c:pt idx="1">
                  <c:v>86.1</c:v>
                </c:pt>
                <c:pt idx="2">
                  <c:v>82.89999999999999</c:v>
                </c:pt>
                <c:pt idx="3">
                  <c:v>75.8</c:v>
                </c:pt>
                <c:pt idx="4">
                  <c:v>79.7</c:v>
                </c:pt>
                <c:pt idx="5">
                  <c:v>63.3</c:v>
                </c:pt>
                <c:pt idx="6">
                  <c:v>70.5</c:v>
                </c:pt>
                <c:pt idx="7">
                  <c:v>55.2</c:v>
                </c:pt>
                <c:pt idx="8">
                  <c:v>25</c:v>
                </c:pt>
              </c:numCache>
            </c:numRef>
          </c:val>
        </c:ser>
        <c:dLbls>
          <c:numFmt formatCode="0&quot;%&quot;"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4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D5E1DA"/>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F666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2E4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Found</c:v>
                </c:pt>
              </c:strCache>
            </c:strRef>
          </c:tx>
          <c:spPr>
            <a:solidFill>
              <a:srgbClr val="0A7A5C"/>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Pass (1069)</c:v>
                  </c:pt>
                  <c:pt idx="1">
                    <c:v>Carry (788)</c:v>
                  </c:pt>
                  <c:pt idx="2">
                    <c:v>Ball win (276)</c:v>
                  </c:pt>
                  <c:pt idx="3">
                    <c:v>Cross (46)</c:v>
                  </c:pt>
                  <c:pt idx="4">
                    <c:v>Tackle (36)</c:v>
                  </c:pt>
                  <c:pt idx="5">
                    <c:v>Block (38)</c:v>
                  </c:pt>
                </c:lvl>
              </c:multiLvlStrCache>
            </c:multiLvlStrRef>
          </c:cat>
          <c:val>
            <c:numRef>
              <c:f>Sheet1!$B$2:$B$7</c:f>
              <c:numCache>
                <c:formatCode>General</c:formatCode>
                <c:ptCount val="6"/>
                <c:pt idx="0">
                  <c:v>744</c:v>
                </c:pt>
                <c:pt idx="1">
                  <c:v>438</c:v>
                </c:pt>
                <c:pt idx="2">
                  <c:v>91</c:v>
                </c:pt>
                <c:pt idx="3">
                  <c:v>8</c:v>
                </c:pt>
                <c:pt idx="4">
                  <c:v>6</c:v>
                </c:pt>
                <c:pt idx="5">
                  <c:v>3</c:v>
                </c:pt>
              </c:numCache>
            </c:numRef>
          </c:val>
        </c:ser>
        <c:ser>
          <c:idx val="1"/>
          <c:order val="1"/>
          <c:tx>
            <c:strRef>
              <c:f>Sheet1!$C$1</c:f>
              <c:strCache>
                <c:ptCount val="1"/>
                <c:pt idx="0">
                  <c:v>Invented</c:v>
                </c:pt>
              </c:strCache>
            </c:strRef>
          </c:tx>
          <c:spPr>
            <a:solidFill>
              <a:srgbClr val="D9730D"/>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Pass (1069)</c:v>
                  </c:pt>
                  <c:pt idx="1">
                    <c:v>Carry (788)</c:v>
                  </c:pt>
                  <c:pt idx="2">
                    <c:v>Ball win (276)</c:v>
                  </c:pt>
                  <c:pt idx="3">
                    <c:v>Cross (46)</c:v>
                  </c:pt>
                  <c:pt idx="4">
                    <c:v>Tackle (36)</c:v>
                  </c:pt>
                  <c:pt idx="5">
                    <c:v>Block (38)</c:v>
                  </c:pt>
                </c:lvl>
              </c:multiLvlStrCache>
            </c:multiLvlStrRef>
          </c:cat>
          <c:val>
            <c:numRef>
              <c:f>Sheet1!$C$2:$C$7</c:f>
              <c:numCache>
                <c:formatCode>General</c:formatCode>
                <c:ptCount val="6"/>
                <c:pt idx="0">
                  <c:v>354</c:v>
                </c:pt>
                <c:pt idx="1">
                  <c:v>244</c:v>
                </c:pt>
                <c:pt idx="2">
                  <c:v>253</c:v>
                </c:pt>
                <c:pt idx="3">
                  <c:v>8</c:v>
                </c:pt>
                <c:pt idx="4">
                  <c:v>33</c:v>
                </c:pt>
                <c:pt idx="5">
                  <c:v>34</c:v>
                </c:pt>
              </c:numCache>
            </c:numRef>
          </c:val>
        </c:ser>
        <c:ser>
          <c:idx val="2"/>
          <c:order val="2"/>
          <c:tx>
            <c:strRef>
              <c:f>Sheet1!$D$1</c:f>
              <c:strCache>
                <c:ptCount val="1"/>
                <c:pt idx="0">
                  <c:v>Missed</c:v>
                </c:pt>
              </c:strCache>
            </c:strRef>
          </c:tx>
          <c:spPr>
            <a:solidFill>
              <a:srgbClr val="6F857D"/>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Pass (1069)</c:v>
                  </c:pt>
                  <c:pt idx="1">
                    <c:v>Carry (788)</c:v>
                  </c:pt>
                  <c:pt idx="2">
                    <c:v>Ball win (276)</c:v>
                  </c:pt>
                  <c:pt idx="3">
                    <c:v>Cross (46)</c:v>
                  </c:pt>
                  <c:pt idx="4">
                    <c:v>Tackle (36)</c:v>
                  </c:pt>
                  <c:pt idx="5">
                    <c:v>Block (38)</c:v>
                  </c:pt>
                </c:lvl>
              </c:multiLvlStrCache>
            </c:multiLvlStrRef>
          </c:cat>
          <c:val>
            <c:numRef>
              <c:f>Sheet1!$D$2:$D$7</c:f>
              <c:numCache>
                <c:formatCode>General</c:formatCode>
                <c:ptCount val="6"/>
                <c:pt idx="0">
                  <c:v>325</c:v>
                </c:pt>
                <c:pt idx="1">
                  <c:v>350</c:v>
                </c:pt>
                <c:pt idx="2">
                  <c:v>185</c:v>
                </c:pt>
                <c:pt idx="3">
                  <c:v>38</c:v>
                </c:pt>
                <c:pt idx="4">
                  <c:v>30</c:v>
                </c:pt>
                <c:pt idx="5">
                  <c:v>35</c:v>
                </c:pt>
              </c:numCache>
            </c:numRef>
          </c:val>
        </c:ser>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4A4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F6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E4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Found</c:v>
                </c:pt>
              </c:strCache>
            </c:strRef>
          </c:tx>
          <c:spPr>
            <a:solidFill>
              <a:srgbClr val="B7D3C7"/>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Pass</c:v>
                  </c:pt>
                  <c:pt idx="1">
                    <c:v>Carry</c:v>
                  </c:pt>
                  <c:pt idx="2">
                    <c:v>Header</c:v>
                  </c:pt>
                  <c:pt idx="3">
                    <c:v>Cross</c:v>
                  </c:pt>
                  <c:pt idx="4">
                    <c:v>Shot</c:v>
                  </c:pt>
                  <c:pt idx="5">
                    <c:v>Tackle</c:v>
                  </c:pt>
                </c:lvl>
              </c:multiLvlStrCache>
            </c:multiLvlStrRef>
          </c:cat>
          <c:val>
            <c:numRef>
              <c:f>Sheet1!$B$2:$B$7</c:f>
              <c:numCache>
                <c:formatCode>General</c:formatCode>
                <c:ptCount val="6"/>
                <c:pt idx="0">
                  <c:v>90</c:v>
                </c:pt>
                <c:pt idx="1">
                  <c:v>87.2</c:v>
                </c:pt>
                <c:pt idx="2">
                  <c:v>63.6</c:v>
                </c:pt>
                <c:pt idx="3">
                  <c:v>45</c:v>
                </c:pt>
                <c:pt idx="4">
                  <c:v>52.2</c:v>
                </c:pt>
                <c:pt idx="5">
                  <c:v>3.8</c:v>
                </c:pt>
              </c:numCache>
            </c:numRef>
          </c:val>
        </c:ser>
        <c:ser>
          <c:idx val="1"/>
          <c:order val="1"/>
          <c:tx>
            <c:strRef>
              <c:f>Sheet1!$C$1</c:f>
              <c:strCache>
                <c:ptCount val="1"/>
                <c:pt idx="0">
                  <c:v>Credited to a named player</c:v>
                </c:pt>
              </c:strCache>
            </c:strRef>
          </c:tx>
          <c:spPr>
            <a:solidFill>
              <a:srgbClr val="4FB08B"/>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Pass</c:v>
                  </c:pt>
                  <c:pt idx="1">
                    <c:v>Carry</c:v>
                  </c:pt>
                  <c:pt idx="2">
                    <c:v>Header</c:v>
                  </c:pt>
                  <c:pt idx="3">
                    <c:v>Cross</c:v>
                  </c:pt>
                  <c:pt idx="4">
                    <c:v>Shot</c:v>
                  </c:pt>
                  <c:pt idx="5">
                    <c:v>Tackle</c:v>
                  </c:pt>
                </c:lvl>
              </c:multiLvlStrCache>
            </c:multiLvlStrRef>
          </c:cat>
          <c:val>
            <c:numRef>
              <c:f>Sheet1!$C$2:$C$7</c:f>
              <c:numCache>
                <c:formatCode>General</c:formatCode>
                <c:ptCount val="6"/>
                <c:pt idx="0">
                  <c:v>41</c:v>
                </c:pt>
                <c:pt idx="1">
                  <c:v>39</c:v>
                </c:pt>
                <c:pt idx="2">
                  <c:v>19.8</c:v>
                </c:pt>
                <c:pt idx="3">
                  <c:v>18</c:v>
                </c:pt>
                <c:pt idx="4">
                  <c:v>23.9</c:v>
                </c:pt>
                <c:pt idx="5">
                  <c:v>3.8</c:v>
                </c:pt>
              </c:numCache>
            </c:numRef>
          </c:val>
        </c:ser>
        <c:ser>
          <c:idx val="2"/>
          <c:order val="2"/>
          <c:tx>
            <c:strRef>
              <c:f>Sheet1!$D$1</c:f>
              <c:strCache>
                <c:ptCount val="1"/>
                <c:pt idx="0">
                  <c:v>Credited to the right player</c:v>
                </c:pt>
              </c:strCache>
            </c:strRef>
          </c:tx>
          <c:spPr>
            <a:solidFill>
              <a:srgbClr val="0A7A5C"/>
            </a:solidFill>
            <a:effectLst/>
          </c:spPr>
          <c:invertIfNegative val="0"/>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cat>
            <c:multiLvlStrRef>
              <c:f>Sheet1!$A$2:$A$7</c:f>
              <c:multiLvlStrCache>
                <c:ptCount val="6"/>
                <c:lvl>
                  <c:pt idx="0">
                    <c:v>Pass</c:v>
                  </c:pt>
                  <c:pt idx="1">
                    <c:v>Carry</c:v>
                  </c:pt>
                  <c:pt idx="2">
                    <c:v>Header</c:v>
                  </c:pt>
                  <c:pt idx="3">
                    <c:v>Cross</c:v>
                  </c:pt>
                  <c:pt idx="4">
                    <c:v>Shot</c:v>
                  </c:pt>
                  <c:pt idx="5">
                    <c:v>Tackle</c:v>
                  </c:pt>
                </c:lvl>
              </c:multiLvlStrCache>
            </c:multiLvlStrRef>
          </c:cat>
          <c:val>
            <c:numRef>
              <c:f>Sheet1!$D$2:$D$7</c:f>
              <c:numCache>
                <c:formatCode>General</c:formatCode>
                <c:ptCount val="6"/>
                <c:pt idx="0">
                  <c:v>34.300000000000004</c:v>
                </c:pt>
                <c:pt idx="1">
                  <c:v>35.099999999999994</c:v>
                </c:pt>
                <c:pt idx="2">
                  <c:v>9.3</c:v>
                </c:pt>
                <c:pt idx="3">
                  <c:v>12.6</c:v>
                </c:pt>
                <c:pt idx="4">
                  <c:v>17.9</c:v>
                </c:pt>
                <c:pt idx="5">
                  <c:v>3.8</c:v>
                </c:pt>
              </c:numCache>
            </c:numRef>
          </c:val>
        </c:ser>
        <c:dLbls>
          <c:numFmt formatCode="0" sourceLinked="0"/>
          <c:txPr>
            <a:bodyPr/>
            <a:lstStyle/>
            <a:p>
              <a:pPr>
                <a:defRPr b="0" i="0" strike="noStrike" sz="900" u="none">
                  <a:solidFill>
                    <a:srgbClr val="1630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4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5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66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2E4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Ball detector</c:v>
                </c:pt>
              </c:strCache>
            </c:strRef>
          </c:tx>
          <c:spPr>
            <a:solidFill>
              <a:srgbClr val="F5B76B"/>
            </a:solidFill>
            <a:ln w="38100" cap="flat">
              <a:solidFill>
                <a:srgbClr val="F5B76B"/>
              </a:solidFill>
              <a:prstDash val="solid"/>
              <a:round/>
            </a:ln>
            <a:effectLst/>
          </c:spPr>
          <c:marker>
            <c:symbol val="circle"/>
            <c:size val="7"/>
            <c:spPr>
              <a:solidFill>
                <a:srgbClr val="F5B76B"/>
              </a:solidFill>
              <a:ln w="9525" cap="flat">
                <a:solidFill>
                  <a:srgbClr val="F5B76B"/>
                </a:solidFill>
                <a:prstDash val="solid"/>
                <a:round/>
              </a:ln>
              <a:effectLst/>
            </c:spPr>
          </c:marker>
          <c:xVal>
            <c:numRef>
              <c:f>Sheet1!$A$2:$A$9</c:f>
              <c:numCache>
                <c:formatCode>General</c:formatCode>
                <c:ptCount val="8"/>
                <c:pt idx="0">
                  <c:v>35.5</c:v>
                </c:pt>
                <c:pt idx="1">
                  <c:v>38.6</c:v>
                </c:pt>
                <c:pt idx="2">
                  <c:v>40.699999999999996</c:v>
                </c:pt>
                <c:pt idx="3">
                  <c:v>42.4</c:v>
                </c:pt>
                <c:pt idx="4">
                  <c:v>44</c:v>
                </c:pt>
                <c:pt idx="5">
                  <c:v>45.6</c:v>
                </c:pt>
                <c:pt idx="6">
                  <c:v>47.199999999999996</c:v>
                </c:pt>
                <c:pt idx="7">
                  <c:v>48.6</c:v>
                </c:pt>
              </c:numCache>
            </c:numRef>
          </c:xVal>
          <c:yVal>
            <c:numRef>
              <c:f>Sheet1!$B$2:$B$9</c:f>
              <c:numCache>
                <c:formatCode>General</c:formatCode>
                <c:ptCount val="8"/>
                <c:pt idx="0">
                  <c:v>94</c:v>
                </c:pt>
                <c:pt idx="1">
                  <c:v>90.4</c:v>
                </c:pt>
                <c:pt idx="2">
                  <c:v>86.9</c:v>
                </c:pt>
                <c:pt idx="3">
                  <c:v>83.7</c:v>
                </c:pt>
                <c:pt idx="4">
                  <c:v>80.4</c:v>
                </c:pt>
                <c:pt idx="5">
                  <c:v>77.10000000000001</c:v>
                </c:pt>
                <c:pt idx="6">
                  <c:v>72.1</c:v>
                </c:pt>
                <c:pt idx="7">
                  <c:v>68.30000000000001</c:v>
                </c:pt>
              </c:numCache>
            </c:numRef>
          </c:yVal>
          <c:smooth val="0"/>
        </c:ser>
        <c:dLbls>
          <c:numFmt formatCode="General" sourceLinked="0"/>
          <c:txPr>
            <a:bodyPr/>
            <a:lstStyle/>
            <a:p>
              <a:pPr>
                <a:defRPr b="0" i="0" strike="noStrike" sz="1000" u="none">
                  <a:solidFill>
                    <a:srgbClr val="16302A"/>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75"/>
          <c:min val="0"/>
        </c:scaling>
        <c:delete val="0"/>
        <c:axPos val="b"/>
        <c:title>
          <c:tx>
            <c:rich>
              <a:bodyPr/>
              <a:lstStyle/>
              <a:p>
                <a:pPr>
                  <a:defRPr sz="1100" b="0" i="0" u="none" strike="noStrike">
                    <a:solidFill>
                      <a:srgbClr val="F3F6F2"/>
                    </a:solidFill>
                    <a:latin typeface="Arial"/>
                  </a:defRPr>
                </a:pPr>
                <a:r>
                  <a:rPr sz="1100" b="0" i="0" u="none" strike="noStrike">
                    <a:solidFill>
                      <a:srgbClr val="F3F6F2"/>
                    </a:solidFill>
                    <a:latin typeface="Arial"/>
                  </a:rPr>
                  <a:t>Recall: share of visible balls found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BFD8CE"/>
                </a:solidFill>
                <a:latin typeface="+mn-lt"/>
              </a:defRPr>
            </a:pPr>
            <a:endParaRPr lang="en-US"/>
          </a:p>
        </c:txPr>
        <c:crossAx val="2094734552"/>
        <c:crosses val="autoZero"/>
        <c:auto val="1"/>
        <c:lblAlgn val="ctr"/>
        <c:noMultiLvlLbl val="1"/>
        <c:majorUnit val="15"/>
      </c:valAx>
      <c:valAx>
        <c:axId val="2094734552"/>
        <c:scaling>
          <c:orientation val="minMax"/>
          <c:max val="100"/>
          <c:min val="60"/>
        </c:scaling>
        <c:delete val="0"/>
        <c:axPos val="l"/>
        <c:majorGridlines>
          <c:spPr>
            <a:ln w="9525" cap="flat">
              <a:solidFill>
                <a:srgbClr val="2A5646"/>
              </a:solidFill>
              <a:prstDash val="solid"/>
              <a:round/>
            </a:ln>
          </c:spPr>
        </c:majorGridlines>
        <c:title>
          <c:tx>
            <c:rich>
              <a:bodyPr/>
              <a:lstStyle/>
              <a:p>
                <a:pPr>
                  <a:defRPr sz="1100" b="0" i="0" u="none" strike="noStrike">
                    <a:solidFill>
                      <a:srgbClr val="F3F6F2"/>
                    </a:solidFill>
                    <a:latin typeface="Arial"/>
                  </a:defRPr>
                </a:pPr>
                <a:r>
                  <a:rPr sz="1100" b="0" i="0" u="none" strike="noStrike">
                    <a:solidFill>
                      <a:srgbClr val="F3F6F2"/>
                    </a:solidFill>
                    <a:latin typeface="Arial"/>
                  </a:rPr>
                  <a:t>Precision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BFD8CE"/>
                </a:solidFill>
                <a:latin typeface="+mn-lt"/>
              </a:defRPr>
            </a:pPr>
            <a:endParaRPr lang="en-US"/>
          </a:p>
        </c:txPr>
        <c:crossAx val="2094734554"/>
        <c:crosses val="autoZero"/>
        <c:crossBetween val="midCat"/>
        <c:majorUnit val="10"/>
      </c:valAx>
      <c:spPr>
        <a:noFill/>
        <a:ln>
          <a:noFill/>
        </a:ln>
        <a:effectLst/>
      </c:spPr>
    </c:plotArea>
    <c:legend>
      <c:legendPos val="t"/>
      <c:overlay val="0"/>
      <c:txPr>
        <a:bodyPr/>
        <a:lstStyle/>
        <a:p>
          <a:pPr>
            <a:defRPr sz="1100">
              <a:solidFill>
                <a:srgbClr val="F3F6F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PitchProfile watches a normal TV broadcast of a football match and works out how each player played. The video is the only input. After the slides, we show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WHY FOOTBALL: FIFA reports around 5 billion people engaged with the 2022 World Cup, close to 1.5 billion reaching the final. "Engaged" is FIFA's broad measure of following tournament content, not unique viewers. HOW STATISTICS HELP. Recruitment: a survey of 19 professionals found clubs use video and data to evaluate players, find overlooked talent in external datasets and profile strengths and weaknesses (Frost, Groom and Nicholls, 2025, International Journal of Sports Science and Coaching). Tactics: Rein and Memmert (2016, SpringerPlus) review how tracking and event data support tactical analysis, where the old gold standard was expert observation, which is subjective and time-consuming. Workload: GPS data are used to monitor training load for each player and the team, linked to injury risk (Ravé et al., 2020, Frontiers in Physiology; an opinion paper, and the workload-injury link is debated). Example: Brentford uses statistical models to look for players whose potential exceeds their price, and its owner says there is still old-fashioned scouting alongside (ESPN, Sky Sports). HOW EVENTS ARE RECORDED TODAY: match events are collected with proprietary tagging software by human analysts, and the data is owned by the companies that collect it (Pappalardo et al., 2019, Scientific Data). Stats Perform, which owns Opta, describes highly trained analysts applying 60-plus event definitions. This is accurate: two groups of experienced operators agreed with kappa 0.92 and 0.94 on team events, though on one match (Liu et al., 2013). So the cost is people, not accuracy. TRACKING: Second Spectrum is the Premier League's official optical provider since 2019, and Genius Sports has described roughly 28 to 30 cameras at every Premier League ground. Wearable GPS vests were approved for matches in 2015 but cover your own team only. COVERAGE: the analytics firm Driblab says coverage of youth and women's competitions is non-existent in most countries, and SkillCorner says academy and women's matches often have only a single camera; both are vendor statements and I found no independent figure. NOT NEW: SkillCorner already sells tracking from broadcast video. Independent evidence: Mills et al. (2026, Sports Engineering) compared broadcast-derived tracking with the stadium TRACAB system and FIFA's manually tagged events for one 2022 World Cup match, and in the best case it matched or came within 0.05 F1 of the stadium system for most events, limited by player visibility, ball tracking errors and subjective event definitions. One match only. So a complement for now. Full links: PitchProfileDeck/SOURCES.md.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research gap behind the project. Public datasets each cover one piece of the job. SoccerNet Ball Action Spotting gives twelve ball actions with times. FOOTPASS, released under an NDA, gives every player’s box, shirt number and team, plus eight action types. SoccerNet Jersey gives shirt numbers, SoccerNet tracking gives player and ball boxes, and SoccerTrack gives positions, the ball and every action for one match. We had to combine all five to build one pipeline, and each was used for a different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honest slide, and the demo shows the first one directly: in the Live tracking tab the boxes disappear whenever the broadcast cuts away, and across the 22 halves analysed so far only about 60% of broadcast time shows a usable view of the pitch. Second, the ball is tiny and often hidden, so we cannot always say who passed it. Third, a tackle looks like any other touch if you only have positions, so we use a video model, and even that found only 1 of 26 tackles in unseen games; we report them as expected counts, not totals. Fourth, naming players: about half of player time is tied to a shirt number, and striped kits are the hardest to read. Also worth one sentence if asked: the best training data is under a SoccerNet NDA, and analysis takes about three quarters of the video's length on one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Walk the four phases left to right; the live demo follows the first three. Phase 1, upload: you add a match video. The app checks its length (a full half or a full match), size and picture quality, and estimates how long the analysis will take. Phase 2, analyse: the models run. They follow every player and the ball, place them on the pitch in metres, read shirt numbers to know who is who, and find the events such as passes and shots. This takes about three quarters of the video's length on one RTX 3090. Phase 3, report: you get a match overview, a profile for each player, maps of every event type, and the tracking drawn over the original video. Phase 4, review, is optional: you can correct a player's name, and the app re-runs the statistics with your correction. Nothing but the video is used as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Read it as three rows, left to right, with an arrow wherever one stage hands its result to the next. Each card poses one problem and names the answer to it: the model, rule or method we use. The video is the only input. The next slides take the problems in this order, one at a time. Stage 1 samples 12.5 frames a second. Stage 2, detect: YOLOv8x finds players, referees and the ball in each frame. Stage 3, track: BoT-SORT links boxes into tracks and a camera-cut detector makes sure nobody is followed across a cut. Stage 4, pitch map: an HRNet finds 57 points on the pitch lines and a homography turns pixels into metres. Stage 5, teams: K-means on shirt colour. Stage 6, ball path: a shortest-path search picks one ball per frame from many wrong candidates. Stage 7, identify: the shirt-number reader and our fine-tuned CLIP identity model turn tracks into named players. Stage 8, events: hand-written rules find passes and carries from positions, our fine-tuned T-DEED model finds shots, headers and tackles in the video. Stage 9 is arithmetic: distance, speed, heatmaps and counts. Green labels are pretrained models used as released, orange labels are models we fine-tuned or trained, grey ones are hand-written methods. The whole run takes about three quarters of the video length on one RTX 3090.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find every player and the ball? The problem: A broadcast frame holds about 14 outfield players, goalkeepers, referees and a ball only a few pixels wide. Every later step depends on finding them first. Our answer: YOLOv8x detectors (used as released). Data it uses: Video frames, 12.5 a second, resized to 1,280 px wide. Trained on: Roboflow football images of players, goalkeepers, referees and the ball. Used as released. How it works: Resize the frame to 1,280 px and pass it once through the network. Predict a box and a class at three grid scales; merge overlapping boxes. Keep boxes at 0.1 confidence or more. Later stages remove the false ones. Training detail: Not trained by us. Roboflow football weights used as released. A second, ball-only YOLOv8x runs when the first finds no ball. Outcome: 89.7% of visible player time detected. Weakest on close-ups: 63.6% for boxes over 150 px tall. About 14 outfield players are found in each frame. More detail. Step 1: The frame is resized to 1,280 pixels wide and passed once through the network. Step 2: At three grid scales it predicts a box and a class score for each location: player, goalkeeper, referee or ball. Step 3: Overlapping boxes of one object are merged (non-maximum suppression, IoU 0.5). Step 4: Boxes with confidence of at least 0.1 are kept. The low bar is deliberate: later stages remove the false ones. In → out: A frame → labelled boxes. Origin: Roboflow football detector weights, used without retraining. A second ball-only YOLOv8x runs when the first finds no ball. Feeds: The foot point gives the pitch position, the torso gives the kit colour, the box becomes a thumbnail for the identity model. Measured: 89.7% of visible player time detected (IoU ≥ 0.5). Weakest on close-ups: 63.6% for boxes over 150 px tall. Note: About 14 outfield players are detected in each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follow one player through the match? The problem: Detection looks at each frame alone, so nothing says two boxes show the same player. The camera also cuts about every 8 seconds, and a track must never carry on across a cut. Our answer: BoT-SORT tracker + cut detector (method, no training). Data it uses: Player boxes from the detector, and a colour histogram of each frame. Trained on: Nothing. Fixed settings, no training data. How it works: A Kalman filter predicts where each track goes next, with camera pans and zooms corrected. New boxes are matched to tracks by overlap, confident boxes first. A cut detector compares colour histograms: a distance above 0.35 is a cut. Training detail: Nothing to train. BoT-SORT is a standard tracker with fixed settings. The cut detector is hand-written, not a neural network. Outcome: 97.1% of tracked time in single-player tracks. The cut detector found 115 of 133 labelled hard cuts. The demo match has 730 cuts, about one every 8 seconds. More detail. Step 1: A Kalman filter predicts where each track will be in the next sample. Step 2: New boxes are matched to tracks by overlap: confident boxes first (score ≥ 0.25), weak ones second (≥ 0.1). Step 3: Camera pans and zooms are corrected first with sparse optical flow. Appearance matching is switched off. Step 4: A cut detector compares hue-and-saturation histograms of consecutive samples. A distance above 0.35 is a cut and tracking restarts. Step 5: Short tracks are joined into segments when they share a view and a team, the gap is at most 1.2 s and they are close enough. In → out: Boxes → tracks and segments. Origin: BoT-SORT is a standard tracker. The cut detector is hand-written, not a neural network. Settings: Match threshold 0.85. A track lost for about a second is dropped. Join distance at most 1.8 m + 7.5 m/s × gap. Measured: 97.1% of tracked time sits in single-player segments. The cut detector found 115 of 133 labelled hard cuts. Why it matters: A track never survives a camera cut. The demo match has 730 cuts, about one every 8 seconds, which is why an identity model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turn pixels into metres? The problem: Distance and speed need positions on the pitch, but the picture comes from a moving, zooming camera. Only a median 60% of broadcast time shows enough pitch lines to tell where the camera points. Our answer: HRNetV2-W48 pitch network + homography (used as released). Data it uses: One video frame at 960 × 540 px. Trained on: SoccerNet pitch images with labelled pitch points, from the original authors. Used as released. How it works: The network finds 57 known pitch points: corners, box corners, centre circle, penalty spots. RANSAC fits a homography from the matched points. Weak fits are rejected. Fits are cleaned: outliers dropped, gaps up to 1.2 s filled, then smoothed. Training detail: Not trained by us. No-Bells-Just-Whistles HRNetV2-W48 weights, used as released. Outcome: 0.18 m jitter after cleaning, down from 1.1 m. 90th percentile, fixed points. The limit: only a median 60% of broadcast time shows enough pitch to calibrate. More detail. Step 1: The frame is resized to 960 × 540. The network outputs 57 heat maps, one for each known pitch point: corners, box corners, centre circle, penalty spots. Step 2: The peak of each heat map, if confident (≥ 0.1486), gives that point’s position in the picture. Crossbar points are dropped. Step 3: RANSAC fits a homography from the matched points. It is kept only with at least 5 inliers within 6 px, an error under 4 px, and agreement with the painted lines. Step 4: Raw fits are cleaned: outliers more than 1 m from the running median are rejected, gaps up to 1.2 s are filled, and fits are smoothed over 5 samples. In → out: A frame → positions in metres on a 105 × 68 m pitch. Origin: No-Bells-Just-Whistles (Gutiérrez-Pérez and Agudo), used without retraining. Settings: Tried on every second sample and at the start of each camera shot. Measured: Jitter of fixed points projected to the pitch fell from 1.1 m to 0.18 m at the 90th percentile after cleaning. Limit: Only a median 60% of broadcast time (47–70% across 22 halves) shows enough pitch to calibrate.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Which team, which way, and where is the ball? The problem: A detection says “player”, not which side. Nothing says which way a team attacks, and the ball is missed in more than half of the frames where it is visible, with false candidates among the hits. Our answer: K-means, a defending rule and a path search (hand-written). Data it uses: Torso colours of detected players, where the players stand, and ball candidates. Trained on: Nothing. Hand-written, no training data. How it works: Teams: two-cluster K-means on torso colour, with grass masked out. Direction: defenders stay between ball and own goal, so the smaller mean position is the left goal. Ball path: a shortest-path search through the ball candidates of each shot. Training detail: None. Three hand-written algorithms, so no training data is needed. Outcome: 97% of detected players on the right team. Attack direction is right on all 8 halves that could be checked. The ball is located in a median 64% of live play. More detail. Teams: Median torso colour in CIELAB, with grass pixels masked, then two-cluster K-means with 12 random starts. Referees keep the detector’s class. The two clusters stay anonymous until a person names them. Attack direction: Defenders stay between the ball and their own goal, so over a half the team with the smaller mean x defends the left goal. A gap of at least 1.5 m counts. Right on all 8 halves where kick-off could be checked. Ball path: A shortest-path search over the ball candidates of each camera shot. Costs: −0.5 ln(confidence) per candidate, 1.0 per skipped sample, 4.0 per new piece. Steps limited to 90 px and 38 m/s. Ball located in a median 64% of live play. Note: Three small algorithms with no training: boxes and candidates in, two teams, an attack direction and one ball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Can we read the number on a shirt? The problem: A shirt number names the player, but in most thumbnails it cannot be read: the player faces the camera, is far away or is turned. Reading every one would produce confident wrong numbers. Our answer: ResNet-34 legibility check + PARSeq reader (used as released). Data it uses: The torso crop of each tracked player, as a thumbnail. Trained on: SoccerNet jersey-number images, from the original authors. Used as released. How it works: Cut the torso from the player box and scale it to a thumbnail. A ResNet-34 decides whether a number is readable at all. PARSeq reads the digits. Readings from one track are combined into one answer. Training detail: Not trained by us. The SoccerNet jersey-number pipeline (Koshkina and Elder; PARSeq by Bautista and Atienza), used as released. Outcome: 80.3% of 1,211 tracklets right. Counting “not visible” as right. 76.8% of the tracklets with a readable number are read correctly. More detail. Step 1: The player box is cut to the torso band and scaled to a thumbnail. Step 2: A ResNet-34 legibility classifier decides whether a number is readable at all. Most thumbnails are not: the player faces the camera, is far away or is turned. Step 3: PARSeq, a scene-text recogniser, reads the digits from the readable thumbnails. Step 4: Readings from the evenly spaced thumbnails of one tracklet are combined into one answer: a number, or “not visible”. In → out: A thumbnail → readable or not, and the digits. Origin: The SoccerNet jersey-number pipeline (Koshkina and Elder; PARSeq by Bautista and Atienza), used as released. Measured: 80.3% of 1,211 tracklets right, counting “not visible” as right. 76.8% of readable tracklets read right. Today: The legibility classifier also decides which thumbnails may vote for the identity model. PARSeq is a second opinion on every name: without it the share of visible time named correctly falls from 52.3% to 44.0%. Note: Tracklets with no readable number are correctly called “not visible” 88.7%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name a player whose number is hidden? The problem: A number can be read for only 38% of tracklets. Team-mates wear the same kit, and goalkeepers wear a kit that matches neither team, so colour alone does not separate players. Our answer: CLIP ViT-B/16 identity model (fine-tuned by us). Data it uses: 224 × 224 thumbnails of each tracked player. Trained on: 48 FOOTPASS games: 6.0 million thumbnails of 1,485 players with true numbers, identities and goalkeeper flags. How it works: One CLIP ViT-B/16 network takes a 224 × 224 thumbnail. Two digit heads read the tens and units digits separately. An appearance head groups one player’s thumbnails; a goalkeeper head flags keepers. Training detail: Fine-tuned by us from OpenAI CLIP weights on 48 FOOTPASS games: 6.0 million thumbnails of 1,485 players, 10,000 steps on one RTX 3090. Digits are learned only from readable thumbnails. Outcome: 98.3% of tracklets matched to the right player. Goalkeepers found with 89.9% recall at 99.0% precision. Learning digits only from readable thumbnails lifted the right-number rate from 74% to 88%. More detail. Step 1: A CLIP vision transformer takes a 224 × 224 thumbnail, scaled to fit and padded with grey because players are tall and narrow. Step 2: Digit heads: the tens digit and the units digit are read separately, so a number never seen in training can still be read. Step 3: Appearance head: a 256-number code. Thumbnails of one player are pulled together, and every other player of the same game, team-mates included, is pushed away. Step 4: Goalkeeper head: goalkeepers wear a kit that matches neither team, so colour alone often misses them. Origin: OpenAI CLIP ViT-B/16 weights, fine-tuned by us. Trained on: 48 FOOTPASS games: 6.0 million thumbnails of 1,485 players, with true numbers, identities and goalkeeper flags. Loss: Cross-entropy on both digits, contrastive loss on appearance, binary cross-entropy for goalkeeper. Settings: AdamW, 1e-5 for the backbone and 2e-4 for the new heads, 10,000 steps on one RTX 3090. Key trick: Digits are learned only from readable thumbnails. Without it the digit heads learn to guess from appearance: the right-number rate rose from 74% to 88% of grouped player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keep a name across camera cuts? The problem: Every camera cut ends all tracks, so a player comes back as a new, unnamed track. Names have to be rebuilt after each cut from up to 24 thumbnails per track, without joining two players who are on screen together. Our answer: Grouping and naming rules over the identity model (fine-tuned by us). Data it uses: Up to 24 thumbnails per track, read by the identity model. Trained on: No extra training. Rules tuned on 49 SoccerNet tracking clips and checked on FOOTPASS. How it works: Cut up to 24 thumbnails per track and combine their digit votes, weighted by confidence. Group segments into players by appearance, never joining two seen together. Name a group when one number holds at least 85% of its votes. Training detail: Uses the fine-tuned CLIP identity model from the previous slide. The grouping and naming rules are hand-written, with no extra training. Outcome: 95% of the names given are right. The right player is named for 52.3% of visible time. The unnamed half is not lost: unnumbered players keep their statistics. More detail. Step 1: Up to 24 thumbnails are cut from every track. Step 2: For each segment, the digit probabilities of its readable thumbnails (legibility ≥ 0.5) are combined, each weighted by how sure it is. Blurred or turned views count for almost nothing. Step 3: Segments are grouped into players by appearance, never joining two that are on screen together. Up to 15 s of overlap is tolerated. Step 4: A group is named when one number holds at least 85% of its votes. Groups with no reliable number stay as consistent unnumbered players. Goalkeepers: Found with 89.9% recall at 99.0% precision. Appearance: Matches a tracklet to the right player 98.3% of the time. Numbers: Right 94.2% of the time when confident, reading 38% of tracklets. Whole pipeline: 52.3% of visible player time given the right player; 95% of the names given are right. Note: The unnamed half is not lost: unnumbered players keep their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find passes, shots and tackles? The problem: Some events leave little trace in positions: a tackle looks like any other touch, and the ball is often missed. The video itself shows what happened, so the model has to watch it. Our answer: T-DEED action spotter (fine-tuned by us). Data it uses: 8-second video clips: 100 frames at 12.5 a second, 796 × 448 px. Trained on: SoccerNet ball-action games plus 48 FOOTPASS games, with action labels. How it works: Watch 8-second clips: 100 frames at 12.5 a second. An image network per frame and a temporal encoder-decoder place each action on the right frame. Heads give one of 12 actions, its exact moment and the team. Overlapping clips are merged. Training detail: Fine-tuned by us from the SoccerNet 2025 T-DEED baseline on ball-action games plus 48 FOOTPASS games: 3,000 steps, about 3 hours. Outcome: 0.628 mean average precision, unseen games. Pass 0.93, carry 0.90, shot 0.66, tackle 0.10. Fine-tuning raised it from 0.606. More detail. Step 1: The model watches an 8-second clip: 100 frames at 12.5 frames a second, 796 × 448 pixels. Step 2: A small image network (RegNet-Y 200MF with gate-shift modules) makes a feature for every frame, mixing information between neighbouring frames. Step 3: A temporal encoder-decoder sharpens the differences between frames, so an action can be placed on the right frame. Step 4: Three heads read the result: which of 12 actions, how far the true moment is from the frame, and which team did it. Step 5: Clips overlap by three quarters. Overlapping predictions are merged (soft non-maximum suppression) and scores below 0.05 are dropped. Origin: SoccerNet 2025 team ball-action baseline, fine-tuned by us: 3,000 steps, about 3 hours. Credit: Team from the screen side; for tackles and blocks, from the previous touch. Player: whoever’s box holds the ball at that moment. Counting: Expected counts: the sum of scores, not events above a threshold. Measured: Mean average precision 0.628. Pass 0.93, carry 0.90, shot 0.66, tackle 0.10. Result: Fine-tuning raised mean average precision from 0.606 to 0.628 on two unseen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problem: positions give only dots and a ball path, and nothing says what counts as a touch, a pass or a sprint. Our answer is hand-written rules, not learned models. They read the pitch positions of every player and the ball path, in metres, 12.5 times a second, and they use no training data: just rules with numbers we set and checked against annotated matches. A touch is a sudden change in the ball’s speed of at least 4 metres a second with a player within 2 metres, because a ball only changes speed abruptly when something hits it. Touches by one player less than two and a half seconds apart form a possession spell. A pass is the gap between two spells in the same camera view, at most 4 seconds: if the next player is on the same team it is completed, otherwise intercepted. A carry is a spell in which the player moved the ball at least 2 metres. Shots are not rule-based: the video model spots them and credits the player at the ball. A sprint is at least three steps in a row, about 1.2 seconds, at 25.2 km/h or faster. For distance, positions are smoothed over 13 samples and summed in 0.4 second steps, dropping speeds above 11 metres a second. Tackles, blocks and headers are not rule-based, because they look like any other touch in position data, so the video model finds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far and how fast did each player run? The problem: Raw pitch positions jitter by decimetres, which at 12.5 samples a second looks like fast running. Summing them directly would overstate distance and invent sprints. Our answer: Smoothing and step rules (hand-written). Data it uses: Each player’s pitch positions in metres, 12.5 a second. Trained on: Nothing. Hand-written, no training data. How it works: Smooth positions over 13 samples, about one second. Measure steps every 0.4 s; discard steps over 11 m/s as errors; sum into distance. A sprint is 3 steps in a row at 25.2 km/h or faster. Training detail: Nothing to train. Hand-written rules; every constant is listed in the model documentation. Outcome: Per player distance, speed zones, sprints. Counts cover only the time a player was on screen, so team totals are fuller than player totals. More detail. Step 1: Each player’s pitch positions are smoothed over 13 samples, about one second. Step 2: Steps are measured every 0.4 s. Steps faster than 11 m/s are discarded as errors. Step 3: Distance is the sum of the steps. Speed zones start at 7.2, 14.4, 19.8 and 25.2 km/h. Top speed is the 98th percentile of step speeds. Step 4: A sprint is 3 steps in a row at 25.2 km/h or faster, counted once. A high-intensity run is 5.5 m/s for at least 1 s. Why smooth: Raw positions jitter by decimetres, which at 12.5 samples a second looks like fast running. Origin: Hand-written rules. Every constant is listed in the model documentation. Scope: Counts describe only the time a player was on screen. Note: Team totals count every found event; player totals count only what the camera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first group of models we use exactly as published. YOLOv8x finds players, goalkeepers, referees and, with a second detector, the ball; it runs on every sampled frame. The HRNet from No-Bells-Just-Whistles finds 57 points on the pitch lines, and we add a homography so pixels become metres. The ResNet-34 and PARSeq pair from the SoccerNet jersey-number pipeline checks whether a number is readable and then reads it; only readable thumbnails vote. BoT-SORT is a standard tracker with no training at all; our own camera-cut detector restarts every track at a cut. Most of these licences are research-only or copyleft, which is fine for a course project but would need review before any commercial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Most models are used as released, so only two of the models in use are ours. Fine-tuned means we started from published weights and kept training on our data. Identity model: we started from OpenAI CLIP and trained on 48 FOOTPASS games, about six million player thumbnails with true shirt numbers, identities and goalkeeper flags. It learns to read the two digits of a shirt number, to tell players apart, and to spot goalkeepers. The key trick is that digits are learned only from thumbnails where the number is readable; otherwise the model learns to guess the number from how the player looks. It was checked on three unseen FOOTPASS games and took 10,000 steps on one RTX 3090. Action spotter: we started from the SoccerNet 2025 T-DEED baseline and trained on SoccerNet ball-action games plus the 48 FOOTPASS games, some with partial labels. It learns to find 12 kinds of action in the video, with extra weight on rare ones such as tackles and blocks. It was checked on two unseen SoccerNet games and three unseen FOOTPASS games and took about three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One table for the whole system, every number measured on matches the models never trained on. Seeing and tracking are strong: the YOLOv8x detector finds 89.7% of visible player time, the kit-colour rule puts 97% of detected players in the right team, and 97.1% of tracked time is in tracks of a single player. The shirt-number reader gets about 80% of tracklets right. Our identity model is right 95% of the time it gives a name, but only about half of visible player time is named, so the verdict is partial. The T-DEED spotter has a mean average precision of 0.63 over 12 actions: very good on passes at 0.93, weak on tackles at 0.10. The hand-written event rules find passes with 68% precision and 70% recall. The spotter finds shots with 68% precision and 72% recall on unseen halves. The ball is the weakest link: the detector finds only 47% of visible balls. The practical consequence: team totals count every event whether or not a player can be named, so they are more reliable than player totals. The backup slides have the full charts and confusion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To close, where this goes. Top left, scaling to more matches: each match is processed on its own, in about three quarters of its length on one RTX 3090, so a 90-minute match takes about 70 minutes, and only broadcast video is needed. Top right, better models: moving the identity model from 19 to 48 training games raised the share of player time given the right name from 48.9% to 53.0%, while the ball is still the weakest link, found in under half of the frames where it is visible. Bottom left, naming more players: about half of visible player time is still unnamed, and a line-up helped in a test with the true squads, raising the right-name share from 53.0% to 64.2%, while more thumbnails and the naming panel also help and unnamed players keep their statistics. Bottom right, a possible extension: grading players against playing styles. Nobody has graded players yet, so there are no results; a future version needs labelled players first, and our player statistics would be its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These four are exactly what the live demo shows, in this order: the match report, the player profiles, the event maps and the live tracking on the real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Walk left to right. See: the AI finds each player and the ball in every frame. Place: it finds the pitch lines, which lets us measure real distance and speed in metres instead of pixels. Identify: the two teams are told apart by kit colour, and each player by the number on his shirt. Count: once we know who is where, passes, shots, distance and runs follow from the movement and the ball. The point to land: the video is the only input, nothing is bought from a data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 companion to the previous slide. Read down the table, not every row: the first column is the model, the second is its one job, the third is what goes in and what comes out, and the last says whether we trained it. Pretrained means we use it as released: the YOLOv8x detectors, the HRNet pitch network, and the ResNet-34 plus PARSeq number reader. No training means it is a method, not a learned model: the BoT-SORT tracker with its camera-cut detector, and K-means on shirt colour. We fine-tuned two: the CLIP identity model on about six million player thumbnails, and the T-DEED action spotter on SoccerNet and FOOTPASS clips. The event rules are hand-written and turn positions into passes, carries, sprints and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One card per step, same order as the last slide. See: YOLOv8x finds people and the ball in each frame, and BoT-SORT follows them from frame to frame. Place: an HRNet network finds 57 key points on the pitch lines. Identify: a CLIP vision transformer, which we fine-tuned on about six million player thumbnails, reads shirt numbers and tells team-mates apart. Count: passes and carries come from simple rules over positions and the ball; shots, headers and blocks come from the T-DEED video model, which we also fine-tuned. Two of the four are our own training work: the identity model and the action spotter.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take questions. The first three fix measurement quality, in the order we expect them to help most. The ball is the biggest lever: about a quarter of the passes the video model finds cannot be given to a player because no ball was found at that moment. Naming players: reading more shirt numbers, and letting a reviewer name the rest. Tackles: the data does not exist yet, so we need many more labelled examples. The fourth is finding the ball more often: it is found in under half of the frames where it is visible, and every pass and shot depends on it. The line at the bottom is product work: today the full-match pipeline analyses matches that are already in the library, and the demo shows the intended upload flow, so be clear that arbitrary upload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Before any numbers, say how they were obtained. Six tests, each on data the models did not train on: players, teams and tracks on three unseen FOOTPASS games with ground truth for every player in every frame; shirt numbers on the SoccerNet Jersey test split; player identity on the same three FOOTPASS games; events from video on two unseen SoccerNet games; the event rules on one annotated SoccerTrack match, using the annotated positions so the rules are tested without the vision errors; and the ball detector on SoccerNet test clips. Then define the words used on the next slides: precision is how much of what we report is real, recall is how much of the real events we find, average precision combines the two over every threshold, and a confusion matrix is simply the counts of right and wrong calls. Caveat to say if asked: the event-rule test is one match, and the spotter thresholds per class were picked to maximise F1 on the same test games, which flatters precision and recall slightly; average precision does not depend on a threshold. Models under test: YOLOv8x with BoT-SORT and kit-colour K-means for players, teams and tracks; ResNet-34 plus PARSeq for shirt numbers; a fine-tuned CLIP ViT-B/16 for identity; the fine-tuned T-DEED spotter for events from video; hand-written rules for passes and carries from positions; YOLOv8x for the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three numbers on top come from three unseen FOOTPASS games, 2.03 million true player-samples. 89.7% of the time a player is visible, he is detected. 97% of detected players get the right team, which comes from kit colour, so it rarely fails. 97.1% of tracked time sits in tracks that contain only one player, so a track is almost never two people mixed together. The chart splits the same measure by half: pale bar is detected, mid green is given any name, dark green is given the right name. Detection is steady at 82 to 96 percent. Naming swings from 26 to 64 percent because it depends on how close the camera is and whether shirt numbers face it: game 24 is detected 96% of the time but named only about 30%. The matrix on the right is a true confusion matrix for goalkeepers, over 13,610 tracklets from the three games: 616 of 685 goalkeepers are called correctly (recall 89.9%), and only 6 of 12,925 outfield players are wrongly called goalkeepers (precision 99.0%). Goalkeepers are easy because they wear a different kit. Models: detection is the YOLOv8x football detector, tracks come from BoT-SORT, teams from K-means on shirt colour, and the goalkeeper call and the names from our fine-tuned CLIP identity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Left: a confusion matrix for the shirt-number reader on the official SoccerNet Jersey test, 1,211 tracklets, of which 856 show a readable number and 355 do not. When a number is visible the reader gets it right 73.5% of the time, says "not visible" for 20% and reads a wrong number for 6.5%. When no number is visible it correctly says so 88.5% of the time and invents a number 11.5% of the time. So the dominant failure is silence, not error, which is the safe direction. This run scores 77.9% overall; the main evaluation of the same reader scored 80.3%, so the two runs differ by about two points. Right: the trade-off curve. For our fine-tuned identity model, each point is a confidence bar. If we only accept number readings above 0.5 confidence, 38% of tracklets get a reading and 94% of those are right. Appearance matching, which compares a tracklet with the players already numbered, is right 98% of the time even when forced to answer for every tracklet. That is why the system reads a number when it can, and lets appearance carry the player the rest of the time. Models: the matrix is the ResNet-34 legibility classifier plus the PARSeq reader; the curves are the fine-tuned CLIP ViT-B/16 identity model, its number-reading head and its appearance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This is the T-DEED video action spotter, fine-tuned by us, on two games it never saw, 3,980 labelled actions. Left: for each event type, precision (of what it called, how much was real) and recall (of what really happened, how much it found), at the threshold that gives the best F1 for that type. Right: the same thing as counts. For passes, 1,721 real, 1,509 found, 192 invented and 212 missed. Carries: 1,449 real, 1,247 found. Shots: 44 real, 31 found, 23 invented, 13 missed. Tackles: 28 real, 7 found, 24 invented, 21 missed, average precision just 0.10. Average precision is the threshold-free score: 1.0 is perfect. Fine-tuning on our data lifted mean average precision across all 12 event types from 0.606 to 0.628. Say honestly that the best-F1 threshold per type was picked on these same games, so precision and recall are slightly flattering; average precision is not affected. Because tackles and blocks are weak, the app shows them as expected counts, not totals. Model: T-DEED, a video action spotter, fine-tuned on SoccerNet Ball Action Spotting and FOOTPASS.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tests the event rules alone, on annotated positions from one SoccerTrack match, so no vision errors are mixed in. Each bar is a whole set of real events: dark green found, grey missed, orange invented calls that matched nothing. Passes: of 1,069 real passes, 744 found with the right player within one second; 354 invented. That is 68% precision and 70% recall. Carries are similar. Ball wins, tackles and blocks are mostly wrong because a tackle looks like a touch in position data. The top-left number: correlation 0.89 between our per-player pass counts and the real ones across 56 player-halves, which is why players can be compared on passing even though individual passes are not perfect. Right: shots. Shots are not found by rules: the video spotter finds them. On four unseen halves with 58 labelled shots, the spotter finds 42 and calls 20 that were not real. Rules: the event rules are hand-written, with no learning; shots come from the video spotter.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This is the whole system, video in and credited event out, on three unseen FOOTPASS games with the true events and true players for reference. Pale bar: the event was found. Mid green: it was also credited to a named player. Dark green: credited to the right named player. For passes, 90.0% are found, but only 41.0% are credited to a named player and 34.3% credited to the right one. Why the drop: crediting needs three things to line up at the same moment, the ball, the right track, and a name for that track, and only about half of player time is named. When a credit is made it is mostly right: 83.7% for passes and 89.9% for carries. For rare events the loss starts earlier: only 3.8% of tackles are found at all (1 of 26 in these games). The practical consequence is on the slide: team totals count every found event for the team and so use only the pale bar; player totals use the dark bar, so they are lower and should be read as relative comparisons. Models: this is the whole chain, the YOLOv8x detector, BoT-SORT tracker, CLIP identity model and T-DEED spotter, plus the crediting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Left: a precision-recall curve for the ball detector on SoccerNet test clips that neither detector was trained on, 7,350 frames with the ball visible in 6,766. Each point is a confidence threshold. A better detector sits higher and further to the right. At the threshold of 0.1, the detector finds 47% of visible balls with 72% of its detections real. Right: four limits of the whole system. Across the 22 half-matches analysed so far, a median 60% of broadcast time shows a usable view of the pitch, from 47% to 70%; the ball is located in a median 64% of that, from 47% to 80%. So every per-player figure describes the time the player was on screen. Tackles: end to end on unseen games, one of 26 was found. And speed: processing takes about three quarters of the video length on one RTX 3090. Closing line: team totals count every found event whether or not a player can be named, so they are more reliable than player totals. Model: the curve is the YOLOv8x ball detector. Pitch view comes from the camera-cut detector and the HRNet pitch keypoint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only if asked. This is the list of things we built and then set aside, so the main slides describe only what the system does today. The shot classifier and the hand-written shot rule were replaced by the T-DEED video spotter: on the same four unseen halves the spotter scored F1 0.70 against 0.41 for the classifier. The re-identification head was replaced by the CLIP identity model, 90.1% against 71.6% appearance matching. The fine-tuned ball detector finds more balls on its own, 59% against 47%, but credited fewer passes end to end, 26.2% against 34.2% right, so the default detectors stay. A second, tackle-weighted spotter fine-tune did not help. The short-clip upload, manual calibration and the YOLO11n detector were removed because the models are built and tested on whole halves and matches. The archetype profiler and rating screens were removed because no player was ever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shot classifier (retired) The problem: Decided whether a ball release towards goal was a shot. Retired: the video spotter now makes every shot call. Our answer: Gradient-boosted shot classifier (trained by us). Data it uses: Ball releases near the goal, with 26 features. Trained on: SoccerNet shot labels on 18 analysed halves. How it works: Candidates are releases within 45 m of the goal being attacked. Each gets 26 features: distance, angle, ball flight, defenders, keeper, broadcast editing. Gradient-boosted trees score it. Threshold 0.67 makes shots called equal shots labelled. Training detail: Trained by us from scratch on 18 analysed halves with 324 SoccerNet shot labels (231 matched). Checked leave-one-match-out. Outcome: 34% vs 68% precision: this classifier vs T-DEED, same 4 unseen halves. T-DEED also has higher recall (72% vs 53%) and calls fewer shots (62 vs 92, for 58 labelled). Removing the classifier changed no end-to-end score. More detail. Step 1: Candidates are ball releases within 45 m of the goal a team attacks: the end of a possession spell, or a fast ball towards goal that no touch explains. Step 2: Each candidate gets 26 features: distance and angle to goal, ball flight, defenders in the shooting cone, goalkeeper distance, what happened next, and broadcast editing. Step 3: Gradient-boosted trees (depth 3, learning rate 0.05, 250 iterations) score each candidate. Step 4: The decision threshold, 0.67, is set so that the shots called equal the shots labelled, because shot counts are statistics. Trained on: 18 analysed halves with 324 SoccerNet shot labels, 231 matched to a release. Checked: Leave-one-match-out on 9 games, then 4 unseen halves. Measured: On four unseen halves with 58 shot labels (within 2 s, same labels and matching for both): classifier 31 found from 92 calls (34% precision, 53% recall); T-DEED 42 found from 62 calls (68%, 72%). With each model at its best threshold, F1 is 0.45 against 0.71. The hand-written rule scores 25% / 21% on its own protocol. Role: Retired on 8 October 2026: the video spotter makes every shot call. Strongest features: The view leaving the pitch after the release, and the ball reaching the goal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40280"/>
            <a:ext cx="585216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822960" y="3611880"/>
            <a:ext cx="5760720" cy="1463040"/>
          </a:xfrm>
          <a:prstGeom prst="rect">
            <a:avLst/>
          </a:prstGeom>
          <a:noFill/>
          <a:ln/>
        </p:spPr>
        <p:txBody>
          <a:bodyPr wrap="square" rtlCol="0"/>
          <a:lstStyle>
            <a:lvl1pPr algn="l" indent="0" marL="0">
              <a:buNone/>
              <a:defRPr lang="en-US" sz="2800" dirty="0">
                <a:solidFill>
                  <a:schemeClr val="bg2"/>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43032" cy="10058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822960" y="6309360"/>
            <a:ext cx="5486400" cy="274320"/>
          </a:xfrm>
          <a:prstGeom prst="rect">
            <a:avLst/>
          </a:prstGeom>
          <a:noFill/>
          <a:ln/>
        </p:spPr>
        <p:txBody>
          <a:bodyPr wrap="square" lIns="0" tIns="0" rIns="0" bIns="0" rtlCol="0" anchor="ctr"/>
          <a:lstStyle/>
          <a:p>
            <a:pPr indent="0" marL="0">
              <a:buNone/>
            </a:pPr>
            <a:r>
              <a:rPr lang="en-US" sz="1200" dirty="0">
                <a:solidFill>
                  <a:schemeClr val="tx2"/>
                </a:solidFill>
              </a:rPr>
              <a:t>PitchProfile · AAI3001</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43032" cy="10058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822960" y="6309360"/>
            <a:ext cx="5486400" cy="274320"/>
          </a:xfrm>
          <a:prstGeom prst="rect">
            <a:avLst/>
          </a:prstGeom>
          <a:noFill/>
          <a:ln/>
        </p:spPr>
        <p:txBody>
          <a:bodyPr wrap="square" lIns="0" tIns="0" rIns="0" bIns="0" rtlCol="0" anchor="ctr"/>
          <a:lstStyle/>
          <a:p>
            <a:pPr indent="0" marL="0">
              <a:buNone/>
            </a:pPr>
            <a:r>
              <a:rPr lang="en-US" sz="1200" dirty="0">
                <a:solidFill>
                  <a:schemeClr val="tx2"/>
                </a:solidFill>
              </a:rPr>
              <a:t>PitchProfile · AAI3001</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43032"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822960" y="6309360"/>
            <a:ext cx="5486400" cy="274320"/>
          </a:xfrm>
          <a:prstGeom prst="rect">
            <a:avLst/>
          </a:prstGeom>
          <a:noFill/>
          <a:ln/>
        </p:spPr>
        <p:txBody>
          <a:bodyPr wrap="square" lIns="0" tIns="0" rIns="0" bIns="0" rtlCol="0" anchor="ctr"/>
          <a:lstStyle/>
          <a:p>
            <a:pPr indent="0" marL="0">
              <a:buNone/>
            </a:pPr>
            <a:r>
              <a:rPr lang="en-US" sz="1200" dirty="0">
                <a:solidFill>
                  <a:schemeClr val="bg2"/>
                </a:solidFill>
              </a:rPr>
              <a:t>PitchProfile · AAI3001</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yebrow"/>
          <p:cNvSpPr txBox="1"/>
          <p:nvPr/>
        </p:nvSpPr>
        <p:spPr>
          <a:xfrm>
            <a:off x="822960" y="822960"/>
            <a:ext cx="731520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AAI3001 · COMPUTER VISION AND DEEP LEARNING</a:t>
            </a:r>
            <a:endParaRPr lang="en-US" sz="1400" dirty="0"/>
          </a:p>
        </p:txBody>
      </p:sp>
      <p:sp>
        <p:nvSpPr>
          <p:cNvPr id="4" name="Text 0"/>
          <p:cNvSpPr/>
          <p:nvPr>
            <p:ph idx="100" type="title" hasCustomPrompt="1"/>
          </p:nvPr>
        </p:nvSpPr>
        <p:spPr>
          <a:xfrm>
            <a:off x="822960" y="2240280"/>
            <a:ext cx="5852160" cy="1188720"/>
          </a:xfrm>
          <a:prstGeom prst="rect">
            <a:avLst/>
          </a:prstGeom>
          <a:noFill/>
          <a:ln/>
        </p:spPr>
        <p:txBody>
          <a:bodyPr wrap="square" lIns="0" tIns="0" rIns="0" bIns="0" rtlCol="0" anchor="t"/>
          <a:lstStyle/>
          <a:p>
            <a:pPr algn="l" indent="0" marL="0">
              <a:buNone/>
            </a:pPr>
            <a:r>
              <a:rPr lang="en-US" sz="6600" b="1" dirty="0">
                <a:solidFill>
                  <a:schemeClr val="bg1"/>
                </a:solidFill>
              </a:rPr>
              <a:t>PitchProfile</a:t>
            </a:r>
            <a:endParaRPr lang="en-US" sz="6600" dirty="0"/>
          </a:p>
        </p:txBody>
      </p:sp>
      <p:sp>
        <p:nvSpPr>
          <p:cNvPr id="5" name="Text 0"/>
          <p:cNvSpPr/>
          <p:nvPr>
            <p:ph idx="101" type="body" hasCustomPrompt="1"/>
          </p:nvPr>
        </p:nvSpPr>
        <p:spPr>
          <a:xfrm>
            <a:off x="822960" y="3611880"/>
            <a:ext cx="5760720" cy="1463040"/>
          </a:xfrm>
          <a:prstGeom prst="rect">
            <a:avLst/>
          </a:prstGeom>
          <a:noFill/>
          <a:ln/>
        </p:spPr>
        <p:txBody>
          <a:bodyPr wrap="square" lIns="0" tIns="0" rIns="0" bIns="0" rtlCol="0" anchor="t"/>
          <a:lstStyle/>
          <a:p>
            <a:pPr algn="l" indent="0" marL="0">
              <a:buNone/>
            </a:pPr>
            <a:r>
              <a:rPr lang="en-US" sz="2800" dirty="0">
                <a:solidFill>
                  <a:schemeClr val="bg2"/>
                </a:solidFill>
              </a:rPr>
              <a:t>Turning a football match video into player statistics</a:t>
            </a:r>
            <a:endParaRPr lang="en-US" sz="2800" dirty="0"/>
          </a:p>
        </p:txBody>
      </p:sp>
      <p:sp>
        <p:nvSpPr>
          <p:cNvPr id="6" name="Team placeholder"/>
          <p:cNvSpPr txBox="1"/>
          <p:nvPr/>
        </p:nvSpPr>
        <p:spPr>
          <a:xfrm>
            <a:off x="822960" y="5897880"/>
            <a:ext cx="7315200" cy="365760"/>
          </a:xfrm>
          <a:prstGeom prst="rect">
            <a:avLst/>
          </a:prstGeom>
          <a:noFill/>
          <a:ln/>
        </p:spPr>
        <p:txBody>
          <a:bodyPr wrap="square" lIns="0" tIns="0" rIns="0" bIns="0" rtlCol="0" anchor="t"/>
          <a:lstStyle/>
          <a:p>
            <a:pPr indent="0" marL="0">
              <a:buNone/>
            </a:pPr>
            <a:r>
              <a:rPr lang="en-US" sz="1600" dirty="0">
                <a:solidFill>
                  <a:schemeClr val="bg2"/>
                </a:solidFill>
              </a:rPr>
              <a:t>[Team name · members]</a:t>
            </a:r>
            <a:endParaRPr lang="en-US" sz="1600" dirty="0"/>
          </a:p>
        </p:txBody>
      </p:sp>
      <p:sp>
        <p:nvSpPr>
          <p:cNvPr id="7" name="Pitch outline"/>
          <p:cNvSpPr/>
          <p:nvPr/>
        </p:nvSpPr>
        <p:spPr>
          <a:xfrm>
            <a:off x="6954012" y="2153412"/>
            <a:ext cx="3922776" cy="2502027"/>
          </a:xfrm>
          <a:prstGeom prst="rect">
            <a:avLst/>
          </a:prstGeom>
          <a:ln w="19050">
            <a:solidFill>
              <a:schemeClr val="accent3"/>
            </a:solidFill>
            <a:prstDash val="solid"/>
          </a:ln>
        </p:spPr>
      </p:sp>
      <p:sp>
        <p:nvSpPr>
          <p:cNvPr id="8" name="Halfway line"/>
          <p:cNvSpPr/>
          <p:nvPr/>
        </p:nvSpPr>
        <p:spPr>
          <a:xfrm>
            <a:off x="8915400" y="2153412"/>
            <a:ext cx="0" cy="2502027"/>
          </a:xfrm>
          <a:prstGeom prst="line">
            <a:avLst/>
          </a:prstGeom>
          <a:noFill/>
          <a:ln w="19050">
            <a:solidFill>
              <a:schemeClr val="accent3"/>
            </a:solidFill>
            <a:prstDash val="solid"/>
          </a:ln>
        </p:spPr>
      </p:sp>
      <p:sp>
        <p:nvSpPr>
          <p:cNvPr id="9" name="Centre circle"/>
          <p:cNvSpPr/>
          <p:nvPr/>
        </p:nvSpPr>
        <p:spPr>
          <a:xfrm>
            <a:off x="8563356" y="3052382"/>
            <a:ext cx="704088" cy="704088"/>
          </a:xfrm>
          <a:prstGeom prst="ellipse">
            <a:avLst/>
          </a:prstGeom>
          <a:ln w="19050">
            <a:solidFill>
              <a:schemeClr val="accent3"/>
            </a:solidFill>
            <a:prstDash val="solid"/>
          </a:ln>
        </p:spPr>
      </p:sp>
      <p:sp>
        <p:nvSpPr>
          <p:cNvPr id="10" name="Left penalty area"/>
          <p:cNvSpPr/>
          <p:nvPr/>
        </p:nvSpPr>
        <p:spPr>
          <a:xfrm>
            <a:off x="6954012" y="2650046"/>
            <a:ext cx="616077" cy="1508760"/>
          </a:xfrm>
          <a:prstGeom prst="rect">
            <a:avLst/>
          </a:prstGeom>
          <a:ln w="19050">
            <a:solidFill>
              <a:schemeClr val="accent3"/>
            </a:solidFill>
            <a:prstDash val="solid"/>
          </a:ln>
        </p:spPr>
      </p:sp>
      <p:sp>
        <p:nvSpPr>
          <p:cNvPr id="11" name="Left goal area"/>
          <p:cNvSpPr/>
          <p:nvPr/>
        </p:nvSpPr>
        <p:spPr>
          <a:xfrm>
            <a:off x="6954012" y="3058668"/>
            <a:ext cx="207455" cy="691515"/>
          </a:xfrm>
          <a:prstGeom prst="rect">
            <a:avLst/>
          </a:prstGeom>
          <a:ln w="19050">
            <a:solidFill>
              <a:schemeClr val="accent3"/>
            </a:solidFill>
            <a:prstDash val="solid"/>
          </a:ln>
        </p:spPr>
      </p:sp>
      <p:sp>
        <p:nvSpPr>
          <p:cNvPr id="12" name="Right penalty area"/>
          <p:cNvSpPr/>
          <p:nvPr/>
        </p:nvSpPr>
        <p:spPr>
          <a:xfrm>
            <a:off x="10260711" y="2650046"/>
            <a:ext cx="616077" cy="1508760"/>
          </a:xfrm>
          <a:prstGeom prst="rect">
            <a:avLst/>
          </a:prstGeom>
          <a:ln w="19050">
            <a:solidFill>
              <a:schemeClr val="accent3"/>
            </a:solidFill>
            <a:prstDash val="solid"/>
          </a:ln>
        </p:spPr>
      </p:sp>
      <p:sp>
        <p:nvSpPr>
          <p:cNvPr id="13" name="Right goal area"/>
          <p:cNvSpPr/>
          <p:nvPr/>
        </p:nvSpPr>
        <p:spPr>
          <a:xfrm>
            <a:off x="10669334" y="3058668"/>
            <a:ext cx="207455" cy="691515"/>
          </a:xfrm>
          <a:prstGeom prst="rect">
            <a:avLst/>
          </a:prstGeom>
          <a:ln w="19050">
            <a:solidFill>
              <a:schemeClr val="accent3"/>
            </a:solidFill>
            <a:prstDash val="solid"/>
          </a:ln>
        </p:spPr>
      </p:sp>
      <p:sp>
        <p:nvSpPr>
          <p:cNvPr id="14" name="Red player 1"/>
          <p:cNvSpPr/>
          <p:nvPr/>
        </p:nvSpPr>
        <p:spPr>
          <a:xfrm>
            <a:off x="7777544" y="2788349"/>
            <a:ext cx="138303" cy="138303"/>
          </a:xfrm>
          <a:prstGeom prst="ellipse">
            <a:avLst/>
          </a:prstGeom>
          <a:solidFill>
            <a:schemeClr val="accent4"/>
          </a:solidFill>
          <a:ln w="12700">
            <a:solidFill>
              <a:schemeClr val="bg1"/>
            </a:solidFill>
            <a:prstDash val="solid"/>
          </a:ln>
        </p:spPr>
      </p:sp>
      <p:sp>
        <p:nvSpPr>
          <p:cNvPr id="15" name="Red player 2"/>
          <p:cNvSpPr/>
          <p:nvPr/>
        </p:nvSpPr>
        <p:spPr>
          <a:xfrm>
            <a:off x="8293037" y="3681032"/>
            <a:ext cx="138303" cy="138303"/>
          </a:xfrm>
          <a:prstGeom prst="ellipse">
            <a:avLst/>
          </a:prstGeom>
          <a:solidFill>
            <a:schemeClr val="accent4"/>
          </a:solidFill>
          <a:ln w="12700">
            <a:solidFill>
              <a:schemeClr val="bg1"/>
            </a:solidFill>
            <a:prstDash val="solid"/>
          </a:ln>
        </p:spPr>
      </p:sp>
      <p:sp>
        <p:nvSpPr>
          <p:cNvPr id="16" name="Red player 3"/>
          <p:cNvSpPr/>
          <p:nvPr/>
        </p:nvSpPr>
        <p:spPr>
          <a:xfrm>
            <a:off x="8720519" y="3102674"/>
            <a:ext cx="138303" cy="138303"/>
          </a:xfrm>
          <a:prstGeom prst="ellipse">
            <a:avLst/>
          </a:prstGeom>
          <a:solidFill>
            <a:schemeClr val="accent4"/>
          </a:solidFill>
          <a:ln w="12700">
            <a:solidFill>
              <a:schemeClr val="bg1"/>
            </a:solidFill>
            <a:prstDash val="solid"/>
          </a:ln>
        </p:spPr>
      </p:sp>
      <p:sp>
        <p:nvSpPr>
          <p:cNvPr id="17" name="Red player 4"/>
          <p:cNvSpPr/>
          <p:nvPr/>
        </p:nvSpPr>
        <p:spPr>
          <a:xfrm>
            <a:off x="9273731" y="3919919"/>
            <a:ext cx="138303" cy="138303"/>
          </a:xfrm>
          <a:prstGeom prst="ellipse">
            <a:avLst/>
          </a:prstGeom>
          <a:solidFill>
            <a:schemeClr val="accent4"/>
          </a:solidFill>
          <a:ln w="12700">
            <a:solidFill>
              <a:schemeClr val="bg1"/>
            </a:solidFill>
            <a:prstDash val="solid"/>
          </a:ln>
        </p:spPr>
      </p:sp>
      <p:sp>
        <p:nvSpPr>
          <p:cNvPr id="18" name="Red player 5"/>
          <p:cNvSpPr/>
          <p:nvPr/>
        </p:nvSpPr>
        <p:spPr>
          <a:xfrm>
            <a:off x="9676067" y="3266123"/>
            <a:ext cx="138303" cy="138303"/>
          </a:xfrm>
          <a:prstGeom prst="ellipse">
            <a:avLst/>
          </a:prstGeom>
          <a:solidFill>
            <a:schemeClr val="accent4"/>
          </a:solidFill>
          <a:ln w="12700">
            <a:solidFill>
              <a:schemeClr val="bg1"/>
            </a:solidFill>
            <a:prstDash val="solid"/>
          </a:ln>
        </p:spPr>
      </p:sp>
      <p:sp>
        <p:nvSpPr>
          <p:cNvPr id="19" name="Blue player 1"/>
          <p:cNvSpPr/>
          <p:nvPr/>
        </p:nvSpPr>
        <p:spPr>
          <a:xfrm>
            <a:off x="8029004" y="3316415"/>
            <a:ext cx="138303" cy="138303"/>
          </a:xfrm>
          <a:prstGeom prst="ellipse">
            <a:avLst/>
          </a:prstGeom>
          <a:solidFill>
            <a:schemeClr val="accent5"/>
          </a:solidFill>
          <a:ln w="12700">
            <a:solidFill>
              <a:schemeClr val="bg1"/>
            </a:solidFill>
            <a:prstDash val="solid"/>
          </a:ln>
        </p:spPr>
      </p:sp>
      <p:sp>
        <p:nvSpPr>
          <p:cNvPr id="20" name="Blue player 2"/>
          <p:cNvSpPr/>
          <p:nvPr/>
        </p:nvSpPr>
        <p:spPr>
          <a:xfrm>
            <a:off x="8519351" y="2574608"/>
            <a:ext cx="138303" cy="138303"/>
          </a:xfrm>
          <a:prstGeom prst="ellipse">
            <a:avLst/>
          </a:prstGeom>
          <a:solidFill>
            <a:schemeClr val="accent5"/>
          </a:solidFill>
          <a:ln w="12700">
            <a:solidFill>
              <a:schemeClr val="bg1"/>
            </a:solidFill>
            <a:prstDash val="solid"/>
          </a:ln>
        </p:spPr>
      </p:sp>
      <p:sp>
        <p:nvSpPr>
          <p:cNvPr id="21" name="Blue player 3"/>
          <p:cNvSpPr/>
          <p:nvPr/>
        </p:nvSpPr>
        <p:spPr>
          <a:xfrm>
            <a:off x="9047417" y="3517583"/>
            <a:ext cx="138303" cy="138303"/>
          </a:xfrm>
          <a:prstGeom prst="ellipse">
            <a:avLst/>
          </a:prstGeom>
          <a:solidFill>
            <a:schemeClr val="accent5"/>
          </a:solidFill>
          <a:ln w="12700">
            <a:solidFill>
              <a:schemeClr val="bg1"/>
            </a:solidFill>
            <a:prstDash val="solid"/>
          </a:ln>
        </p:spPr>
      </p:sp>
      <p:sp>
        <p:nvSpPr>
          <p:cNvPr id="22" name="Blue player 4"/>
          <p:cNvSpPr/>
          <p:nvPr/>
        </p:nvSpPr>
        <p:spPr>
          <a:xfrm>
            <a:off x="9474899" y="2763202"/>
            <a:ext cx="138303" cy="138303"/>
          </a:xfrm>
          <a:prstGeom prst="ellipse">
            <a:avLst/>
          </a:prstGeom>
          <a:solidFill>
            <a:schemeClr val="accent5"/>
          </a:solidFill>
          <a:ln w="12700">
            <a:solidFill>
              <a:schemeClr val="bg1"/>
            </a:solidFill>
            <a:prstDash val="solid"/>
          </a:ln>
        </p:spPr>
      </p:sp>
      <p:sp>
        <p:nvSpPr>
          <p:cNvPr id="23" name="Blue player 5"/>
          <p:cNvSpPr/>
          <p:nvPr/>
        </p:nvSpPr>
        <p:spPr>
          <a:xfrm>
            <a:off x="9977819" y="3731323"/>
            <a:ext cx="138303" cy="138303"/>
          </a:xfrm>
          <a:prstGeom prst="ellipse">
            <a:avLst/>
          </a:prstGeom>
          <a:solidFill>
            <a:schemeClr val="accent5"/>
          </a:solidFill>
          <a:ln w="12700">
            <a:solidFill>
              <a:schemeClr val="bg1"/>
            </a:solidFill>
            <a:prstDash val="solid"/>
          </a:ln>
        </p:spPr>
      </p:sp>
      <p:sp>
        <p:nvSpPr>
          <p:cNvPr id="24" name="Tracking box 1"/>
          <p:cNvSpPr/>
          <p:nvPr/>
        </p:nvSpPr>
        <p:spPr>
          <a:xfrm>
            <a:off x="8990838" y="3435858"/>
            <a:ext cx="264033" cy="301752"/>
          </a:xfrm>
          <a:prstGeom prst="rect">
            <a:avLst/>
          </a:prstGeom>
          <a:ln w="25400">
            <a:solidFill>
              <a:schemeClr val="accent6"/>
            </a:solidFill>
            <a:prstDash val="solid"/>
          </a:ln>
        </p:spPr>
      </p:sp>
      <p:sp>
        <p:nvSpPr>
          <p:cNvPr id="25" name="Tracking box 2"/>
          <p:cNvSpPr/>
          <p:nvPr/>
        </p:nvSpPr>
        <p:spPr>
          <a:xfrm>
            <a:off x="8651367" y="3046095"/>
            <a:ext cx="264033" cy="301752"/>
          </a:xfrm>
          <a:prstGeom prst="rect">
            <a:avLst/>
          </a:prstGeom>
          <a:ln w="25400">
            <a:solidFill>
              <a:schemeClr val="accent6"/>
            </a:solidFill>
            <a:prstDash val="solid"/>
          </a:ln>
        </p:spPr>
      </p:sp>
      <p:sp>
        <p:nvSpPr>
          <p:cNvPr id="26" name="Ball"/>
          <p:cNvSpPr/>
          <p:nvPr/>
        </p:nvSpPr>
        <p:spPr>
          <a:xfrm>
            <a:off x="9154287" y="3775329"/>
            <a:ext cx="100584" cy="100584"/>
          </a:xfrm>
          <a:prstGeom prst="ellipse">
            <a:avLst/>
          </a:prstGeom>
          <a:solidFill>
            <a:schemeClr val="bg1"/>
          </a:solidFill>
          <a:ln w="25400">
            <a:solidFill>
              <a:schemeClr val="accent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 · OPEN PROBLEM · WHY IT MATTERS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Player data without the cost of collecting it</a:t>
            </a:r>
            <a:endParaRPr lang="en-US" sz="3600" dirty="0"/>
          </a:p>
        </p:txBody>
      </p:sp>
      <p:sp>
        <p:nvSpPr>
          <p:cNvPr id="5" name="Card 1"/>
          <p:cNvSpPr/>
          <p:nvPr/>
        </p:nvSpPr>
        <p:spPr>
          <a:xfrm>
            <a:off x="822960" y="1828800"/>
            <a:ext cx="3591735" cy="3749040"/>
          </a:xfrm>
          <a:prstGeom prst="roundRect">
            <a:avLst>
              <a:gd name="adj" fmla="val 3055"/>
            </a:avLst>
          </a:prstGeom>
          <a:solidFill>
            <a:schemeClr val="bg1"/>
          </a:solidFill>
          <a:ln/>
        </p:spPr>
      </p:sp>
      <p:sp>
        <p:nvSpPr>
          <p:cNvPr id="6" name="Card title 1"/>
          <p:cNvSpPr txBox="1"/>
          <p:nvPr/>
        </p:nvSpPr>
        <p:spPr>
          <a:xfrm>
            <a:off x="1097280" y="2011680"/>
            <a:ext cx="3043095" cy="457200"/>
          </a:xfrm>
          <a:prstGeom prst="rect">
            <a:avLst/>
          </a:prstGeom>
          <a:noFill/>
          <a:ln/>
        </p:spPr>
        <p:txBody>
          <a:bodyPr wrap="square" lIns="0" tIns="0" rIns="0" bIns="0" rtlCol="0" anchor="t"/>
          <a:lstStyle/>
          <a:p>
            <a:pPr indent="0" marL="0">
              <a:buNone/>
            </a:pPr>
            <a:r>
              <a:rPr lang="en-US" sz="2200" b="1" dirty="0">
                <a:solidFill>
                  <a:schemeClr val="accent1"/>
                </a:solidFill>
              </a:rPr>
              <a:t>Football and data</a:t>
            </a:r>
            <a:endParaRPr lang="en-US" sz="2200" dirty="0"/>
          </a:p>
        </p:txBody>
      </p:sp>
      <p:sp>
        <p:nvSpPr>
          <p:cNvPr id="7" name="Card 1 item 1"/>
          <p:cNvSpPr txBox="1"/>
          <p:nvPr/>
        </p:nvSpPr>
        <p:spPr>
          <a:xfrm>
            <a:off x="1097280" y="2606040"/>
            <a:ext cx="3043095" cy="896112"/>
          </a:xfrm>
          <a:prstGeom prst="rect">
            <a:avLst/>
          </a:prstGeom>
          <a:noFill/>
          <a:ln/>
        </p:spPr>
        <p:txBody>
          <a:bodyPr wrap="square" lIns="0" tIns="0" rIns="0" bIns="0" rtlCol="0" anchor="t"/>
          <a:lstStyle/>
          <a:p>
            <a:pPr indent="0" marL="0">
              <a:buNone/>
            </a:pPr>
            <a:r>
              <a:rPr lang="en-US" sz="1500" b="1" dirty="0">
                <a:solidFill>
                  <a:schemeClr val="tx1"/>
                </a:solidFill>
              </a:rPr>
              <a:t>Why football: </a:t>
            </a:r>
            <a:pPr indent="0" marL="0">
              <a:buNone/>
            </a:pPr>
            <a:r>
              <a:rPr lang="en-US" sz="1500" dirty="0">
                <a:solidFill>
                  <a:schemeClr val="tx2"/>
                </a:solidFill>
              </a:rPr>
              <a:t>it reaches billions. About 5 billion people engaged with the 2022 World Cup.</a:t>
            </a:r>
            <a:endParaRPr lang="en-US" sz="1500" dirty="0"/>
          </a:p>
        </p:txBody>
      </p:sp>
      <p:sp>
        <p:nvSpPr>
          <p:cNvPr id="8" name="Card 1 item 2"/>
          <p:cNvSpPr txBox="1"/>
          <p:nvPr/>
        </p:nvSpPr>
        <p:spPr>
          <a:xfrm>
            <a:off x="1097280" y="3566160"/>
            <a:ext cx="3043095" cy="896112"/>
          </a:xfrm>
          <a:prstGeom prst="rect">
            <a:avLst/>
          </a:prstGeom>
          <a:noFill/>
          <a:ln/>
        </p:spPr>
        <p:txBody>
          <a:bodyPr wrap="square" lIns="0" tIns="0" rIns="0" bIns="0" rtlCol="0" anchor="t"/>
          <a:lstStyle/>
          <a:p>
            <a:pPr indent="0" marL="0">
              <a:buNone/>
            </a:pPr>
            <a:r>
              <a:rPr lang="en-US" sz="1500" b="1" dirty="0">
                <a:solidFill>
                  <a:schemeClr val="tx1"/>
                </a:solidFill>
              </a:rPr>
              <a:t>How statistics help: </a:t>
            </a:r>
            <a:pPr indent="0" marL="0">
              <a:buNone/>
            </a:pPr>
            <a:r>
              <a:rPr lang="en-US" sz="1500" dirty="0">
                <a:solidFill>
                  <a:schemeClr val="tx2"/>
                </a:solidFill>
              </a:rPr>
              <a:t>clubs use them to find players, plan matches and manage workload.</a:t>
            </a:r>
            <a:endParaRPr lang="en-US" sz="1500" dirty="0"/>
          </a:p>
        </p:txBody>
      </p:sp>
      <p:sp>
        <p:nvSpPr>
          <p:cNvPr id="9" name="Card 1 item 3"/>
          <p:cNvSpPr txBox="1"/>
          <p:nvPr/>
        </p:nvSpPr>
        <p:spPr>
          <a:xfrm>
            <a:off x="1097280" y="4526280"/>
            <a:ext cx="3043095" cy="896112"/>
          </a:xfrm>
          <a:prstGeom prst="rect">
            <a:avLst/>
          </a:prstGeom>
          <a:noFill/>
          <a:ln/>
        </p:spPr>
        <p:txBody>
          <a:bodyPr wrap="square" lIns="0" tIns="0" rIns="0" bIns="0" rtlCol="0" anchor="t"/>
          <a:lstStyle/>
          <a:p>
            <a:pPr indent="0" marL="0">
              <a:buNone/>
            </a:pPr>
            <a:r>
              <a:rPr lang="en-US" sz="1500" b="1" dirty="0">
                <a:solidFill>
                  <a:schemeClr val="tx1"/>
                </a:solidFill>
              </a:rPr>
              <a:t>In practice: </a:t>
            </a:r>
            <a:pPr indent="0" marL="0">
              <a:buNone/>
            </a:pPr>
            <a:r>
              <a:rPr lang="en-US" sz="1500" dirty="0">
                <a:solidFill>
                  <a:schemeClr val="tx2"/>
                </a:solidFill>
              </a:rPr>
              <a:t>Brentford pairs data with scouting to find undervalued players.</a:t>
            </a:r>
            <a:endParaRPr lang="en-US" sz="1500" dirty="0"/>
          </a:p>
        </p:txBody>
      </p:sp>
      <p:sp>
        <p:nvSpPr>
          <p:cNvPr id="10" name="Card 2"/>
          <p:cNvSpPr/>
          <p:nvPr/>
        </p:nvSpPr>
        <p:spPr>
          <a:xfrm>
            <a:off x="4689015" y="1828800"/>
            <a:ext cx="3591735" cy="3749040"/>
          </a:xfrm>
          <a:prstGeom prst="roundRect">
            <a:avLst>
              <a:gd name="adj" fmla="val 3055"/>
            </a:avLst>
          </a:prstGeom>
          <a:solidFill>
            <a:schemeClr val="bg1"/>
          </a:solidFill>
          <a:ln/>
        </p:spPr>
      </p:sp>
      <p:sp>
        <p:nvSpPr>
          <p:cNvPr id="11" name="Card title 2"/>
          <p:cNvSpPr txBox="1"/>
          <p:nvPr/>
        </p:nvSpPr>
        <p:spPr>
          <a:xfrm>
            <a:off x="4963335" y="2011680"/>
            <a:ext cx="3043095" cy="457200"/>
          </a:xfrm>
          <a:prstGeom prst="rect">
            <a:avLst/>
          </a:prstGeom>
          <a:noFill/>
          <a:ln/>
        </p:spPr>
        <p:txBody>
          <a:bodyPr wrap="square" lIns="0" tIns="0" rIns="0" bIns="0" rtlCol="0" anchor="t"/>
          <a:lstStyle/>
          <a:p>
            <a:pPr indent="0" marL="0">
              <a:buNone/>
            </a:pPr>
            <a:r>
              <a:rPr lang="en-US" sz="2200" b="1" dirty="0">
                <a:solidFill>
                  <a:schemeClr val="accent1"/>
                </a:solidFill>
              </a:rPr>
              <a:t>How it improves</a:t>
            </a:r>
            <a:endParaRPr lang="en-US" sz="2200" dirty="0"/>
          </a:p>
        </p:txBody>
      </p:sp>
      <p:sp>
        <p:nvSpPr>
          <p:cNvPr id="12" name="Card 2 item 1"/>
          <p:cNvSpPr txBox="1"/>
          <p:nvPr/>
        </p:nvSpPr>
        <p:spPr>
          <a:xfrm>
            <a:off x="4963335" y="2606040"/>
            <a:ext cx="3043095" cy="896112"/>
          </a:xfrm>
          <a:prstGeom prst="rect">
            <a:avLst/>
          </a:prstGeom>
          <a:noFill/>
          <a:ln/>
        </p:spPr>
        <p:txBody>
          <a:bodyPr wrap="square" lIns="0" tIns="0" rIns="0" bIns="0" rtlCol="0" anchor="t"/>
          <a:lstStyle/>
          <a:p>
            <a:pPr indent="0" marL="0">
              <a:buNone/>
            </a:pPr>
            <a:r>
              <a:rPr lang="en-US" sz="1500" b="1" dirty="0">
                <a:solidFill>
                  <a:schemeClr val="tx1"/>
                </a:solidFill>
              </a:rPr>
              <a:t>Today: </a:t>
            </a:r>
            <a:pPr indent="0" marL="0">
              <a:buNone/>
            </a:pPr>
            <a:r>
              <a:rPr lang="en-US" sz="1500" dirty="0">
                <a:solidFill>
                  <a:schemeClr val="tx2"/>
                </a:solidFill>
              </a:rPr>
              <a:t>trained operators tag events by hand. Accurate, but it takes people.</a:t>
            </a:r>
            <a:endParaRPr lang="en-US" sz="1500" dirty="0"/>
          </a:p>
          <a:p>
            <a:pPr indent="0" marL="0">
              <a:buNone/>
            </a:pPr>
            <a:r>
              <a:rPr lang="en-US" sz="1500" b="1" dirty="0">
                <a:solidFill>
                  <a:schemeClr val="tx1"/>
                </a:solidFill>
              </a:rPr>
              <a:t>Now: </a:t>
            </a:r>
            <a:pPr indent="0" marL="0">
              <a:buNone/>
            </a:pPr>
            <a:r>
              <a:rPr lang="en-US" sz="1500" dirty="0">
                <a:solidFill>
                  <a:schemeClr val="tx2"/>
                </a:solidFill>
              </a:rPr>
              <a:t>found from the video.</a:t>
            </a:r>
            <a:endParaRPr lang="en-US" sz="1500" dirty="0"/>
          </a:p>
        </p:txBody>
      </p:sp>
      <p:sp>
        <p:nvSpPr>
          <p:cNvPr id="13" name="Card 2 item 2"/>
          <p:cNvSpPr txBox="1"/>
          <p:nvPr/>
        </p:nvSpPr>
        <p:spPr>
          <a:xfrm>
            <a:off x="4963335" y="3566160"/>
            <a:ext cx="3043095" cy="896112"/>
          </a:xfrm>
          <a:prstGeom prst="rect">
            <a:avLst/>
          </a:prstGeom>
          <a:noFill/>
          <a:ln/>
        </p:spPr>
        <p:txBody>
          <a:bodyPr wrap="square" lIns="0" tIns="0" rIns="0" bIns="0" rtlCol="0" anchor="t"/>
          <a:lstStyle/>
          <a:p>
            <a:pPr indent="0" marL="0">
              <a:buNone/>
            </a:pPr>
            <a:r>
              <a:rPr lang="en-US" sz="1500" b="1" dirty="0">
                <a:solidFill>
                  <a:schemeClr val="tx1"/>
                </a:solidFill>
              </a:rPr>
              <a:t>Today: </a:t>
            </a:r>
            <a:pPr indent="0" marL="0">
              <a:buNone/>
            </a:pPr>
            <a:r>
              <a:rPr lang="en-US" sz="1500" dirty="0">
                <a:solidFill>
                  <a:schemeClr val="tx2"/>
                </a:solidFill>
              </a:rPr>
              <a:t>about 30 cameras per stadium, or GPS vests for one team.</a:t>
            </a:r>
            <a:endParaRPr lang="en-US" sz="1500" dirty="0"/>
          </a:p>
          <a:p>
            <a:pPr indent="0" marL="0">
              <a:buNone/>
            </a:pPr>
            <a:r>
              <a:rPr lang="en-US" sz="1500" b="1" dirty="0">
                <a:solidFill>
                  <a:schemeClr val="tx1"/>
                </a:solidFill>
              </a:rPr>
              <a:t>Now: </a:t>
            </a:r>
            <a:pPr indent="0" marL="0">
              <a:buNone/>
            </a:pPr>
            <a:r>
              <a:rPr lang="en-US" sz="1500" dirty="0">
                <a:solidFill>
                  <a:schemeClr val="tx2"/>
                </a:solidFill>
              </a:rPr>
              <a:t>one video, both teams.</a:t>
            </a:r>
            <a:endParaRPr lang="en-US" sz="1500" dirty="0"/>
          </a:p>
        </p:txBody>
      </p:sp>
      <p:sp>
        <p:nvSpPr>
          <p:cNvPr id="14" name="Card 2 item 3"/>
          <p:cNvSpPr txBox="1"/>
          <p:nvPr/>
        </p:nvSpPr>
        <p:spPr>
          <a:xfrm>
            <a:off x="4963335" y="4526280"/>
            <a:ext cx="3043095" cy="896112"/>
          </a:xfrm>
          <a:prstGeom prst="rect">
            <a:avLst/>
          </a:prstGeom>
          <a:noFill/>
          <a:ln/>
        </p:spPr>
        <p:txBody>
          <a:bodyPr wrap="square" lIns="0" tIns="0" rIns="0" bIns="0" rtlCol="0" anchor="t"/>
          <a:lstStyle/>
          <a:p>
            <a:pPr indent="0" marL="0">
              <a:buNone/>
            </a:pPr>
            <a:r>
              <a:rPr lang="en-US" sz="1500" b="1" dirty="0">
                <a:solidFill>
                  <a:schemeClr val="tx1"/>
                </a:solidFill>
              </a:rPr>
              <a:t>Today: </a:t>
            </a:r>
            <a:pPr indent="0" marL="0">
              <a:buNone/>
            </a:pPr>
            <a:r>
              <a:rPr lang="en-US" sz="1500" dirty="0">
                <a:solidFill>
                  <a:schemeClr val="tx2"/>
                </a:solidFill>
              </a:rPr>
              <a:t>youth and women’s matches are mostly not covered.</a:t>
            </a:r>
            <a:endParaRPr lang="en-US" sz="1500" dirty="0"/>
          </a:p>
          <a:p>
            <a:pPr indent="0" marL="0">
              <a:buNone/>
            </a:pPr>
            <a:r>
              <a:rPr lang="en-US" sz="1500" b="1" dirty="0">
                <a:solidFill>
                  <a:schemeClr val="tx1"/>
                </a:solidFill>
              </a:rPr>
              <a:t>Now: </a:t>
            </a:r>
            <a:pPr indent="0" marL="0">
              <a:buNone/>
            </a:pPr>
            <a:r>
              <a:rPr lang="en-US" sz="1500" dirty="0">
                <a:solidFill>
                  <a:schemeClr val="tx2"/>
                </a:solidFill>
              </a:rPr>
              <a:t>any match on video.</a:t>
            </a:r>
            <a:endParaRPr lang="en-US" sz="1500" dirty="0"/>
          </a:p>
        </p:txBody>
      </p:sp>
      <p:sp>
        <p:nvSpPr>
          <p:cNvPr id="15" name="Card 3"/>
          <p:cNvSpPr/>
          <p:nvPr/>
        </p:nvSpPr>
        <p:spPr>
          <a:xfrm>
            <a:off x="8555069" y="1828800"/>
            <a:ext cx="2810923" cy="3749040"/>
          </a:xfrm>
          <a:prstGeom prst="roundRect">
            <a:avLst>
              <a:gd name="adj" fmla="val 3904"/>
            </a:avLst>
          </a:prstGeom>
          <a:solidFill>
            <a:schemeClr val="bg1"/>
          </a:solidFill>
          <a:ln/>
        </p:spPr>
      </p:sp>
      <p:sp>
        <p:nvSpPr>
          <p:cNvPr id="16" name="Card title 3"/>
          <p:cNvSpPr txBox="1"/>
          <p:nvPr/>
        </p:nvSpPr>
        <p:spPr>
          <a:xfrm>
            <a:off x="8829389" y="2011680"/>
            <a:ext cx="2262283" cy="457200"/>
          </a:xfrm>
          <a:prstGeom prst="rect">
            <a:avLst/>
          </a:prstGeom>
          <a:noFill/>
          <a:ln/>
        </p:spPr>
        <p:txBody>
          <a:bodyPr wrap="square" lIns="0" tIns="0" rIns="0" bIns="0" rtlCol="0" anchor="t"/>
          <a:lstStyle/>
          <a:p>
            <a:pPr indent="0" marL="0">
              <a:buNone/>
            </a:pPr>
            <a:r>
              <a:rPr lang="en-US" sz="2200" b="1" dirty="0">
                <a:solidFill>
                  <a:schemeClr val="accent1"/>
                </a:solidFill>
              </a:rPr>
              <a:t>How it can be used</a:t>
            </a:r>
            <a:endParaRPr lang="en-US" sz="2200" dirty="0"/>
          </a:p>
        </p:txBody>
      </p:sp>
      <p:sp>
        <p:nvSpPr>
          <p:cNvPr id="17" name="Card 3 item 1"/>
          <p:cNvSpPr txBox="1"/>
          <p:nvPr/>
        </p:nvSpPr>
        <p:spPr>
          <a:xfrm>
            <a:off x="8829389" y="2606040"/>
            <a:ext cx="2262283" cy="896112"/>
          </a:xfrm>
          <a:prstGeom prst="rect">
            <a:avLst/>
          </a:prstGeom>
          <a:noFill/>
          <a:ln/>
        </p:spPr>
        <p:txBody>
          <a:bodyPr wrap="square" lIns="0" tIns="0" rIns="0" bIns="0" rtlCol="0" anchor="t"/>
          <a:lstStyle/>
          <a:p>
            <a:pPr indent="0" marL="0">
              <a:buNone/>
            </a:pPr>
            <a:r>
              <a:rPr lang="en-US" sz="1600" b="1" dirty="0">
                <a:solidFill>
                  <a:schemeClr val="tx1"/>
                </a:solidFill>
              </a:rPr>
              <a:t>Scouting: </a:t>
            </a:r>
            <a:pPr indent="0" marL="0">
              <a:buNone/>
            </a:pPr>
            <a:r>
              <a:rPr lang="en-US" sz="1600" dirty="0">
                <a:solidFill>
                  <a:schemeClr val="tx2"/>
                </a:solidFill>
              </a:rPr>
              <a:t>compare players from match video.</a:t>
            </a:r>
            <a:endParaRPr lang="en-US" sz="1600" dirty="0"/>
          </a:p>
        </p:txBody>
      </p:sp>
      <p:sp>
        <p:nvSpPr>
          <p:cNvPr id="18" name="Card 3 item 2"/>
          <p:cNvSpPr txBox="1"/>
          <p:nvPr/>
        </p:nvSpPr>
        <p:spPr>
          <a:xfrm>
            <a:off x="8829389" y="3566160"/>
            <a:ext cx="2262283" cy="896112"/>
          </a:xfrm>
          <a:prstGeom prst="rect">
            <a:avLst/>
          </a:prstGeom>
          <a:noFill/>
          <a:ln/>
        </p:spPr>
        <p:txBody>
          <a:bodyPr wrap="square" lIns="0" tIns="0" rIns="0" bIns="0" rtlCol="0" anchor="t"/>
          <a:lstStyle/>
          <a:p>
            <a:pPr indent="0" marL="0">
              <a:buNone/>
            </a:pPr>
            <a:r>
              <a:rPr lang="en-US" sz="1600" b="1" dirty="0">
                <a:solidFill>
                  <a:schemeClr val="tx1"/>
                </a:solidFill>
              </a:rPr>
              <a:t>Match review: </a:t>
            </a:r>
            <a:pPr indent="0" marL="0">
              <a:buNone/>
            </a:pPr>
            <a:r>
              <a:rPr lang="en-US" sz="1600" dirty="0">
                <a:solidFill>
                  <a:schemeClr val="tx2"/>
                </a:solidFill>
              </a:rPr>
              <a:t>team shape, passing and pressing.</a:t>
            </a:r>
            <a:endParaRPr lang="en-US" sz="1600" dirty="0"/>
          </a:p>
        </p:txBody>
      </p:sp>
      <p:sp>
        <p:nvSpPr>
          <p:cNvPr id="19" name="Card 3 item 3"/>
          <p:cNvSpPr txBox="1"/>
          <p:nvPr/>
        </p:nvSpPr>
        <p:spPr>
          <a:xfrm>
            <a:off x="8829389" y="4526280"/>
            <a:ext cx="2262283" cy="896112"/>
          </a:xfrm>
          <a:prstGeom prst="rect">
            <a:avLst/>
          </a:prstGeom>
          <a:noFill/>
          <a:ln/>
        </p:spPr>
        <p:txBody>
          <a:bodyPr wrap="square" lIns="0" tIns="0" rIns="0" bIns="0" rtlCol="0" anchor="t"/>
          <a:lstStyle/>
          <a:p>
            <a:pPr indent="0" marL="0">
              <a:buNone/>
            </a:pPr>
            <a:r>
              <a:rPr lang="en-US" sz="1600" b="1" dirty="0">
                <a:solidFill>
                  <a:schemeClr val="tx1"/>
                </a:solidFill>
              </a:rPr>
              <a:t>Clubs without a data feed: </a:t>
            </a:r>
            <a:pPr indent="0" marL="0">
              <a:buNone/>
            </a:pPr>
            <a:r>
              <a:rPr lang="en-US" sz="1600" dirty="0">
                <a:solidFill>
                  <a:schemeClr val="tx2"/>
                </a:solidFill>
              </a:rPr>
              <a:t>academies, women’s and lower leagues.</a:t>
            </a:r>
            <a:endParaRPr lang="en-US" sz="1600" dirty="0"/>
          </a:p>
        </p:txBody>
      </p:sp>
      <p:sp>
        <p:nvSpPr>
          <p:cNvPr id="20" name="Footnote"/>
          <p:cNvSpPr txBox="1"/>
          <p:nvPr/>
        </p:nvSpPr>
        <p:spPr>
          <a:xfrm>
            <a:off x="822960" y="5669280"/>
            <a:ext cx="10543032" cy="548640"/>
          </a:xfrm>
          <a:prstGeom prst="rect">
            <a:avLst/>
          </a:prstGeom>
          <a:noFill/>
          <a:ln/>
        </p:spPr>
        <p:txBody>
          <a:bodyPr wrap="square" lIns="0" tIns="0" rIns="0" bIns="0" rtlCol="0" anchor="t"/>
          <a:lstStyle/>
          <a:p>
            <a:pPr indent="0" marL="0">
              <a:buNone/>
            </a:pPr>
            <a:r>
              <a:rPr lang="en-US" sz="1400" dirty="0">
                <a:solidFill>
                  <a:schemeClr val="tx2"/>
                </a:solidFill>
              </a:rPr>
              <a:t>Not new: broadcast-video tracking is already sold (e.g. SkillCorner), and one 2026 study found it close to stadium cameras for most events. This is an open research prototype, and for now a complement.</a:t>
            </a:r>
            <a:endParaRPr lang="en-US" sz="1400" dirty="0"/>
          </a:p>
        </p:txBody>
      </p:sp>
      <p:sp>
        <p:nvSpPr>
          <p:cNvPr id="21" name="Sources"/>
          <p:cNvSpPr txBox="1"/>
          <p:nvPr/>
        </p:nvSpPr>
        <p:spPr>
          <a:xfrm>
            <a:off x="2743200" y="6327648"/>
            <a:ext cx="7955280" cy="274320"/>
          </a:xfrm>
          <a:prstGeom prst="rect">
            <a:avLst/>
          </a:prstGeom>
          <a:noFill/>
          <a:ln/>
        </p:spPr>
        <p:txBody>
          <a:bodyPr wrap="square" lIns="0" tIns="0" rIns="0" bIns="0" rtlCol="0" anchor="t"/>
          <a:lstStyle/>
          <a:p>
            <a:pPr algn="r" indent="0" marL="0">
              <a:buNone/>
            </a:pPr>
            <a:r>
              <a:rPr lang="en-US" sz="1100" dirty="0">
                <a:solidFill>
                  <a:schemeClr val="tx2"/>
                </a:solidFill>
              </a:rPr>
              <a:t>Sources: FIFA, Frost 2025, Rein 2016, Ravé 2020, ESPN, Liu 2013, Pappalardo 2019, Mills 2026 (full list in notes)</a:t>
            </a:r>
            <a:endParaRPr lang="en-US" sz="11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 · OPEN PROBLEM · DATASETS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The open problem is the data</a:t>
            </a:r>
            <a:endParaRPr lang="en-US" sz="3600" dirty="0"/>
          </a:p>
        </p:txBody>
      </p:sp>
      <p:graphicFrame>
        <p:nvGraphicFramePr>
          <p:cNvPr id="4" name="Dataset table"/>
          <p:cNvGraphicFramePr>
            <a:graphicFrameLocks noGrp="1"/>
          </p:cNvGraphicFramePr>
          <p:nvPr>
            <p:extLst>
              <p:ext uri="{D42A27DB-BD31-4B8C-83A1-F6EECF244321}">
                <p14:modId xmlns:p14="http://schemas.microsoft.com/office/powerpoint/2010/main" val="1579011935"/>
              </p:ext>
            </p:extLst>
          </p:nvPr>
        </p:nvGraphicFramePr>
        <p:xfrm>
          <a:off x="822960" y="1691640"/>
          <a:ext cx="10543032" cy="914400"/>
        </p:xfrm>
        <a:graphic>
          <a:graphicData uri="http://schemas.openxmlformats.org/drawingml/2006/table">
            <a:tbl>
              <a:tblPr/>
              <a:tblGrid>
                <a:gridCol w="3162910"/>
                <a:gridCol w="4217213"/>
                <a:gridCol w="3162910"/>
              </a:tblGrid>
              <a:tr h="365760">
                <a:tc>
                  <a:txBody>
                    <a:bodyPr/>
                    <a:lstStyle/>
                    <a:p>
                      <a:pPr algn="l" indent="0" marL="0">
                        <a:buNone/>
                      </a:pPr>
                      <a:r>
                        <a:rPr lang="en-US" sz="1000" b="1" dirty="0">
                          <a:solidFill>
                            <a:srgbClr val="0A7A5C"/>
                          </a:solidFill>
                          <a:latin typeface="Calibri" pitchFamily="34" charset="0"/>
                          <a:ea typeface="Calibri" pitchFamily="34" charset="-122"/>
                          <a:cs typeface="Calibri" pitchFamily="34" charset="-120"/>
                        </a:rPr>
                        <a:t>PUBLIC DATASET</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000" b="1" dirty="0">
                          <a:solidFill>
                            <a:srgbClr val="0A7A5C"/>
                          </a:solidFill>
                          <a:latin typeface="Calibri" pitchFamily="34" charset="0"/>
                          <a:ea typeface="Calibri" pitchFamily="34" charset="-122"/>
                          <a:cs typeface="Calibri" pitchFamily="34" charset="-120"/>
                        </a:rPr>
                        <a:t>WHAT IT GIVES</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000" b="1" dirty="0">
                          <a:solidFill>
                            <a:srgbClr val="0A7A5C"/>
                          </a:solidFill>
                          <a:latin typeface="Calibri" pitchFamily="34" charset="0"/>
                          <a:ea typeface="Calibri" pitchFamily="34" charset="-122"/>
                          <a:cs typeface="Calibri" pitchFamily="34" charset="-120"/>
                        </a:rPr>
                        <a:t>WHAT WE USED IT FOR</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768096">
                <a:tc>
                  <a:txBody>
                    <a:bodyPr/>
                    <a:lstStyle/>
                    <a:p>
                      <a:pPr algn="l" indent="0" marL="0">
                        <a:buNone/>
                      </a:pPr>
                      <a:r>
                        <a:rPr lang="en-US" sz="1500" b="1" dirty="0">
                          <a:solidFill>
                            <a:srgbClr val="16302A"/>
                          </a:solidFill>
                          <a:latin typeface="Calibri" pitchFamily="34" charset="0"/>
                          <a:ea typeface="Calibri" pitchFamily="34" charset="-122"/>
                          <a:cs typeface="Calibri" pitchFamily="34" charset="-120"/>
                        </a:rPr>
                        <a:t>SoccerNet Ball Action Spotting</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12 ball actions with their times</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Trains and tests the action spotter</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768096">
                <a:tc>
                  <a:txBody>
                    <a:bodyPr/>
                    <a:lstStyle/>
                    <a:p>
                      <a:pPr algn="l" indent="0" marL="0">
                        <a:buNone/>
                      </a:pPr>
                      <a:r>
                        <a:rPr lang="en-US" sz="1500" b="1" dirty="0">
                          <a:solidFill>
                            <a:srgbClr val="16302A"/>
                          </a:solidFill>
                          <a:latin typeface="Calibri" pitchFamily="34" charset="0"/>
                          <a:ea typeface="Calibri" pitchFamily="34" charset="-122"/>
                          <a:cs typeface="Calibri" pitchFamily="34" charset="-120"/>
                        </a:rPr>
                        <a:t>FOOTPASS (SoccerNet 2026, NDA)</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Every player’s box, number and team, plus 8 action types</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Trains the identity model; tests naming</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768096">
                <a:tc>
                  <a:txBody>
                    <a:bodyPr/>
                    <a:lstStyle/>
                    <a:p>
                      <a:pPr algn="l" indent="0" marL="0">
                        <a:buNone/>
                      </a:pPr>
                      <a:r>
                        <a:rPr lang="en-US" sz="1500" b="1" dirty="0">
                          <a:solidFill>
                            <a:srgbClr val="16302A"/>
                          </a:solidFill>
                          <a:latin typeface="Calibri" pitchFamily="34" charset="0"/>
                          <a:ea typeface="Calibri" pitchFamily="34" charset="-122"/>
                          <a:cs typeface="Calibri" pitchFamily="34" charset="-120"/>
                        </a:rPr>
                        <a:t>SoccerNet Jersey 2023</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Shirt numbers of player tracklets</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Tests the number reader</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768096">
                <a:tc>
                  <a:txBody>
                    <a:bodyPr/>
                    <a:lstStyle/>
                    <a:p>
                      <a:pPr algn="l" indent="0" marL="0">
                        <a:buNone/>
                      </a:pPr>
                      <a:r>
                        <a:rPr lang="en-US" sz="1500" b="1" dirty="0">
                          <a:solidFill>
                            <a:srgbClr val="16302A"/>
                          </a:solidFill>
                          <a:latin typeface="Calibri" pitchFamily="34" charset="0"/>
                          <a:ea typeface="Calibri" pitchFamily="34" charset="-122"/>
                          <a:cs typeface="Calibri" pitchFamily="34" charset="-120"/>
                        </a:rPr>
                        <a:t>SoccerNet tracking</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Player and ball boxes in every frame</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Trains and tests the ball detector</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768096">
                <a:tc>
                  <a:txBody>
                    <a:bodyPr/>
                    <a:lstStyle/>
                    <a:p>
                      <a:pPr algn="l" indent="0" marL="0">
                        <a:buNone/>
                      </a:pPr>
                      <a:r>
                        <a:rPr lang="en-US" sz="1500" b="1" dirty="0">
                          <a:solidFill>
                            <a:srgbClr val="16302A"/>
                          </a:solidFill>
                          <a:latin typeface="Calibri" pitchFamily="34" charset="0"/>
                          <a:ea typeface="Calibri" pitchFamily="34" charset="-122"/>
                          <a:cs typeface="Calibri" pitchFamily="34" charset="-120"/>
                        </a:rPr>
                        <a:t>SoccerTrack v2</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Positions, ball and every action, one match</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500" dirty="0">
                          <a:solidFill>
                            <a:srgbClr val="16302A"/>
                          </a:solidFill>
                          <a:latin typeface="Calibri" pitchFamily="34" charset="0"/>
                          <a:ea typeface="Calibri" pitchFamily="34" charset="-122"/>
                          <a:cs typeface="Calibri" pitchFamily="34" charset="-120"/>
                        </a:rPr>
                        <a:t>Tunes and tests the event rules</a:t>
                      </a:r>
                      <a:endParaRPr lang="en-US" sz="15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 · OPEN PROBLEM · DIFFICULTIES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Why broadcast video is hard</a:t>
            </a:r>
            <a:endParaRPr lang="en-US" sz="3600" dirty="0"/>
          </a:p>
        </p:txBody>
      </p:sp>
      <p:sp>
        <p:nvSpPr>
          <p:cNvPr id="5" name="Card 1"/>
          <p:cNvSpPr/>
          <p:nvPr/>
        </p:nvSpPr>
        <p:spPr>
          <a:xfrm>
            <a:off x="822960" y="2011680"/>
            <a:ext cx="5134356" cy="1737360"/>
          </a:xfrm>
          <a:prstGeom prst="roundRect">
            <a:avLst>
              <a:gd name="adj" fmla="val 6316"/>
            </a:avLst>
          </a:prstGeom>
          <a:solidFill>
            <a:schemeClr val="bg1"/>
          </a:solidFill>
          <a:ln/>
        </p:spPr>
      </p:sp>
      <p:sp>
        <p:nvSpPr>
          <p:cNvPr id="6" name="Badge 1"/>
          <p:cNvSpPr/>
          <p:nvPr/>
        </p:nvSpPr>
        <p:spPr>
          <a:xfrm>
            <a:off x="1097280" y="2286000"/>
            <a:ext cx="457200" cy="457200"/>
          </a:xfrm>
          <a:prstGeom prst="ellipse">
            <a:avLst/>
          </a:prstGeom>
          <a:solidFill>
            <a:schemeClr val="accent2"/>
          </a:solidFill>
          <a:ln/>
        </p:spPr>
      </p:sp>
      <p:sp>
        <p:nvSpPr>
          <p:cNvPr id="7" name="Badge 1 number"/>
          <p:cNvSpPr txBox="1"/>
          <p:nvPr/>
        </p:nvSpPr>
        <p:spPr>
          <a:xfrm>
            <a:off x="1097280" y="228600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8" name="Card title 1"/>
          <p:cNvSpPr txBox="1"/>
          <p:nvPr/>
        </p:nvSpPr>
        <p:spPr>
          <a:xfrm>
            <a:off x="1737360"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The camera keeps cutting</a:t>
            </a:r>
            <a:endParaRPr lang="en-US" sz="2400" dirty="0"/>
          </a:p>
        </p:txBody>
      </p:sp>
      <p:sp>
        <p:nvSpPr>
          <p:cNvPr id="9" name="Card text 1"/>
          <p:cNvSpPr txBox="1"/>
          <p:nvPr/>
        </p:nvSpPr>
        <p:spPr>
          <a:xfrm>
            <a:off x="1737360" y="2880360"/>
            <a:ext cx="3945636" cy="685800"/>
          </a:xfrm>
          <a:prstGeom prst="rect">
            <a:avLst/>
          </a:prstGeom>
          <a:noFill/>
          <a:ln/>
        </p:spPr>
        <p:txBody>
          <a:bodyPr wrap="square" lIns="0" tIns="0" rIns="0" bIns="0" rtlCol="0" anchor="t"/>
          <a:lstStyle/>
          <a:p>
            <a:pPr indent="0" marL="0">
              <a:buNone/>
            </a:pPr>
            <a:r>
              <a:rPr lang="en-US" sz="1800" dirty="0">
                <a:solidFill>
                  <a:schemeClr val="tx2"/>
                </a:solidFill>
              </a:rPr>
              <a:t>The picture changes every few seconds, and only about 60% of the time shows a usable view of the pitch.</a:t>
            </a:r>
            <a:endParaRPr lang="en-US" sz="1800" dirty="0"/>
          </a:p>
        </p:txBody>
      </p:sp>
      <p:sp>
        <p:nvSpPr>
          <p:cNvPr id="10" name="Card 2"/>
          <p:cNvSpPr/>
          <p:nvPr/>
        </p:nvSpPr>
        <p:spPr>
          <a:xfrm>
            <a:off x="6231636" y="2011680"/>
            <a:ext cx="5134356" cy="1737360"/>
          </a:xfrm>
          <a:prstGeom prst="roundRect">
            <a:avLst>
              <a:gd name="adj" fmla="val 6316"/>
            </a:avLst>
          </a:prstGeom>
          <a:solidFill>
            <a:schemeClr val="bg1"/>
          </a:solidFill>
          <a:ln/>
        </p:spPr>
      </p:sp>
      <p:sp>
        <p:nvSpPr>
          <p:cNvPr id="11" name="Badge 2"/>
          <p:cNvSpPr/>
          <p:nvPr/>
        </p:nvSpPr>
        <p:spPr>
          <a:xfrm>
            <a:off x="6505956" y="2286000"/>
            <a:ext cx="457200" cy="457200"/>
          </a:xfrm>
          <a:prstGeom prst="ellipse">
            <a:avLst/>
          </a:prstGeom>
          <a:solidFill>
            <a:schemeClr val="accent2"/>
          </a:solidFill>
          <a:ln/>
        </p:spPr>
      </p:sp>
      <p:sp>
        <p:nvSpPr>
          <p:cNvPr id="12" name="Badge 2 number"/>
          <p:cNvSpPr txBox="1"/>
          <p:nvPr/>
        </p:nvSpPr>
        <p:spPr>
          <a:xfrm>
            <a:off x="6505956" y="228600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Card title 2"/>
          <p:cNvSpPr txBox="1"/>
          <p:nvPr/>
        </p:nvSpPr>
        <p:spPr>
          <a:xfrm>
            <a:off x="7146036"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The ball is tiny</a:t>
            </a:r>
            <a:endParaRPr lang="en-US" sz="2400" dirty="0"/>
          </a:p>
        </p:txBody>
      </p:sp>
      <p:sp>
        <p:nvSpPr>
          <p:cNvPr id="14" name="Card text 2"/>
          <p:cNvSpPr txBox="1"/>
          <p:nvPr/>
        </p:nvSpPr>
        <p:spPr>
          <a:xfrm>
            <a:off x="7146036" y="2880360"/>
            <a:ext cx="3945636" cy="685800"/>
          </a:xfrm>
          <a:prstGeom prst="rect">
            <a:avLst/>
          </a:prstGeom>
          <a:noFill/>
          <a:ln/>
        </p:spPr>
        <p:txBody>
          <a:bodyPr wrap="square" lIns="0" tIns="0" rIns="0" bIns="0" rtlCol="0" anchor="t"/>
          <a:lstStyle/>
          <a:p>
            <a:pPr indent="0" marL="0">
              <a:buNone/>
            </a:pPr>
            <a:r>
              <a:rPr lang="en-US" sz="1800" dirty="0">
                <a:solidFill>
                  <a:schemeClr val="tx2"/>
                </a:solidFill>
              </a:rPr>
              <a:t>We find it in under half of the frames where it is visible.</a:t>
            </a:r>
            <a:endParaRPr lang="en-US" sz="1800" dirty="0"/>
          </a:p>
        </p:txBody>
      </p:sp>
      <p:sp>
        <p:nvSpPr>
          <p:cNvPr id="15" name="Card 3"/>
          <p:cNvSpPr/>
          <p:nvPr/>
        </p:nvSpPr>
        <p:spPr>
          <a:xfrm>
            <a:off x="822960" y="3931920"/>
            <a:ext cx="5134356" cy="1737360"/>
          </a:xfrm>
          <a:prstGeom prst="roundRect">
            <a:avLst>
              <a:gd name="adj" fmla="val 6316"/>
            </a:avLst>
          </a:prstGeom>
          <a:solidFill>
            <a:schemeClr val="bg1"/>
          </a:solidFill>
          <a:ln/>
        </p:spPr>
      </p:sp>
      <p:sp>
        <p:nvSpPr>
          <p:cNvPr id="16" name="Badge 3"/>
          <p:cNvSpPr/>
          <p:nvPr/>
        </p:nvSpPr>
        <p:spPr>
          <a:xfrm>
            <a:off x="1097280" y="4206240"/>
            <a:ext cx="457200" cy="457200"/>
          </a:xfrm>
          <a:prstGeom prst="ellipse">
            <a:avLst/>
          </a:prstGeom>
          <a:solidFill>
            <a:schemeClr val="accent2"/>
          </a:solidFill>
          <a:ln/>
        </p:spPr>
      </p:sp>
      <p:sp>
        <p:nvSpPr>
          <p:cNvPr id="17" name="Badge 3 number"/>
          <p:cNvSpPr txBox="1"/>
          <p:nvPr/>
        </p:nvSpPr>
        <p:spPr>
          <a:xfrm>
            <a:off x="1097280" y="42062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8" name="Card title 3"/>
          <p:cNvSpPr txBox="1"/>
          <p:nvPr/>
        </p:nvSpPr>
        <p:spPr>
          <a:xfrm>
            <a:off x="1737360" y="420624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Tackles look like touches</a:t>
            </a:r>
            <a:endParaRPr lang="en-US" sz="2400" dirty="0"/>
          </a:p>
        </p:txBody>
      </p:sp>
      <p:sp>
        <p:nvSpPr>
          <p:cNvPr id="19" name="Card text 3"/>
          <p:cNvSpPr txBox="1"/>
          <p:nvPr/>
        </p:nvSpPr>
        <p:spPr>
          <a:xfrm>
            <a:off x="1737360" y="4800600"/>
            <a:ext cx="3945636" cy="685800"/>
          </a:xfrm>
          <a:prstGeom prst="rect">
            <a:avLst/>
          </a:prstGeom>
          <a:noFill/>
          <a:ln/>
        </p:spPr>
        <p:txBody>
          <a:bodyPr wrap="square" lIns="0" tIns="0" rIns="0" bIns="0" rtlCol="0" anchor="t"/>
          <a:lstStyle/>
          <a:p>
            <a:pPr indent="0" marL="0">
              <a:buNone/>
            </a:pPr>
            <a:r>
              <a:rPr lang="en-US" sz="1800" dirty="0">
                <a:solidFill>
                  <a:schemeClr val="tx2"/>
                </a:solidFill>
              </a:rPr>
              <a:t>From positions alone they are hard to tell apart. In unseen games we found 1 of 26.</a:t>
            </a:r>
            <a:endParaRPr lang="en-US" sz="1800" dirty="0"/>
          </a:p>
        </p:txBody>
      </p:sp>
      <p:sp>
        <p:nvSpPr>
          <p:cNvPr id="20" name="Card 4"/>
          <p:cNvSpPr/>
          <p:nvPr/>
        </p:nvSpPr>
        <p:spPr>
          <a:xfrm>
            <a:off x="6231636" y="3931920"/>
            <a:ext cx="5134356" cy="1737360"/>
          </a:xfrm>
          <a:prstGeom prst="roundRect">
            <a:avLst>
              <a:gd name="adj" fmla="val 6316"/>
            </a:avLst>
          </a:prstGeom>
          <a:solidFill>
            <a:schemeClr val="bg1"/>
          </a:solidFill>
          <a:ln/>
        </p:spPr>
      </p:sp>
      <p:sp>
        <p:nvSpPr>
          <p:cNvPr id="21" name="Badge 4"/>
          <p:cNvSpPr/>
          <p:nvPr/>
        </p:nvSpPr>
        <p:spPr>
          <a:xfrm>
            <a:off x="6505956" y="4206240"/>
            <a:ext cx="457200" cy="457200"/>
          </a:xfrm>
          <a:prstGeom prst="ellipse">
            <a:avLst/>
          </a:prstGeom>
          <a:solidFill>
            <a:schemeClr val="accent2"/>
          </a:solidFill>
          <a:ln/>
        </p:spPr>
      </p:sp>
      <p:sp>
        <p:nvSpPr>
          <p:cNvPr id="22" name="Badge 4 number"/>
          <p:cNvSpPr txBox="1"/>
          <p:nvPr/>
        </p:nvSpPr>
        <p:spPr>
          <a:xfrm>
            <a:off x="6505956" y="42062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3" name="Card title 4"/>
          <p:cNvSpPr txBox="1"/>
          <p:nvPr/>
        </p:nvSpPr>
        <p:spPr>
          <a:xfrm>
            <a:off x="7146036" y="420624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Naming every player</a:t>
            </a:r>
            <a:endParaRPr lang="en-US" sz="2400" dirty="0"/>
          </a:p>
        </p:txBody>
      </p:sp>
      <p:sp>
        <p:nvSpPr>
          <p:cNvPr id="24" name="Card text 4"/>
          <p:cNvSpPr txBox="1"/>
          <p:nvPr/>
        </p:nvSpPr>
        <p:spPr>
          <a:xfrm>
            <a:off x="7146036" y="4800600"/>
            <a:ext cx="3945636" cy="685800"/>
          </a:xfrm>
          <a:prstGeom prst="rect">
            <a:avLst/>
          </a:prstGeom>
          <a:noFill/>
          <a:ln/>
        </p:spPr>
        <p:txBody>
          <a:bodyPr wrap="square" lIns="0" tIns="0" rIns="0" bIns="0" rtlCol="0" anchor="t"/>
          <a:lstStyle/>
          <a:p>
            <a:pPr indent="0" marL="0">
              <a:buNone/>
            </a:pPr>
            <a:r>
              <a:rPr lang="en-US" sz="1800" dirty="0">
                <a:solidFill>
                  <a:schemeClr val="tx2"/>
                </a:solidFill>
              </a:rPr>
              <a:t>Only about half of player time is tied to a shirt number.</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2 · PHASES OF THE APP</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From upload to report in four phases</a:t>
            </a:r>
            <a:endParaRPr lang="en-US" sz="3600" dirty="0"/>
          </a:p>
        </p:txBody>
      </p:sp>
      <p:sp>
        <p:nvSpPr>
          <p:cNvPr id="5" name="Phase card 1"/>
          <p:cNvSpPr/>
          <p:nvPr/>
        </p:nvSpPr>
        <p:spPr>
          <a:xfrm>
            <a:off x="822960" y="1965960"/>
            <a:ext cx="2189988" cy="3611880"/>
          </a:xfrm>
          <a:prstGeom prst="roundRect">
            <a:avLst>
              <a:gd name="adj" fmla="val 5010"/>
            </a:avLst>
          </a:prstGeom>
          <a:solidFill>
            <a:schemeClr val="bg2"/>
          </a:solidFill>
          <a:ln/>
        </p:spPr>
      </p:sp>
      <p:sp>
        <p:nvSpPr>
          <p:cNvPr id="6" name="Phase badge 1"/>
          <p:cNvSpPr/>
          <p:nvPr/>
        </p:nvSpPr>
        <p:spPr>
          <a:xfrm>
            <a:off x="1097280" y="2240280"/>
            <a:ext cx="457200" cy="457200"/>
          </a:xfrm>
          <a:prstGeom prst="ellipse">
            <a:avLst/>
          </a:prstGeom>
          <a:solidFill>
            <a:schemeClr val="accent1"/>
          </a:solidFill>
          <a:ln/>
        </p:spPr>
      </p:sp>
      <p:sp>
        <p:nvSpPr>
          <p:cNvPr id="7" name="Phase badge 1 number"/>
          <p:cNvSpPr txBox="1"/>
          <p:nvPr/>
        </p:nvSpPr>
        <p:spPr>
          <a:xfrm>
            <a:off x="1097280" y="22402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Phase title 1"/>
          <p:cNvSpPr txBox="1"/>
          <p:nvPr/>
        </p:nvSpPr>
        <p:spPr>
          <a:xfrm>
            <a:off x="1097280" y="2834640"/>
            <a:ext cx="1641348" cy="457200"/>
          </a:xfrm>
          <a:prstGeom prst="rect">
            <a:avLst/>
          </a:prstGeom>
          <a:noFill/>
          <a:ln/>
        </p:spPr>
        <p:txBody>
          <a:bodyPr wrap="square" lIns="0" tIns="0" rIns="0" bIns="0" rtlCol="0" anchor="t"/>
          <a:lstStyle/>
          <a:p>
            <a:pPr indent="0" marL="0">
              <a:buNone/>
            </a:pPr>
            <a:r>
              <a:rPr lang="en-US" sz="2400" b="1" dirty="0">
                <a:solidFill>
                  <a:schemeClr val="tx1"/>
                </a:solidFill>
              </a:rPr>
              <a:t>Upload</a:t>
            </a:r>
            <a:endParaRPr lang="en-US" sz="2400" dirty="0"/>
          </a:p>
        </p:txBody>
      </p:sp>
      <p:sp>
        <p:nvSpPr>
          <p:cNvPr id="9" name="Phase text 1"/>
          <p:cNvSpPr txBox="1"/>
          <p:nvPr/>
        </p:nvSpPr>
        <p:spPr>
          <a:xfrm>
            <a:off x="1097280" y="3337560"/>
            <a:ext cx="1641348" cy="2057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You: </a:t>
            </a:r>
            <a:pPr indent="0" marL="0">
              <a:spcAft>
                <a:spcPts val="600"/>
              </a:spcAft>
              <a:buNone/>
            </a:pPr>
            <a:r>
              <a:rPr lang="en-US" sz="1600" dirty="0">
                <a:solidFill>
                  <a:schemeClr val="tx2"/>
                </a:solidFill>
              </a:rPr>
              <a:t>add a full half or a full match video.</a:t>
            </a:r>
            <a:endParaRPr lang="en-US" sz="1600" dirty="0"/>
          </a:p>
          <a:p>
            <a:pPr indent="0" marL="0">
              <a:spcAft>
                <a:spcPts val="600"/>
              </a:spcAft>
              <a:buNone/>
            </a:pPr>
            <a:r>
              <a:rPr lang="en-US" sz="1600" b="1" dirty="0">
                <a:solidFill>
                  <a:schemeClr val="tx1"/>
                </a:solidFill>
              </a:rPr>
              <a:t>App: </a:t>
            </a:r>
            <a:pPr indent="0" marL="0">
              <a:spcAft>
                <a:spcPts val="600"/>
              </a:spcAft>
              <a:buNone/>
            </a:pPr>
            <a:r>
              <a:rPr lang="en-US" sz="1600" dirty="0">
                <a:solidFill>
                  <a:schemeClr val="tx2"/>
                </a:solidFill>
              </a:rPr>
              <a:t>checks length, size and picture quality, and estimates the time.</a:t>
            </a:r>
            <a:endParaRPr lang="en-US" sz="1600" dirty="0"/>
          </a:p>
        </p:txBody>
      </p:sp>
      <p:sp>
        <p:nvSpPr>
          <p:cNvPr id="10" name="Arrow 1"/>
          <p:cNvSpPr/>
          <p:nvPr/>
        </p:nvSpPr>
        <p:spPr>
          <a:xfrm>
            <a:off x="3127248" y="3616452"/>
            <a:ext cx="365760" cy="310896"/>
          </a:xfrm>
          <a:prstGeom prst="rightArrow">
            <a:avLst/>
          </a:prstGeom>
          <a:solidFill>
            <a:schemeClr val="accent1"/>
          </a:solidFill>
          <a:ln/>
        </p:spPr>
      </p:sp>
      <p:sp>
        <p:nvSpPr>
          <p:cNvPr id="11" name="Phase card 2"/>
          <p:cNvSpPr/>
          <p:nvPr/>
        </p:nvSpPr>
        <p:spPr>
          <a:xfrm>
            <a:off x="3607308" y="1965960"/>
            <a:ext cx="2189988" cy="3611880"/>
          </a:xfrm>
          <a:prstGeom prst="roundRect">
            <a:avLst>
              <a:gd name="adj" fmla="val 5010"/>
            </a:avLst>
          </a:prstGeom>
          <a:solidFill>
            <a:schemeClr val="bg2"/>
          </a:solidFill>
          <a:ln/>
        </p:spPr>
      </p:sp>
      <p:sp>
        <p:nvSpPr>
          <p:cNvPr id="12" name="Phase badge 2"/>
          <p:cNvSpPr/>
          <p:nvPr/>
        </p:nvSpPr>
        <p:spPr>
          <a:xfrm>
            <a:off x="3881628" y="2240280"/>
            <a:ext cx="457200" cy="457200"/>
          </a:xfrm>
          <a:prstGeom prst="ellipse">
            <a:avLst/>
          </a:prstGeom>
          <a:solidFill>
            <a:schemeClr val="accent1"/>
          </a:solidFill>
          <a:ln/>
        </p:spPr>
      </p:sp>
      <p:sp>
        <p:nvSpPr>
          <p:cNvPr id="13" name="Phase badge 2 number"/>
          <p:cNvSpPr txBox="1"/>
          <p:nvPr/>
        </p:nvSpPr>
        <p:spPr>
          <a:xfrm>
            <a:off x="3881628" y="22402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Phase title 2"/>
          <p:cNvSpPr txBox="1"/>
          <p:nvPr/>
        </p:nvSpPr>
        <p:spPr>
          <a:xfrm>
            <a:off x="3881628" y="2834640"/>
            <a:ext cx="1641348" cy="457200"/>
          </a:xfrm>
          <a:prstGeom prst="rect">
            <a:avLst/>
          </a:prstGeom>
          <a:noFill/>
          <a:ln/>
        </p:spPr>
        <p:txBody>
          <a:bodyPr wrap="square" lIns="0" tIns="0" rIns="0" bIns="0" rtlCol="0" anchor="t"/>
          <a:lstStyle/>
          <a:p>
            <a:pPr indent="0" marL="0">
              <a:buNone/>
            </a:pPr>
            <a:r>
              <a:rPr lang="en-US" sz="2400" b="1" dirty="0">
                <a:solidFill>
                  <a:schemeClr val="tx1"/>
                </a:solidFill>
              </a:rPr>
              <a:t>Analyse</a:t>
            </a:r>
            <a:endParaRPr lang="en-US" sz="2400" dirty="0"/>
          </a:p>
        </p:txBody>
      </p:sp>
      <p:sp>
        <p:nvSpPr>
          <p:cNvPr id="15" name="Phase text 2"/>
          <p:cNvSpPr txBox="1"/>
          <p:nvPr/>
        </p:nvSpPr>
        <p:spPr>
          <a:xfrm>
            <a:off x="3881628" y="3337560"/>
            <a:ext cx="1641348" cy="2057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App: </a:t>
            </a:r>
            <a:pPr indent="0" marL="0">
              <a:spcAft>
                <a:spcPts val="600"/>
              </a:spcAft>
              <a:buNone/>
            </a:pPr>
            <a:r>
              <a:rPr lang="en-US" sz="1600" dirty="0">
                <a:solidFill>
                  <a:schemeClr val="tx2"/>
                </a:solidFill>
              </a:rPr>
              <a:t>follows every player and the ball, places them on the pitch, reads shirt numbers and finds the events.</a:t>
            </a:r>
            <a:endParaRPr lang="en-US" sz="1600" dirty="0"/>
          </a:p>
          <a:p>
            <a:pPr indent="0" marL="0">
              <a:spcAft>
                <a:spcPts val="600"/>
              </a:spcAft>
              <a:buNone/>
            </a:pPr>
            <a:r>
              <a:rPr lang="en-US" sz="1600" dirty="0">
                <a:solidFill>
                  <a:schemeClr val="tx2"/>
                </a:solidFill>
              </a:rPr>
              <a:t>About 0.75× the video’s length.</a:t>
            </a:r>
            <a:endParaRPr lang="en-US" sz="1600" dirty="0"/>
          </a:p>
        </p:txBody>
      </p:sp>
      <p:sp>
        <p:nvSpPr>
          <p:cNvPr id="16" name="Arrow 2"/>
          <p:cNvSpPr/>
          <p:nvPr/>
        </p:nvSpPr>
        <p:spPr>
          <a:xfrm>
            <a:off x="5911596" y="3616452"/>
            <a:ext cx="365760" cy="310896"/>
          </a:xfrm>
          <a:prstGeom prst="rightArrow">
            <a:avLst/>
          </a:prstGeom>
          <a:solidFill>
            <a:schemeClr val="accent1"/>
          </a:solidFill>
          <a:ln/>
        </p:spPr>
      </p:sp>
      <p:sp>
        <p:nvSpPr>
          <p:cNvPr id="17" name="Phase card 3"/>
          <p:cNvSpPr/>
          <p:nvPr/>
        </p:nvSpPr>
        <p:spPr>
          <a:xfrm>
            <a:off x="6391656" y="1965960"/>
            <a:ext cx="2189988" cy="3611880"/>
          </a:xfrm>
          <a:prstGeom prst="roundRect">
            <a:avLst>
              <a:gd name="adj" fmla="val 5010"/>
            </a:avLst>
          </a:prstGeom>
          <a:solidFill>
            <a:schemeClr val="bg2"/>
          </a:solidFill>
          <a:ln/>
        </p:spPr>
      </p:sp>
      <p:sp>
        <p:nvSpPr>
          <p:cNvPr id="18" name="Phase badge 3"/>
          <p:cNvSpPr/>
          <p:nvPr/>
        </p:nvSpPr>
        <p:spPr>
          <a:xfrm>
            <a:off x="6665976" y="2240280"/>
            <a:ext cx="457200" cy="457200"/>
          </a:xfrm>
          <a:prstGeom prst="ellipse">
            <a:avLst/>
          </a:prstGeom>
          <a:solidFill>
            <a:schemeClr val="accent1"/>
          </a:solidFill>
          <a:ln/>
        </p:spPr>
      </p:sp>
      <p:sp>
        <p:nvSpPr>
          <p:cNvPr id="19" name="Phase badge 3 number"/>
          <p:cNvSpPr txBox="1"/>
          <p:nvPr/>
        </p:nvSpPr>
        <p:spPr>
          <a:xfrm>
            <a:off x="6665976" y="22402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Phase title 3"/>
          <p:cNvSpPr txBox="1"/>
          <p:nvPr/>
        </p:nvSpPr>
        <p:spPr>
          <a:xfrm>
            <a:off x="6665976" y="2834640"/>
            <a:ext cx="1641348" cy="457200"/>
          </a:xfrm>
          <a:prstGeom prst="rect">
            <a:avLst/>
          </a:prstGeom>
          <a:noFill/>
          <a:ln/>
        </p:spPr>
        <p:txBody>
          <a:bodyPr wrap="square" lIns="0" tIns="0" rIns="0" bIns="0" rtlCol="0" anchor="t"/>
          <a:lstStyle/>
          <a:p>
            <a:pPr indent="0" marL="0">
              <a:buNone/>
            </a:pPr>
            <a:r>
              <a:rPr lang="en-US" sz="2400" b="1" dirty="0">
                <a:solidFill>
                  <a:schemeClr val="tx1"/>
                </a:solidFill>
              </a:rPr>
              <a:t>Report</a:t>
            </a:r>
            <a:endParaRPr lang="en-US" sz="2400" dirty="0"/>
          </a:p>
        </p:txBody>
      </p:sp>
      <p:sp>
        <p:nvSpPr>
          <p:cNvPr id="21" name="Phase text 3"/>
          <p:cNvSpPr txBox="1"/>
          <p:nvPr/>
        </p:nvSpPr>
        <p:spPr>
          <a:xfrm>
            <a:off x="6665976" y="3337560"/>
            <a:ext cx="1641348" cy="2057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You get: </a:t>
            </a:r>
            <a:pPr indent="0" marL="0">
              <a:spcAft>
                <a:spcPts val="600"/>
              </a:spcAft>
              <a:buNone/>
            </a:pPr>
            <a:r>
              <a:rPr lang="en-US" sz="1600" dirty="0">
                <a:solidFill>
                  <a:schemeClr val="tx2"/>
                </a:solidFill>
              </a:rPr>
              <a:t>a match overview, player profiles, event maps and the tracking drawn over the video.</a:t>
            </a:r>
            <a:endParaRPr lang="en-US" sz="1600" dirty="0"/>
          </a:p>
        </p:txBody>
      </p:sp>
      <p:sp>
        <p:nvSpPr>
          <p:cNvPr id="22" name="Arrow 3"/>
          <p:cNvSpPr/>
          <p:nvPr/>
        </p:nvSpPr>
        <p:spPr>
          <a:xfrm>
            <a:off x="8695944" y="3616452"/>
            <a:ext cx="365760" cy="310896"/>
          </a:xfrm>
          <a:prstGeom prst="rightArrow">
            <a:avLst/>
          </a:prstGeom>
          <a:solidFill>
            <a:schemeClr val="accent1"/>
          </a:solidFill>
          <a:ln/>
        </p:spPr>
      </p:sp>
      <p:sp>
        <p:nvSpPr>
          <p:cNvPr id="23" name="Phase card 4"/>
          <p:cNvSpPr/>
          <p:nvPr/>
        </p:nvSpPr>
        <p:spPr>
          <a:xfrm>
            <a:off x="9176004" y="1965960"/>
            <a:ext cx="2189988" cy="3611880"/>
          </a:xfrm>
          <a:prstGeom prst="roundRect">
            <a:avLst>
              <a:gd name="adj" fmla="val 5010"/>
            </a:avLst>
          </a:prstGeom>
          <a:solidFill>
            <a:schemeClr val="bg2"/>
          </a:solidFill>
          <a:ln/>
        </p:spPr>
      </p:sp>
      <p:sp>
        <p:nvSpPr>
          <p:cNvPr id="24" name="Phase badge 4"/>
          <p:cNvSpPr/>
          <p:nvPr/>
        </p:nvSpPr>
        <p:spPr>
          <a:xfrm>
            <a:off x="9450324" y="2240280"/>
            <a:ext cx="457200" cy="457200"/>
          </a:xfrm>
          <a:prstGeom prst="ellipse">
            <a:avLst/>
          </a:prstGeom>
          <a:solidFill>
            <a:schemeClr val="accent1"/>
          </a:solidFill>
          <a:ln/>
        </p:spPr>
      </p:sp>
      <p:sp>
        <p:nvSpPr>
          <p:cNvPr id="25" name="Phase badge 4 number"/>
          <p:cNvSpPr txBox="1"/>
          <p:nvPr/>
        </p:nvSpPr>
        <p:spPr>
          <a:xfrm>
            <a:off x="9450324" y="22402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Phase title 4"/>
          <p:cNvSpPr txBox="1"/>
          <p:nvPr/>
        </p:nvSpPr>
        <p:spPr>
          <a:xfrm>
            <a:off x="9450324" y="2834640"/>
            <a:ext cx="1641348" cy="457200"/>
          </a:xfrm>
          <a:prstGeom prst="rect">
            <a:avLst/>
          </a:prstGeom>
          <a:noFill/>
          <a:ln/>
        </p:spPr>
        <p:txBody>
          <a:bodyPr wrap="square" lIns="0" tIns="0" rIns="0" bIns="0" rtlCol="0" anchor="t"/>
          <a:lstStyle/>
          <a:p>
            <a:pPr indent="0" marL="0">
              <a:buNone/>
            </a:pPr>
            <a:r>
              <a:rPr lang="en-US" sz="2400" b="1" dirty="0">
                <a:solidFill>
                  <a:schemeClr val="tx1"/>
                </a:solidFill>
              </a:rPr>
              <a:t>Review</a:t>
            </a:r>
            <a:endParaRPr lang="en-US" sz="2400" dirty="0"/>
          </a:p>
        </p:txBody>
      </p:sp>
      <p:sp>
        <p:nvSpPr>
          <p:cNvPr id="27" name="Phase text 4"/>
          <p:cNvSpPr txBox="1"/>
          <p:nvPr/>
        </p:nvSpPr>
        <p:spPr>
          <a:xfrm>
            <a:off x="9450324" y="3337560"/>
            <a:ext cx="1641348" cy="2057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You: </a:t>
            </a:r>
            <a:pPr indent="0" marL="0">
              <a:spcAft>
                <a:spcPts val="600"/>
              </a:spcAft>
              <a:buNone/>
            </a:pPr>
            <a:r>
              <a:rPr lang="en-US" sz="1600" dirty="0">
                <a:solidFill>
                  <a:schemeClr val="tx2"/>
                </a:solidFill>
              </a:rPr>
              <a:t>correct a player’s name.</a:t>
            </a:r>
            <a:endParaRPr lang="en-US" sz="1600" dirty="0"/>
          </a:p>
          <a:p>
            <a:pPr indent="0" marL="0">
              <a:spcAft>
                <a:spcPts val="600"/>
              </a:spcAft>
              <a:buNone/>
            </a:pPr>
            <a:r>
              <a:rPr lang="en-US" sz="1600" b="1" dirty="0">
                <a:solidFill>
                  <a:schemeClr val="tx1"/>
                </a:solidFill>
              </a:rPr>
              <a:t>App: </a:t>
            </a:r>
            <a:pPr indent="0" marL="0">
              <a:spcAft>
                <a:spcPts val="600"/>
              </a:spcAft>
              <a:buNone/>
            </a:pPr>
            <a:r>
              <a:rPr lang="en-US" sz="1600" dirty="0">
                <a:solidFill>
                  <a:schemeClr val="tx2"/>
                </a:solidFill>
              </a:rPr>
              <a:t>re-runs the statistics with your correction.</a:t>
            </a:r>
            <a:endParaRPr lang="en-US" sz="1600" dirty="0"/>
          </a:p>
        </p:txBody>
      </p:sp>
      <p:sp>
        <p:nvSpPr>
          <p:cNvPr id="28" name="Key message"/>
          <p:cNvSpPr txBox="1"/>
          <p:nvPr/>
        </p:nvSpPr>
        <p:spPr>
          <a:xfrm>
            <a:off x="822960" y="5852160"/>
            <a:ext cx="10543032" cy="320040"/>
          </a:xfrm>
          <a:prstGeom prst="rect">
            <a:avLst/>
          </a:prstGeom>
          <a:noFill/>
          <a:ln/>
        </p:spPr>
        <p:txBody>
          <a:bodyPr wrap="square" lIns="0" tIns="0" rIns="0" bIns="0" rtlCol="0" anchor="t"/>
          <a:lstStyle/>
          <a:p>
            <a:pPr indent="0" marL="0">
              <a:buNone/>
            </a:pPr>
            <a:r>
              <a:rPr lang="en-US" sz="1800" b="1" dirty="0">
                <a:solidFill>
                  <a:schemeClr val="tx1"/>
                </a:solidFill>
              </a:rPr>
              <a:t>The video is the only input. </a:t>
            </a:r>
            <a:pPr indent="0" marL="0">
              <a:buNone/>
            </a:pPr>
            <a:r>
              <a:rPr lang="en-US" sz="1800" dirty="0">
                <a:solidFill>
                  <a:schemeClr val="tx2"/>
                </a:solidFill>
              </a:rPr>
              <a:t>Everything else is worked out by the models.</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PROBLEMS AND MODELS · THE PIPELINE</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Nine problems, and the answer to each</a:t>
            </a:r>
            <a:endParaRPr lang="en-US" sz="3600" dirty="0"/>
          </a:p>
        </p:txBody>
      </p:sp>
      <p:sp>
        <p:nvSpPr>
          <p:cNvPr id="5" name="Row label 1"/>
          <p:cNvSpPr/>
          <p:nvPr/>
        </p:nvSpPr>
        <p:spPr>
          <a:xfrm>
            <a:off x="822960" y="1572768"/>
            <a:ext cx="1371600" cy="1298448"/>
          </a:xfrm>
          <a:prstGeom prst="roundRect">
            <a:avLst>
              <a:gd name="adj" fmla="val 8451"/>
            </a:avLst>
          </a:prstGeom>
          <a:solidFill>
            <a:schemeClr val="accent1"/>
          </a:solidFill>
          <a:ln/>
        </p:spPr>
      </p:sp>
      <p:sp>
        <p:nvSpPr>
          <p:cNvPr id="6" name="Row label text 1"/>
          <p:cNvSpPr txBox="1"/>
          <p:nvPr/>
        </p:nvSpPr>
        <p:spPr>
          <a:xfrm>
            <a:off x="960120" y="1664208"/>
            <a:ext cx="1097280" cy="1115568"/>
          </a:xfrm>
          <a:prstGeom prst="rect">
            <a:avLst/>
          </a:prstGeom>
          <a:noFill/>
          <a:ln/>
        </p:spPr>
        <p:txBody>
          <a:bodyPr wrap="square" lIns="0" tIns="0" rIns="0" bIns="0" rtlCol="0" anchor="ctr"/>
          <a:lstStyle/>
          <a:p>
            <a:pPr indent="0" marL="0">
              <a:spcAft>
                <a:spcPts val="200"/>
              </a:spcAft>
              <a:buNone/>
            </a:pPr>
            <a:r>
              <a:rPr lang="en-US" sz="900" b="1" dirty="0">
                <a:solidFill>
                  <a:schemeClr val="bg2"/>
                </a:solidFill>
              </a:rPr>
              <a:t>STAGES 1–3</a:t>
            </a:r>
            <a:endParaRPr lang="en-US" sz="1800" dirty="0"/>
          </a:p>
          <a:p>
            <a:pPr indent="0" marL="0">
              <a:spcAft>
                <a:spcPts val="200"/>
              </a:spcAft>
              <a:buNone/>
            </a:pPr>
            <a:r>
              <a:rPr lang="en-US" sz="1400" b="1" dirty="0">
                <a:solidFill>
                  <a:schemeClr val="bg1"/>
                </a:solidFill>
              </a:rPr>
              <a:t>Frames to tracks</a:t>
            </a:r>
            <a:endParaRPr lang="en-US" sz="1800" dirty="0"/>
          </a:p>
        </p:txBody>
      </p:sp>
      <p:sp>
        <p:nvSpPr>
          <p:cNvPr id="7" name="Stage card 1"/>
          <p:cNvSpPr/>
          <p:nvPr/>
        </p:nvSpPr>
        <p:spPr>
          <a:xfrm>
            <a:off x="2331720" y="1572768"/>
            <a:ext cx="2676144" cy="1298448"/>
          </a:xfrm>
          <a:prstGeom prst="roundRect">
            <a:avLst>
              <a:gd name="adj" fmla="val 8451"/>
            </a:avLst>
          </a:prstGeom>
          <a:solidFill>
            <a:schemeClr val="bg2"/>
          </a:solidFill>
          <a:ln/>
        </p:spPr>
      </p:sp>
      <p:sp>
        <p:nvSpPr>
          <p:cNvPr id="8" name="Stage text 1"/>
          <p:cNvSpPr txBox="1"/>
          <p:nvPr/>
        </p:nvSpPr>
        <p:spPr>
          <a:xfrm>
            <a:off x="2496312" y="1645920"/>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1 · SAMPLE</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A video is too heavy to read frame by frame</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Frame stride, 12.5 frames a second</a:t>
            </a:r>
            <a:endParaRPr lang="en-US" sz="1800" dirty="0"/>
          </a:p>
          <a:p>
            <a:pPr indent="0" marL="0">
              <a:spcAft>
                <a:spcPts val="200"/>
              </a:spcAft>
              <a:buNone/>
            </a:pPr>
            <a:r>
              <a:rPr lang="en-US" sz="900" b="1" dirty="0">
                <a:solidFill>
                  <a:schemeClr val="tx2"/>
                </a:solidFill>
              </a:rPr>
              <a:t>NO MODEL</a:t>
            </a:r>
            <a:endParaRPr lang="en-US" sz="1800" dirty="0"/>
          </a:p>
        </p:txBody>
      </p:sp>
      <p:sp>
        <p:nvSpPr>
          <p:cNvPr id="9" name="Arrow 1"/>
          <p:cNvSpPr/>
          <p:nvPr/>
        </p:nvSpPr>
        <p:spPr>
          <a:xfrm>
            <a:off x="5103876" y="2084832"/>
            <a:ext cx="310896" cy="274320"/>
          </a:xfrm>
          <a:prstGeom prst="rightArrow">
            <a:avLst/>
          </a:prstGeom>
          <a:solidFill>
            <a:schemeClr val="accent1"/>
          </a:solidFill>
          <a:ln/>
        </p:spPr>
      </p:sp>
      <p:sp>
        <p:nvSpPr>
          <p:cNvPr id="10" name="Stage card 2"/>
          <p:cNvSpPr/>
          <p:nvPr/>
        </p:nvSpPr>
        <p:spPr>
          <a:xfrm>
            <a:off x="5510784" y="1572768"/>
            <a:ext cx="2676144" cy="1298448"/>
          </a:xfrm>
          <a:prstGeom prst="roundRect">
            <a:avLst>
              <a:gd name="adj" fmla="val 8451"/>
            </a:avLst>
          </a:prstGeom>
          <a:solidFill>
            <a:schemeClr val="bg2"/>
          </a:solidFill>
          <a:ln/>
        </p:spPr>
      </p:sp>
      <p:sp>
        <p:nvSpPr>
          <p:cNvPr id="11" name="Stage text 2"/>
          <p:cNvSpPr txBox="1"/>
          <p:nvPr/>
        </p:nvSpPr>
        <p:spPr>
          <a:xfrm>
            <a:off x="5675376" y="1645920"/>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2 · DETECT</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Find every player and the ball in each frame</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YOLOv8x detectors</a:t>
            </a:r>
            <a:endParaRPr lang="en-US" sz="1800" dirty="0"/>
          </a:p>
          <a:p>
            <a:pPr indent="0" marL="0">
              <a:spcAft>
                <a:spcPts val="200"/>
              </a:spcAft>
              <a:buNone/>
            </a:pPr>
            <a:r>
              <a:rPr lang="en-US" sz="900" b="1" dirty="0">
                <a:solidFill>
                  <a:schemeClr val="accent1"/>
                </a:solidFill>
              </a:rPr>
              <a:t>PRETRAINED</a:t>
            </a:r>
            <a:endParaRPr lang="en-US" sz="1800" dirty="0"/>
          </a:p>
        </p:txBody>
      </p:sp>
      <p:sp>
        <p:nvSpPr>
          <p:cNvPr id="12" name="Arrow 2"/>
          <p:cNvSpPr/>
          <p:nvPr/>
        </p:nvSpPr>
        <p:spPr>
          <a:xfrm>
            <a:off x="8282940" y="2084832"/>
            <a:ext cx="310896" cy="274320"/>
          </a:xfrm>
          <a:prstGeom prst="rightArrow">
            <a:avLst/>
          </a:prstGeom>
          <a:solidFill>
            <a:schemeClr val="accent1"/>
          </a:solidFill>
          <a:ln/>
        </p:spPr>
      </p:sp>
      <p:sp>
        <p:nvSpPr>
          <p:cNvPr id="13" name="Stage card 3"/>
          <p:cNvSpPr/>
          <p:nvPr/>
        </p:nvSpPr>
        <p:spPr>
          <a:xfrm>
            <a:off x="8689848" y="1572768"/>
            <a:ext cx="2676144" cy="1298448"/>
          </a:xfrm>
          <a:prstGeom prst="roundRect">
            <a:avLst>
              <a:gd name="adj" fmla="val 8451"/>
            </a:avLst>
          </a:prstGeom>
          <a:solidFill>
            <a:schemeClr val="bg2"/>
          </a:solidFill>
          <a:ln/>
        </p:spPr>
      </p:sp>
      <p:sp>
        <p:nvSpPr>
          <p:cNvPr id="14" name="Stage text 3"/>
          <p:cNvSpPr txBox="1"/>
          <p:nvPr/>
        </p:nvSpPr>
        <p:spPr>
          <a:xfrm>
            <a:off x="8854440" y="1645920"/>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3 · TRACK</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Detections do not say who is who, and cuts break tracks</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BoT-SORT + camera-cut rule</a:t>
            </a:r>
            <a:endParaRPr lang="en-US" sz="1800" dirty="0"/>
          </a:p>
          <a:p>
            <a:pPr indent="0" marL="0">
              <a:spcAft>
                <a:spcPts val="200"/>
              </a:spcAft>
              <a:buNone/>
            </a:pPr>
            <a:r>
              <a:rPr lang="en-US" sz="900" b="1" dirty="0">
                <a:solidFill>
                  <a:schemeClr val="tx2"/>
                </a:solidFill>
              </a:rPr>
              <a:t>METHOD, NO TRAINING</a:t>
            </a:r>
            <a:endParaRPr lang="en-US" sz="1800" dirty="0"/>
          </a:p>
        </p:txBody>
      </p:sp>
      <p:sp>
        <p:nvSpPr>
          <p:cNvPr id="15" name="Row label 2"/>
          <p:cNvSpPr/>
          <p:nvPr/>
        </p:nvSpPr>
        <p:spPr>
          <a:xfrm>
            <a:off x="822960" y="2980944"/>
            <a:ext cx="1371600" cy="1298448"/>
          </a:xfrm>
          <a:prstGeom prst="roundRect">
            <a:avLst>
              <a:gd name="adj" fmla="val 8451"/>
            </a:avLst>
          </a:prstGeom>
          <a:solidFill>
            <a:schemeClr val="accent1"/>
          </a:solidFill>
          <a:ln/>
        </p:spPr>
      </p:sp>
      <p:sp>
        <p:nvSpPr>
          <p:cNvPr id="16" name="Row label text 2"/>
          <p:cNvSpPr txBox="1"/>
          <p:nvPr/>
        </p:nvSpPr>
        <p:spPr>
          <a:xfrm>
            <a:off x="960120" y="3072384"/>
            <a:ext cx="1097280" cy="1115568"/>
          </a:xfrm>
          <a:prstGeom prst="rect">
            <a:avLst/>
          </a:prstGeom>
          <a:noFill/>
          <a:ln/>
        </p:spPr>
        <p:txBody>
          <a:bodyPr wrap="square" lIns="0" tIns="0" rIns="0" bIns="0" rtlCol="0" anchor="ctr"/>
          <a:lstStyle/>
          <a:p>
            <a:pPr indent="0" marL="0">
              <a:spcAft>
                <a:spcPts val="200"/>
              </a:spcAft>
              <a:buNone/>
            </a:pPr>
            <a:r>
              <a:rPr lang="en-US" sz="900" b="1" dirty="0">
                <a:solidFill>
                  <a:schemeClr val="bg2"/>
                </a:solidFill>
              </a:rPr>
              <a:t>STAGES 4–6</a:t>
            </a:r>
            <a:endParaRPr lang="en-US" sz="1800" dirty="0"/>
          </a:p>
          <a:p>
            <a:pPr indent="0" marL="0">
              <a:spcAft>
                <a:spcPts val="200"/>
              </a:spcAft>
              <a:buNone/>
            </a:pPr>
            <a:r>
              <a:rPr lang="en-US" sz="1400" b="1" dirty="0">
                <a:solidFill>
                  <a:schemeClr val="bg1"/>
                </a:solidFill>
              </a:rPr>
              <a:t>Pitch, teams and ball</a:t>
            </a:r>
            <a:endParaRPr lang="en-US" sz="1800" dirty="0"/>
          </a:p>
        </p:txBody>
      </p:sp>
      <p:sp>
        <p:nvSpPr>
          <p:cNvPr id="17" name="Stage card 4"/>
          <p:cNvSpPr/>
          <p:nvPr/>
        </p:nvSpPr>
        <p:spPr>
          <a:xfrm>
            <a:off x="2331720" y="2980944"/>
            <a:ext cx="2676144" cy="1298448"/>
          </a:xfrm>
          <a:prstGeom prst="roundRect">
            <a:avLst>
              <a:gd name="adj" fmla="val 8451"/>
            </a:avLst>
          </a:prstGeom>
          <a:solidFill>
            <a:schemeClr val="bg2"/>
          </a:solidFill>
          <a:ln/>
        </p:spPr>
      </p:sp>
      <p:sp>
        <p:nvSpPr>
          <p:cNvPr id="18" name="Stage text 4"/>
          <p:cNvSpPr txBox="1"/>
          <p:nvPr/>
        </p:nvSpPr>
        <p:spPr>
          <a:xfrm>
            <a:off x="2496312" y="3054096"/>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4 · PITCH MAP</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Pixels are not metres</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HRNetV2-W48 + homography</a:t>
            </a:r>
            <a:endParaRPr lang="en-US" sz="1800" dirty="0"/>
          </a:p>
          <a:p>
            <a:pPr indent="0" marL="0">
              <a:spcAft>
                <a:spcPts val="200"/>
              </a:spcAft>
              <a:buNone/>
            </a:pPr>
            <a:r>
              <a:rPr lang="en-US" sz="900" b="1" dirty="0">
                <a:solidFill>
                  <a:schemeClr val="accent1"/>
                </a:solidFill>
              </a:rPr>
              <a:t>PRETRAINED</a:t>
            </a:r>
            <a:endParaRPr lang="en-US" sz="1800" dirty="0"/>
          </a:p>
        </p:txBody>
      </p:sp>
      <p:sp>
        <p:nvSpPr>
          <p:cNvPr id="19" name="Arrow 3"/>
          <p:cNvSpPr/>
          <p:nvPr/>
        </p:nvSpPr>
        <p:spPr>
          <a:xfrm>
            <a:off x="5103876" y="3493008"/>
            <a:ext cx="310896" cy="274320"/>
          </a:xfrm>
          <a:prstGeom prst="rightArrow">
            <a:avLst/>
          </a:prstGeom>
          <a:solidFill>
            <a:schemeClr val="accent1"/>
          </a:solidFill>
          <a:ln/>
        </p:spPr>
      </p:sp>
      <p:sp>
        <p:nvSpPr>
          <p:cNvPr id="20" name="Stage card 5"/>
          <p:cNvSpPr/>
          <p:nvPr/>
        </p:nvSpPr>
        <p:spPr>
          <a:xfrm>
            <a:off x="5510784" y="2980944"/>
            <a:ext cx="2676144" cy="1298448"/>
          </a:xfrm>
          <a:prstGeom prst="roundRect">
            <a:avLst>
              <a:gd name="adj" fmla="val 8451"/>
            </a:avLst>
          </a:prstGeom>
          <a:solidFill>
            <a:schemeClr val="bg2"/>
          </a:solidFill>
          <a:ln/>
        </p:spPr>
      </p:sp>
      <p:sp>
        <p:nvSpPr>
          <p:cNvPr id="21" name="Stage text 5"/>
          <p:cNvSpPr txBox="1"/>
          <p:nvPr/>
        </p:nvSpPr>
        <p:spPr>
          <a:xfrm>
            <a:off x="5675376" y="3054096"/>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5 · TEAMS</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A detection does not say which side a player is on</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K-means on shirt colour</a:t>
            </a:r>
            <a:endParaRPr lang="en-US" sz="1800" dirty="0"/>
          </a:p>
          <a:p>
            <a:pPr indent="0" marL="0">
              <a:spcAft>
                <a:spcPts val="200"/>
              </a:spcAft>
              <a:buNone/>
            </a:pPr>
            <a:r>
              <a:rPr lang="en-US" sz="900" b="1" dirty="0">
                <a:solidFill>
                  <a:schemeClr val="tx2"/>
                </a:solidFill>
              </a:rPr>
              <a:t>METHOD, NO TRAINING</a:t>
            </a:r>
            <a:endParaRPr lang="en-US" sz="1800" dirty="0"/>
          </a:p>
        </p:txBody>
      </p:sp>
      <p:sp>
        <p:nvSpPr>
          <p:cNvPr id="22" name="Arrow 4"/>
          <p:cNvSpPr/>
          <p:nvPr/>
        </p:nvSpPr>
        <p:spPr>
          <a:xfrm>
            <a:off x="8282940" y="3493008"/>
            <a:ext cx="310896" cy="274320"/>
          </a:xfrm>
          <a:prstGeom prst="rightArrow">
            <a:avLst/>
          </a:prstGeom>
          <a:solidFill>
            <a:schemeClr val="accent1"/>
          </a:solidFill>
          <a:ln/>
        </p:spPr>
      </p:sp>
      <p:sp>
        <p:nvSpPr>
          <p:cNvPr id="23" name="Stage card 6"/>
          <p:cNvSpPr/>
          <p:nvPr/>
        </p:nvSpPr>
        <p:spPr>
          <a:xfrm>
            <a:off x="8689848" y="2980944"/>
            <a:ext cx="2676144" cy="1298448"/>
          </a:xfrm>
          <a:prstGeom prst="roundRect">
            <a:avLst>
              <a:gd name="adj" fmla="val 8451"/>
            </a:avLst>
          </a:prstGeom>
          <a:solidFill>
            <a:schemeClr val="bg2"/>
          </a:solidFill>
          <a:ln/>
        </p:spPr>
      </p:sp>
      <p:sp>
        <p:nvSpPr>
          <p:cNvPr id="24" name="Stage text 6"/>
          <p:cNvSpPr txBox="1"/>
          <p:nvPr/>
        </p:nvSpPr>
        <p:spPr>
          <a:xfrm>
            <a:off x="8854440" y="3054096"/>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6 · BALL PATH</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The ball is tiny and missed in many frames</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Shortest-path search</a:t>
            </a:r>
            <a:endParaRPr lang="en-US" sz="1800" dirty="0"/>
          </a:p>
          <a:p>
            <a:pPr indent="0" marL="0">
              <a:spcAft>
                <a:spcPts val="200"/>
              </a:spcAft>
              <a:buNone/>
            </a:pPr>
            <a:r>
              <a:rPr lang="en-US" sz="900" b="1" dirty="0">
                <a:solidFill>
                  <a:schemeClr val="tx2"/>
                </a:solidFill>
              </a:rPr>
              <a:t>HAND-WRITTEN RULES</a:t>
            </a:r>
            <a:endParaRPr lang="en-US" sz="1800" dirty="0"/>
          </a:p>
        </p:txBody>
      </p:sp>
      <p:sp>
        <p:nvSpPr>
          <p:cNvPr id="25" name="Row label 3"/>
          <p:cNvSpPr/>
          <p:nvPr/>
        </p:nvSpPr>
        <p:spPr>
          <a:xfrm>
            <a:off x="822960" y="4389120"/>
            <a:ext cx="1371600" cy="1298448"/>
          </a:xfrm>
          <a:prstGeom prst="roundRect">
            <a:avLst>
              <a:gd name="adj" fmla="val 8451"/>
            </a:avLst>
          </a:prstGeom>
          <a:solidFill>
            <a:schemeClr val="accent1"/>
          </a:solidFill>
          <a:ln/>
        </p:spPr>
      </p:sp>
      <p:sp>
        <p:nvSpPr>
          <p:cNvPr id="26" name="Row label text 3"/>
          <p:cNvSpPr txBox="1"/>
          <p:nvPr/>
        </p:nvSpPr>
        <p:spPr>
          <a:xfrm>
            <a:off x="960120" y="4480560"/>
            <a:ext cx="1097280" cy="1115568"/>
          </a:xfrm>
          <a:prstGeom prst="rect">
            <a:avLst/>
          </a:prstGeom>
          <a:noFill/>
          <a:ln/>
        </p:spPr>
        <p:txBody>
          <a:bodyPr wrap="square" lIns="0" tIns="0" rIns="0" bIns="0" rtlCol="0" anchor="ctr"/>
          <a:lstStyle/>
          <a:p>
            <a:pPr indent="0" marL="0">
              <a:spcAft>
                <a:spcPts val="200"/>
              </a:spcAft>
              <a:buNone/>
            </a:pPr>
            <a:r>
              <a:rPr lang="en-US" sz="900" b="1" dirty="0">
                <a:solidFill>
                  <a:schemeClr val="bg2"/>
                </a:solidFill>
              </a:rPr>
              <a:t>STAGES 7–9</a:t>
            </a:r>
            <a:endParaRPr lang="en-US" sz="1800" dirty="0"/>
          </a:p>
          <a:p>
            <a:pPr indent="0" marL="0">
              <a:spcAft>
                <a:spcPts val="200"/>
              </a:spcAft>
              <a:buNone/>
            </a:pPr>
            <a:r>
              <a:rPr lang="en-US" sz="1400" b="1" dirty="0">
                <a:solidFill>
                  <a:schemeClr val="bg1"/>
                </a:solidFill>
              </a:rPr>
              <a:t>Names, events and totals</a:t>
            </a:r>
            <a:endParaRPr lang="en-US" sz="1800" dirty="0"/>
          </a:p>
        </p:txBody>
      </p:sp>
      <p:sp>
        <p:nvSpPr>
          <p:cNvPr id="27" name="Stage card 7"/>
          <p:cNvSpPr/>
          <p:nvPr/>
        </p:nvSpPr>
        <p:spPr>
          <a:xfrm>
            <a:off x="2331720" y="4389120"/>
            <a:ext cx="2676144" cy="1298448"/>
          </a:xfrm>
          <a:prstGeom prst="roundRect">
            <a:avLst>
              <a:gd name="adj" fmla="val 8451"/>
            </a:avLst>
          </a:prstGeom>
          <a:solidFill>
            <a:schemeClr val="bg2"/>
          </a:solidFill>
          <a:ln/>
        </p:spPr>
      </p:sp>
      <p:sp>
        <p:nvSpPr>
          <p:cNvPr id="28" name="Stage text 7"/>
          <p:cNvSpPr txBox="1"/>
          <p:nvPr/>
        </p:nvSpPr>
        <p:spPr>
          <a:xfrm>
            <a:off x="2496312" y="4462272"/>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7 · IDENTIFY</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Most shirt numbers cannot be read</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ResNet-34 + PARSeq, CLIP identity model</a:t>
            </a:r>
            <a:endParaRPr lang="en-US" sz="1800" dirty="0"/>
          </a:p>
          <a:p>
            <a:pPr indent="0" marL="0">
              <a:spcAft>
                <a:spcPts val="200"/>
              </a:spcAft>
              <a:buNone/>
            </a:pPr>
            <a:r>
              <a:rPr lang="en-US" sz="900" b="1" dirty="0">
                <a:solidFill>
                  <a:schemeClr val="accent2"/>
                </a:solidFill>
              </a:rPr>
              <a:t>FINE-TUNED / TRAINED BY US</a:t>
            </a:r>
            <a:endParaRPr lang="en-US" sz="1800" dirty="0"/>
          </a:p>
        </p:txBody>
      </p:sp>
      <p:sp>
        <p:nvSpPr>
          <p:cNvPr id="29" name="Arrow 5"/>
          <p:cNvSpPr/>
          <p:nvPr/>
        </p:nvSpPr>
        <p:spPr>
          <a:xfrm>
            <a:off x="5103876" y="4901184"/>
            <a:ext cx="310896" cy="274320"/>
          </a:xfrm>
          <a:prstGeom prst="rightArrow">
            <a:avLst/>
          </a:prstGeom>
          <a:solidFill>
            <a:schemeClr val="accent1"/>
          </a:solidFill>
          <a:ln/>
        </p:spPr>
      </p:sp>
      <p:sp>
        <p:nvSpPr>
          <p:cNvPr id="30" name="Stage card 8"/>
          <p:cNvSpPr/>
          <p:nvPr/>
        </p:nvSpPr>
        <p:spPr>
          <a:xfrm>
            <a:off x="5510784" y="4389120"/>
            <a:ext cx="2676144" cy="1298448"/>
          </a:xfrm>
          <a:prstGeom prst="roundRect">
            <a:avLst>
              <a:gd name="adj" fmla="val 8451"/>
            </a:avLst>
          </a:prstGeom>
          <a:solidFill>
            <a:schemeClr val="bg2"/>
          </a:solidFill>
          <a:ln/>
        </p:spPr>
      </p:sp>
      <p:sp>
        <p:nvSpPr>
          <p:cNvPr id="31" name="Stage text 8"/>
          <p:cNvSpPr txBox="1"/>
          <p:nvPr/>
        </p:nvSpPr>
        <p:spPr>
          <a:xfrm>
            <a:off x="5675376" y="4462272"/>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8 · EVENTS</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Tackles and shots leave little trace in positions</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T-DEED spotter and event rules</a:t>
            </a:r>
            <a:endParaRPr lang="en-US" sz="1800" dirty="0"/>
          </a:p>
          <a:p>
            <a:pPr indent="0" marL="0">
              <a:spcAft>
                <a:spcPts val="200"/>
              </a:spcAft>
              <a:buNone/>
            </a:pPr>
            <a:r>
              <a:rPr lang="en-US" sz="900" b="1" dirty="0">
                <a:solidFill>
                  <a:schemeClr val="accent2"/>
                </a:solidFill>
              </a:rPr>
              <a:t>FINE-TUNED / TRAINED BY US</a:t>
            </a:r>
            <a:endParaRPr lang="en-US" sz="1800" dirty="0"/>
          </a:p>
        </p:txBody>
      </p:sp>
      <p:sp>
        <p:nvSpPr>
          <p:cNvPr id="32" name="Arrow 6"/>
          <p:cNvSpPr/>
          <p:nvPr/>
        </p:nvSpPr>
        <p:spPr>
          <a:xfrm>
            <a:off x="8282940" y="4901184"/>
            <a:ext cx="310896" cy="274320"/>
          </a:xfrm>
          <a:prstGeom prst="rightArrow">
            <a:avLst/>
          </a:prstGeom>
          <a:solidFill>
            <a:schemeClr val="accent1"/>
          </a:solidFill>
          <a:ln/>
        </p:spPr>
      </p:sp>
      <p:sp>
        <p:nvSpPr>
          <p:cNvPr id="33" name="Stage card 9"/>
          <p:cNvSpPr/>
          <p:nvPr/>
        </p:nvSpPr>
        <p:spPr>
          <a:xfrm>
            <a:off x="8689848" y="4389120"/>
            <a:ext cx="2676144" cy="1298448"/>
          </a:xfrm>
          <a:prstGeom prst="roundRect">
            <a:avLst>
              <a:gd name="adj" fmla="val 8451"/>
            </a:avLst>
          </a:prstGeom>
          <a:solidFill>
            <a:schemeClr val="bg2"/>
          </a:solidFill>
          <a:ln/>
        </p:spPr>
      </p:sp>
      <p:sp>
        <p:nvSpPr>
          <p:cNvPr id="34" name="Stage text 9"/>
          <p:cNvSpPr txBox="1"/>
          <p:nvPr/>
        </p:nvSpPr>
        <p:spPr>
          <a:xfrm>
            <a:off x="8854440" y="4462272"/>
            <a:ext cx="2346960" cy="1152144"/>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9 · STATISTICS</a:t>
            </a:r>
            <a:endParaRPr lang="en-US" sz="1800" dirty="0"/>
          </a:p>
          <a:p>
            <a:pPr indent="0" marL="0">
              <a:spcAft>
                <a:spcPts val="200"/>
              </a:spcAft>
              <a:buNone/>
            </a:pPr>
            <a:r>
              <a:rPr lang="en-US" sz="1100" b="1" dirty="0">
                <a:solidFill>
                  <a:schemeClr val="accent2"/>
                </a:solidFill>
              </a:rPr>
              <a:t>Problem: </a:t>
            </a:r>
            <a:pPr indent="0" marL="0">
              <a:spcAft>
                <a:spcPts val="200"/>
              </a:spcAft>
              <a:buNone/>
            </a:pPr>
            <a:r>
              <a:rPr lang="en-US" sz="1100" dirty="0">
                <a:solidFill>
                  <a:schemeClr val="tx2"/>
                </a:solidFill>
              </a:rPr>
              <a:t>Raw positions jitter, which inflates distance</a:t>
            </a:r>
            <a:endParaRPr lang="en-US" sz="1800" dirty="0"/>
          </a:p>
          <a:p>
            <a:pPr indent="0" marL="0">
              <a:spcAft>
                <a:spcPts val="200"/>
              </a:spcAft>
              <a:buNone/>
            </a:pPr>
            <a:r>
              <a:rPr lang="en-US" sz="1300" b="1" dirty="0">
                <a:solidFill>
                  <a:schemeClr val="accent1"/>
                </a:solidFill>
              </a:rPr>
              <a:t>Answer: </a:t>
            </a:r>
            <a:pPr indent="0" marL="0">
              <a:spcAft>
                <a:spcPts val="200"/>
              </a:spcAft>
              <a:buNone/>
            </a:pPr>
            <a:r>
              <a:rPr lang="en-US" sz="1300" b="1" dirty="0">
                <a:solidFill>
                  <a:schemeClr val="tx1"/>
                </a:solidFill>
              </a:rPr>
              <a:t>Smoothing and step rules</a:t>
            </a:r>
            <a:endParaRPr lang="en-US" sz="1800" dirty="0"/>
          </a:p>
          <a:p>
            <a:pPr indent="0" marL="0">
              <a:spcAft>
                <a:spcPts val="200"/>
              </a:spcAft>
              <a:buNone/>
            </a:pPr>
            <a:r>
              <a:rPr lang="en-US" sz="900" b="1" dirty="0">
                <a:solidFill>
                  <a:schemeClr val="tx2"/>
                </a:solidFill>
              </a:rPr>
              <a:t>HAND-WRITTEN RULES</a:t>
            </a:r>
            <a:endParaRPr lang="en-US" sz="1800" dirty="0"/>
          </a:p>
        </p:txBody>
      </p:sp>
      <p:sp>
        <p:nvSpPr>
          <p:cNvPr id="35" name="Legend"/>
          <p:cNvSpPr txBox="1"/>
          <p:nvPr/>
        </p:nvSpPr>
        <p:spPr>
          <a:xfrm>
            <a:off x="822960" y="5897880"/>
            <a:ext cx="10543032" cy="274320"/>
          </a:xfrm>
          <a:prstGeom prst="rect">
            <a:avLst/>
          </a:prstGeom>
          <a:noFill/>
          <a:ln/>
        </p:spPr>
        <p:txBody>
          <a:bodyPr wrap="square" lIns="0" tIns="0" rIns="0" bIns="0" rtlCol="0" anchor="t"/>
          <a:lstStyle/>
          <a:p>
            <a:pPr indent="0" marL="0">
              <a:buNone/>
            </a:pPr>
            <a:r>
              <a:rPr lang="en-US" sz="1200" dirty="0">
                <a:solidFill>
                  <a:schemeClr val="tx2"/>
                </a:solidFill>
              </a:rPr>
              <a:t>Orange = fine-tuned or trained by us · green = pretrained · grey = hand-written or not learned · one RTX 3090, about 0.75× the video length</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1 · SEEING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find every player and the ball?</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A broadcast frame holds about 14 outfield players, goalkeepers, referees and a ball only a few pixels wide. Every later step depends on finding them first.</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USED AS RELEASED</a:t>
            </a:r>
            <a:endParaRPr lang="en-US" sz="1800" dirty="0"/>
          </a:p>
          <a:p>
            <a:pPr indent="0" marL="0">
              <a:spcAft>
                <a:spcPts val="400"/>
              </a:spcAft>
              <a:buNone/>
            </a:pPr>
            <a:r>
              <a:rPr lang="en-US" sz="2400" b="1" dirty="0">
                <a:solidFill>
                  <a:schemeClr val="tx1"/>
                </a:solidFill>
              </a:rPr>
              <a:t>YOLOv8x detectors</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Video frames, 12.5 a second, resized to 1,280 px wide.</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Roboflow football images of players, goalkeepers, referees and the ball. Used as released.</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Resize the frame to 1,280 px and pass it once through the network.</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Predict a box and a class at three grid scales; merge overlapping boxes.</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Keep boxes at 0.1 confidence or more. Later stages remove the false ones.</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89.7%</a:t>
            </a:r>
            <a:endParaRPr lang="en-US" sz="1800" dirty="0"/>
          </a:p>
          <a:p>
            <a:pPr indent="0" marL="0">
              <a:spcAft>
                <a:spcPts val="300"/>
              </a:spcAft>
              <a:buNone/>
            </a:pPr>
            <a:r>
              <a:rPr lang="en-US" sz="1400" b="1" dirty="0">
                <a:solidFill>
                  <a:schemeClr val="bg2"/>
                </a:solidFill>
              </a:rPr>
              <a:t>of visible player time detected</a:t>
            </a:r>
            <a:endParaRPr lang="en-US" sz="1800" dirty="0"/>
          </a:p>
          <a:p>
            <a:pPr indent="0" marL="0">
              <a:spcAft>
                <a:spcPts val="300"/>
              </a:spcAft>
              <a:buNone/>
            </a:pPr>
            <a:r>
              <a:rPr lang="en-US" sz="1400" dirty="0">
                <a:solidFill>
                  <a:schemeClr val="bg1"/>
                </a:solidFill>
              </a:rPr>
              <a:t>Weakest on close-ups: 63.6% for boxes over 150 px tall. About 14 outfield players are found in each frame.</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2 · FOLLOWING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follow one player through the match?</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Detection looks at each frame alone, so nothing says two boxes show the same player. The camera also cuts about every 8 seconds, and a track must never carry on across a cut.</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METHOD, NO TRAINING</a:t>
            </a:r>
            <a:endParaRPr lang="en-US" sz="1800" dirty="0"/>
          </a:p>
          <a:p>
            <a:pPr indent="0" marL="0">
              <a:spcAft>
                <a:spcPts val="400"/>
              </a:spcAft>
              <a:buNone/>
            </a:pPr>
            <a:r>
              <a:rPr lang="en-US" sz="2400" b="1" dirty="0">
                <a:solidFill>
                  <a:schemeClr val="tx1"/>
                </a:solidFill>
              </a:rPr>
              <a:t>BoT-SORT tracker + camera-cut rule</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Player boxes from the detector, and a colour histogram of each frame.</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Nothing. Fixed settings, no training data.</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A Kalman filter predicts where each track goes next, with camera pans and zooms corrected.</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New boxes are matched to tracks by overlap, confident boxes first.</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A cut detector compares colour histograms: a distance above 0.35 is a cut.</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97.1%</a:t>
            </a:r>
            <a:endParaRPr lang="en-US" sz="1800" dirty="0"/>
          </a:p>
          <a:p>
            <a:pPr indent="0" marL="0">
              <a:spcAft>
                <a:spcPts val="300"/>
              </a:spcAft>
              <a:buNone/>
            </a:pPr>
            <a:r>
              <a:rPr lang="en-US" sz="1400" b="1" dirty="0">
                <a:solidFill>
                  <a:schemeClr val="bg2"/>
                </a:solidFill>
              </a:rPr>
              <a:t>of tracked time in single-player tracks</a:t>
            </a:r>
            <a:endParaRPr lang="en-US" sz="1800" dirty="0"/>
          </a:p>
          <a:p>
            <a:pPr indent="0" marL="0">
              <a:spcAft>
                <a:spcPts val="300"/>
              </a:spcAft>
              <a:buNone/>
            </a:pPr>
            <a:r>
              <a:rPr lang="en-US" sz="1400" dirty="0">
                <a:solidFill>
                  <a:schemeClr val="bg1"/>
                </a:solidFill>
              </a:rPr>
              <a:t>The cut detector found 115 of 133 labelled hard cuts. The demo match has 730 cuts, about one every 8 seconds.</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3 · PLACING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turn pixels into metres?</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Distance and speed need positions on the pitch, but the picture comes from a moving, zooming camera. Only a median 60% of broadcast time shows enough pitch lines to tell where the camera points.</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USED AS RELEASED</a:t>
            </a:r>
            <a:endParaRPr lang="en-US" sz="1800" dirty="0"/>
          </a:p>
          <a:p>
            <a:pPr indent="0" marL="0">
              <a:spcAft>
                <a:spcPts val="400"/>
              </a:spcAft>
              <a:buNone/>
            </a:pPr>
            <a:r>
              <a:rPr lang="en-US" sz="2400" b="1" dirty="0">
                <a:solidFill>
                  <a:schemeClr val="tx1"/>
                </a:solidFill>
              </a:rPr>
              <a:t>HRNetV2-W48 pitch network + homography</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One video frame at 960 × 540 px.</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SoccerNet pitch images with labelled pitch points, from the original authors. Used as released.</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The network finds 57 known pitch points: corners, box corners, centre circle, penalty spots.</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RANSAC fits a homography from the matched points. Weak fits are rejected.</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Fits are cleaned: outliers dropped, gaps up to 1.2 s filled, then smoothed.</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0.18 m</a:t>
            </a:r>
            <a:endParaRPr lang="en-US" sz="1800" dirty="0"/>
          </a:p>
          <a:p>
            <a:pPr indent="0" marL="0">
              <a:spcAft>
                <a:spcPts val="300"/>
              </a:spcAft>
              <a:buNone/>
            </a:pPr>
            <a:r>
              <a:rPr lang="en-US" sz="1400" b="1" dirty="0">
                <a:solidFill>
                  <a:schemeClr val="bg2"/>
                </a:solidFill>
              </a:rPr>
              <a:t>jitter after cleaning, down from 1.1 m</a:t>
            </a:r>
            <a:endParaRPr lang="en-US" sz="1800" dirty="0"/>
          </a:p>
          <a:p>
            <a:pPr indent="0" marL="0">
              <a:spcAft>
                <a:spcPts val="300"/>
              </a:spcAft>
              <a:buNone/>
            </a:pPr>
            <a:r>
              <a:rPr lang="en-US" sz="1400" dirty="0">
                <a:solidFill>
                  <a:schemeClr val="bg1"/>
                </a:solidFill>
              </a:rPr>
              <a:t>90th percentile, fixed points. The limit: only a median 60% of broadcast time shows enough pitch to calibrate.</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4 · TEAMS, DIRECTION, BALL</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Which team, which way, and where is the ball?</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A detection says “player”, not which side. Nothing says which way a team attacks, and the ball is missed in more than half of the frames where it is visible, with false candidates among the hits.</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HAND-WRITTEN</a:t>
            </a:r>
            <a:endParaRPr lang="en-US" sz="1800" dirty="0"/>
          </a:p>
          <a:p>
            <a:pPr indent="0" marL="0">
              <a:spcAft>
                <a:spcPts val="400"/>
              </a:spcAft>
              <a:buNone/>
            </a:pPr>
            <a:r>
              <a:rPr lang="en-US" sz="2400" b="1" dirty="0">
                <a:solidFill>
                  <a:schemeClr val="tx1"/>
                </a:solidFill>
              </a:rPr>
              <a:t>K-means, a defending rule and a path search</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Torso colours of detected players, where the players stand, and ball candidates.</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Nothing. Hand-written, no training data.</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Teams: two-cluster K-means on torso colour, with grass masked out.</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Direction: defenders stay between ball and own goal, so the smaller mean position is the left goal.</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Ball path: a shortest-path search through the ball candidates of each shot.</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97%</a:t>
            </a:r>
            <a:endParaRPr lang="en-US" sz="1800" dirty="0"/>
          </a:p>
          <a:p>
            <a:pPr indent="0" marL="0">
              <a:spcAft>
                <a:spcPts val="300"/>
              </a:spcAft>
              <a:buNone/>
            </a:pPr>
            <a:r>
              <a:rPr lang="en-US" sz="1400" b="1" dirty="0">
                <a:solidFill>
                  <a:schemeClr val="bg2"/>
                </a:solidFill>
              </a:rPr>
              <a:t>of detected players on the right team</a:t>
            </a:r>
            <a:endParaRPr lang="en-US" sz="1800" dirty="0"/>
          </a:p>
          <a:p>
            <a:pPr indent="0" marL="0">
              <a:spcAft>
                <a:spcPts val="300"/>
              </a:spcAft>
              <a:buNone/>
            </a:pPr>
            <a:r>
              <a:rPr lang="en-US" sz="1400" dirty="0">
                <a:solidFill>
                  <a:schemeClr val="bg1"/>
                </a:solidFill>
              </a:rPr>
              <a:t>Attack direction is right on all 8 halves that could be checked. The ball is located in a median 64% of live play.</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5 · NAMING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Can we read the number on a shirt?</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A shirt number names the player, but in most thumbnails it cannot be read: the player faces the camera, is far away or is turned. Reading every one would produce confident wrong numbers.</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USED AS RELEASED</a:t>
            </a:r>
            <a:endParaRPr lang="en-US" sz="1800" dirty="0"/>
          </a:p>
          <a:p>
            <a:pPr indent="0" marL="0">
              <a:spcAft>
                <a:spcPts val="400"/>
              </a:spcAft>
              <a:buNone/>
            </a:pPr>
            <a:r>
              <a:rPr lang="en-US" sz="2400" b="1" dirty="0">
                <a:solidFill>
                  <a:schemeClr val="tx1"/>
                </a:solidFill>
              </a:rPr>
              <a:t>ResNet-34 legibility check + PARSeq reader</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The torso crop of each tracked player, as a thumbnail.</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SoccerNet jersey-number images, from the original authors. Used as released.</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Cut the torso from the player box and scale it to a thumbnail.</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A ResNet-34 decides whether a number is readable at all.</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PARSeq reads the digits. Readings from one track are combined into one answer.</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80.3%</a:t>
            </a:r>
            <a:endParaRPr lang="en-US" sz="1800" dirty="0"/>
          </a:p>
          <a:p>
            <a:pPr indent="0" marL="0">
              <a:spcAft>
                <a:spcPts val="300"/>
              </a:spcAft>
              <a:buNone/>
            </a:pPr>
            <a:r>
              <a:rPr lang="en-US" sz="1400" b="1" dirty="0">
                <a:solidFill>
                  <a:schemeClr val="bg2"/>
                </a:solidFill>
              </a:rPr>
              <a:t>of 1,211 tracklets right</a:t>
            </a:r>
            <a:endParaRPr lang="en-US" sz="1800" dirty="0"/>
          </a:p>
          <a:p>
            <a:pPr indent="0" marL="0">
              <a:spcAft>
                <a:spcPts val="300"/>
              </a:spcAft>
              <a:buNone/>
            </a:pPr>
            <a:r>
              <a:rPr lang="en-US" sz="1400" dirty="0">
                <a:solidFill>
                  <a:schemeClr val="bg1"/>
                </a:solidFill>
              </a:rPr>
              <a:t>Counting “not visible” as right. 76.8% of the tracklets with a readable number are read correctly.</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6 · NAMING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name a player whose number is hidden?</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A number can be read for only 38% of tracklets. Team-mates wear the same kit, and goalkeepers wear a kit that matches neither team, so colour alone does not separate players.</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FINE-TUNED BY US</a:t>
            </a:r>
            <a:endParaRPr lang="en-US" sz="1800" dirty="0"/>
          </a:p>
          <a:p>
            <a:pPr indent="0" marL="0">
              <a:spcAft>
                <a:spcPts val="400"/>
              </a:spcAft>
              <a:buNone/>
            </a:pPr>
            <a:r>
              <a:rPr lang="en-US" sz="2400" b="1" dirty="0">
                <a:solidFill>
                  <a:schemeClr val="tx1"/>
                </a:solidFill>
              </a:rPr>
              <a:t>CLIP ViT-B/16 identity model</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224 × 224 thumbnails of each tracked player.</a:t>
            </a:r>
            <a:endParaRPr lang="en-US" sz="1800" dirty="0"/>
          </a:p>
          <a:p>
            <a:pPr indent="0" marL="0">
              <a:spcAft>
                <a:spcPts val="400"/>
              </a:spcAft>
              <a:buNone/>
            </a:pPr>
            <a:r>
              <a:rPr lang="en-US" sz="1500" b="1" dirty="0">
                <a:solidFill>
                  <a:schemeClr val="accent2"/>
                </a:solidFill>
              </a:rPr>
              <a:t>Trained on: </a:t>
            </a:r>
            <a:pPr indent="0" marL="0">
              <a:spcAft>
                <a:spcPts val="400"/>
              </a:spcAft>
              <a:buNone/>
            </a:pPr>
            <a:r>
              <a:rPr lang="en-US" sz="1500" dirty="0">
                <a:solidFill>
                  <a:schemeClr val="tx1"/>
                </a:solidFill>
              </a:rPr>
              <a:t>48 FOOTPASS games: 6.0 million thumbnails of 1,485 players with true numbers, identities and goalkeeper flags.</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One CLIP ViT-B/16 network takes a 224 × 224 thumbnail.</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Two digit heads read the tens and units digits separately.</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An appearance head groups one player’s thumbnails; a goalkeeper head flags keepers.</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98.3%</a:t>
            </a:r>
            <a:endParaRPr lang="en-US" sz="1800" dirty="0"/>
          </a:p>
          <a:p>
            <a:pPr indent="0" marL="0">
              <a:spcAft>
                <a:spcPts val="300"/>
              </a:spcAft>
              <a:buNone/>
            </a:pPr>
            <a:r>
              <a:rPr lang="en-US" sz="1400" b="1" dirty="0">
                <a:solidFill>
                  <a:schemeClr val="bg2"/>
                </a:solidFill>
              </a:rPr>
              <a:t>of tracklets matched to the right player</a:t>
            </a:r>
            <a:endParaRPr lang="en-US" sz="1800" dirty="0"/>
          </a:p>
          <a:p>
            <a:pPr indent="0" marL="0">
              <a:spcAft>
                <a:spcPts val="300"/>
              </a:spcAft>
              <a:buNone/>
            </a:pPr>
            <a:r>
              <a:rPr lang="en-US" sz="1400" dirty="0">
                <a:solidFill>
                  <a:schemeClr val="bg1"/>
                </a:solidFill>
              </a:rPr>
              <a:t>Goalkeepers found with 89.9% recall at 99.0% precision. Learning digits only from readable thumbnails lifted the right-number rate from 74% to 88%.</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7 · NAMING</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keep a name across camera cuts?</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Every camera cut ends all tracks, so a player comes back as a new, unnamed track. Names have to be rebuilt after each cut from up to 24 thumbnails per track, without joining two players who are on screen together.</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FINE-TUNED BY US</a:t>
            </a:r>
            <a:endParaRPr lang="en-US" sz="1800" dirty="0"/>
          </a:p>
          <a:p>
            <a:pPr indent="0" marL="0">
              <a:spcAft>
                <a:spcPts val="400"/>
              </a:spcAft>
              <a:buNone/>
            </a:pPr>
            <a:r>
              <a:rPr lang="en-US" sz="2400" b="1" dirty="0">
                <a:solidFill>
                  <a:schemeClr val="tx1"/>
                </a:solidFill>
              </a:rPr>
              <a:t>Grouping and naming rules</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Up to 24 thumbnails per track, read by the identity model.</a:t>
            </a:r>
            <a:endParaRPr lang="en-US" sz="1800" dirty="0"/>
          </a:p>
          <a:p>
            <a:pPr indent="0" marL="0">
              <a:spcAft>
                <a:spcPts val="400"/>
              </a:spcAft>
              <a:buNone/>
            </a:pPr>
            <a:r>
              <a:rPr lang="en-US" sz="1500" b="1" dirty="0">
                <a:solidFill>
                  <a:schemeClr val="accent2"/>
                </a:solidFill>
              </a:rPr>
              <a:t>Trained on: </a:t>
            </a:r>
            <a:pPr indent="0" marL="0">
              <a:spcAft>
                <a:spcPts val="400"/>
              </a:spcAft>
              <a:buNone/>
            </a:pPr>
            <a:r>
              <a:rPr lang="en-US" sz="1500" dirty="0">
                <a:solidFill>
                  <a:schemeClr val="tx1"/>
                </a:solidFill>
              </a:rPr>
              <a:t>No extra training. Rules tuned on 49 SoccerNet tracking clips and checked on FOOTPASS.</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Cut up to 24 thumbnails per track and combine their digit votes, weighted by confidence.</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Group segments into players by appearance, never joining two seen together.</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Name a group when one number holds at least 85% of its votes.</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95%</a:t>
            </a:r>
            <a:endParaRPr lang="en-US" sz="1800" dirty="0"/>
          </a:p>
          <a:p>
            <a:pPr indent="0" marL="0">
              <a:spcAft>
                <a:spcPts val="300"/>
              </a:spcAft>
              <a:buNone/>
            </a:pPr>
            <a:r>
              <a:rPr lang="en-US" sz="1400" b="1" dirty="0">
                <a:solidFill>
                  <a:schemeClr val="bg2"/>
                </a:solidFill>
              </a:rPr>
              <a:t>of the names given are right</a:t>
            </a:r>
            <a:endParaRPr lang="en-US" sz="1800" dirty="0"/>
          </a:p>
          <a:p>
            <a:pPr indent="0" marL="0">
              <a:spcAft>
                <a:spcPts val="300"/>
              </a:spcAft>
              <a:buNone/>
            </a:pPr>
            <a:r>
              <a:rPr lang="en-US" sz="1400" dirty="0">
                <a:solidFill>
                  <a:schemeClr val="bg1"/>
                </a:solidFill>
              </a:rPr>
              <a:t>The right player is named for 52.3% of visible time. The unnamed half is not lost: unnumbered players keep their statistics.</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8 · EVENTS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find passes, shots and tackles?</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Some events leave little trace in positions: a tackle looks like any other touch, and the ball is often missed. The video itself shows what happened, so the model has to watch it.</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FINE-TUNED BY US</a:t>
            </a:r>
            <a:endParaRPr lang="en-US" sz="1800" dirty="0"/>
          </a:p>
          <a:p>
            <a:pPr indent="0" marL="0">
              <a:spcAft>
                <a:spcPts val="400"/>
              </a:spcAft>
              <a:buNone/>
            </a:pPr>
            <a:r>
              <a:rPr lang="en-US" sz="2400" b="1" dirty="0">
                <a:solidFill>
                  <a:schemeClr val="tx1"/>
                </a:solidFill>
              </a:rPr>
              <a:t>T-DEED action spotter</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8-second video clips: 100 frames at 12.5 a second, 796 × 448 px.</a:t>
            </a:r>
            <a:endParaRPr lang="en-US" sz="1800" dirty="0"/>
          </a:p>
          <a:p>
            <a:pPr indent="0" marL="0">
              <a:spcAft>
                <a:spcPts val="400"/>
              </a:spcAft>
              <a:buNone/>
            </a:pPr>
            <a:r>
              <a:rPr lang="en-US" sz="1500" b="1" dirty="0">
                <a:solidFill>
                  <a:schemeClr val="accent2"/>
                </a:solidFill>
              </a:rPr>
              <a:t>Trained on: </a:t>
            </a:r>
            <a:pPr indent="0" marL="0">
              <a:spcAft>
                <a:spcPts val="400"/>
              </a:spcAft>
              <a:buNone/>
            </a:pPr>
            <a:r>
              <a:rPr lang="en-US" sz="1500" dirty="0">
                <a:solidFill>
                  <a:schemeClr val="tx1"/>
                </a:solidFill>
              </a:rPr>
              <a:t>SoccerNet ball-action games plus 48 FOOTPASS games, with action labels.</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Watch 8-second clips: 100 frames at 12.5 a second.</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An image network per frame and a temporal encoder-decoder place each action on the right frame.</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Heads give one of 12 actions, its exact moment and the team. Overlapping clips are merged.</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0.628</a:t>
            </a:r>
            <a:endParaRPr lang="en-US" sz="1800" dirty="0"/>
          </a:p>
          <a:p>
            <a:pPr indent="0" marL="0">
              <a:spcAft>
                <a:spcPts val="300"/>
              </a:spcAft>
              <a:buNone/>
            </a:pPr>
            <a:r>
              <a:rPr lang="en-US" sz="1400" b="1" dirty="0">
                <a:solidFill>
                  <a:schemeClr val="bg2"/>
                </a:solidFill>
              </a:rPr>
              <a:t>mean average precision, unseen games</a:t>
            </a:r>
            <a:endParaRPr lang="en-US" sz="1800" dirty="0"/>
          </a:p>
          <a:p>
            <a:pPr indent="0" marL="0">
              <a:spcAft>
                <a:spcPts val="300"/>
              </a:spcAft>
              <a:buNone/>
            </a:pPr>
            <a:r>
              <a:rPr lang="en-US" sz="1400" dirty="0">
                <a:solidFill>
                  <a:schemeClr val="bg1"/>
                </a:solidFill>
              </a:rPr>
              <a:t>Pass 0.93, carry 0.90, shot 0.66, tackle 0.10. Fine-tuning raised it from 0.606.</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9 · EVENTS FROM POSITIONS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do we count passes and carries from positions?</a:t>
            </a:r>
            <a:endParaRPr lang="en-US" sz="3600" dirty="0"/>
          </a:p>
        </p:txBody>
      </p:sp>
      <p:sp>
        <p:nvSpPr>
          <p:cNvPr id="5" name="Problem card"/>
          <p:cNvSpPr/>
          <p:nvPr/>
        </p:nvSpPr>
        <p:spPr>
          <a:xfrm>
            <a:off x="822960" y="1572768"/>
            <a:ext cx="5180076" cy="1554480"/>
          </a:xfrm>
          <a:prstGeom prst="roundRect">
            <a:avLst>
              <a:gd name="adj" fmla="val 7059"/>
            </a:avLst>
          </a:prstGeom>
          <a:solidFill>
            <a:schemeClr val="bg2"/>
          </a:solidFill>
          <a:ln/>
        </p:spPr>
      </p:sp>
      <p:sp>
        <p:nvSpPr>
          <p:cNvPr id="6" name="Problem text"/>
          <p:cNvSpPr txBox="1"/>
          <p:nvPr/>
        </p:nvSpPr>
        <p:spPr>
          <a:xfrm>
            <a:off x="1078992" y="1664208"/>
            <a:ext cx="4668012" cy="137160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2"/>
                </a:solidFill>
              </a:rPr>
              <a:t>THE PROBLEM</a:t>
            </a:r>
            <a:endParaRPr lang="en-US" sz="1800" dirty="0"/>
          </a:p>
          <a:p>
            <a:pPr indent="0" marL="0">
              <a:spcAft>
                <a:spcPts val="400"/>
              </a:spcAft>
              <a:buNone/>
            </a:pPr>
            <a:r>
              <a:rPr lang="en-US" sz="1800" dirty="0">
                <a:solidFill>
                  <a:schemeClr val="tx1"/>
                </a:solidFill>
              </a:rPr>
              <a:t>Positions give only dots and a ball path. Nothing says what counts as a touch, a pass or a sprint.</a:t>
            </a:r>
            <a:endParaRPr lang="en-US" sz="1800" dirty="0"/>
          </a:p>
        </p:txBody>
      </p:sp>
      <p:sp>
        <p:nvSpPr>
          <p:cNvPr id="7" name="Answer card"/>
          <p:cNvSpPr/>
          <p:nvPr/>
        </p:nvSpPr>
        <p:spPr>
          <a:xfrm>
            <a:off x="6185916" y="1572768"/>
            <a:ext cx="5180076" cy="1554480"/>
          </a:xfrm>
          <a:prstGeom prst="roundRect">
            <a:avLst>
              <a:gd name="adj" fmla="val 7059"/>
            </a:avLst>
          </a:prstGeom>
          <a:solidFill>
            <a:schemeClr val="bg2"/>
          </a:solidFill>
          <a:ln/>
        </p:spPr>
      </p:sp>
      <p:sp>
        <p:nvSpPr>
          <p:cNvPr id="8" name="Answer text"/>
          <p:cNvSpPr txBox="1"/>
          <p:nvPr/>
        </p:nvSpPr>
        <p:spPr>
          <a:xfrm>
            <a:off x="6441948" y="1645920"/>
            <a:ext cx="4668012" cy="1417320"/>
          </a:xfrm>
          <a:prstGeom prst="rect">
            <a:avLst/>
          </a:prstGeom>
          <a:noFill/>
          <a:ln/>
        </p:spPr>
        <p:txBody>
          <a:bodyPr wrap="square" lIns="0" tIns="0" rIns="0" bIns="0" rtlCol="0" anchor="t"/>
          <a:lstStyle/>
          <a:p>
            <a:pPr indent="0" marL="0">
              <a:spcAft>
                <a:spcPts val="200"/>
              </a:spcAft>
              <a:buNone/>
            </a:pPr>
            <a:r>
              <a:rPr lang="en-US" sz="1100" b="1" spc="200" kern="0" dirty="0">
                <a:solidFill>
                  <a:schemeClr val="accent1"/>
                </a:solidFill>
              </a:rPr>
              <a:t>OUR ANSWER  ·  HAND-WRITTEN RULES</a:t>
            </a:r>
            <a:endParaRPr lang="en-US" sz="1800" dirty="0"/>
          </a:p>
          <a:p>
            <a:pPr indent="0" marL="0">
              <a:spcAft>
                <a:spcPts val="200"/>
              </a:spcAft>
              <a:buNone/>
            </a:pPr>
            <a:r>
              <a:rPr lang="en-US" sz="2000" b="1" dirty="0">
                <a:solidFill>
                  <a:schemeClr val="tx1"/>
                </a:solidFill>
              </a:rPr>
              <a:t>Event rules over positions</a:t>
            </a:r>
            <a:endParaRPr lang="en-US" sz="1800" dirty="0"/>
          </a:p>
          <a:p>
            <a:pPr indent="0" marL="0">
              <a:spcAft>
                <a:spcPts val="200"/>
              </a:spcAft>
              <a:buNone/>
            </a:pPr>
            <a:r>
              <a:rPr lang="en-US" sz="1300" b="1" dirty="0">
                <a:solidFill>
                  <a:schemeClr val="accent1"/>
                </a:solidFill>
              </a:rPr>
              <a:t>Data it uses: </a:t>
            </a:r>
            <a:pPr indent="0" marL="0">
              <a:spcAft>
                <a:spcPts val="200"/>
              </a:spcAft>
              <a:buNone/>
            </a:pPr>
            <a:r>
              <a:rPr lang="en-US" sz="1300" dirty="0">
                <a:solidFill>
                  <a:schemeClr val="tx1"/>
                </a:solidFill>
              </a:rPr>
              <a:t>pitch positions of every player and the ball path, in metres, 12.5 times a second.</a:t>
            </a:r>
            <a:endParaRPr lang="en-US" sz="1800" dirty="0"/>
          </a:p>
          <a:p>
            <a:pPr indent="0" marL="0">
              <a:spcAft>
                <a:spcPts val="200"/>
              </a:spcAft>
              <a:buNone/>
            </a:pPr>
            <a:r>
              <a:rPr lang="en-US" sz="1300" b="1" dirty="0">
                <a:solidFill>
                  <a:schemeClr val="tx2"/>
                </a:solidFill>
              </a:rPr>
              <a:t>Trained on: </a:t>
            </a:r>
            <a:pPr indent="0" marL="0">
              <a:spcAft>
                <a:spcPts val="200"/>
              </a:spcAft>
              <a:buNone/>
            </a:pPr>
            <a:r>
              <a:rPr lang="en-US" sz="1300" dirty="0">
                <a:solidFill>
                  <a:schemeClr val="tx1"/>
                </a:solidFill>
              </a:rPr>
              <a:t>nothing. The numbers were set and checked on one annotated SoccerTrack match.</a:t>
            </a:r>
            <a:endParaRPr lang="en-US" sz="1800" dirty="0"/>
          </a:p>
        </p:txBody>
      </p:sp>
      <p:sp>
        <p:nvSpPr>
          <p:cNvPr id="9" name="Rule card 1"/>
          <p:cNvSpPr/>
          <p:nvPr/>
        </p:nvSpPr>
        <p:spPr>
          <a:xfrm>
            <a:off x="822960" y="3273552"/>
            <a:ext cx="3392424" cy="1234440"/>
          </a:xfrm>
          <a:prstGeom prst="roundRect">
            <a:avLst>
              <a:gd name="adj" fmla="val 8889"/>
            </a:avLst>
          </a:prstGeom>
          <a:solidFill>
            <a:schemeClr val="bg2"/>
          </a:solidFill>
          <a:ln/>
        </p:spPr>
      </p:sp>
      <p:sp>
        <p:nvSpPr>
          <p:cNvPr id="10" name="Rule label 1"/>
          <p:cNvSpPr txBox="1"/>
          <p:nvPr/>
        </p:nvSpPr>
        <p:spPr>
          <a:xfrm>
            <a:off x="1051560" y="3410712"/>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TOUCH</a:t>
            </a:r>
            <a:endParaRPr lang="en-US" sz="1200" dirty="0"/>
          </a:p>
        </p:txBody>
      </p:sp>
      <p:sp>
        <p:nvSpPr>
          <p:cNvPr id="11" name="Rule text 1"/>
          <p:cNvSpPr txBox="1"/>
          <p:nvPr/>
        </p:nvSpPr>
        <p:spPr>
          <a:xfrm>
            <a:off x="1051560" y="3776472"/>
            <a:ext cx="2935224" cy="640080"/>
          </a:xfrm>
          <a:prstGeom prst="rect">
            <a:avLst/>
          </a:prstGeom>
          <a:noFill/>
          <a:ln/>
        </p:spPr>
        <p:txBody>
          <a:bodyPr wrap="square" lIns="0" tIns="0" rIns="0" bIns="0" rtlCol="0" anchor="t"/>
          <a:lstStyle/>
          <a:p>
            <a:pPr indent="0" marL="0">
              <a:buNone/>
            </a:pPr>
            <a:r>
              <a:rPr lang="en-US" sz="1500" dirty="0">
                <a:solidFill>
                  <a:schemeClr val="tx1"/>
                </a:solidFill>
              </a:rPr>
              <a:t>The ball’s speed changes by at least 4 m/s while a player is within 2 m of it.</a:t>
            </a:r>
            <a:endParaRPr lang="en-US" sz="1500" dirty="0"/>
          </a:p>
        </p:txBody>
      </p:sp>
      <p:sp>
        <p:nvSpPr>
          <p:cNvPr id="12" name="Rule card 2"/>
          <p:cNvSpPr/>
          <p:nvPr/>
        </p:nvSpPr>
        <p:spPr>
          <a:xfrm>
            <a:off x="4398264" y="3273552"/>
            <a:ext cx="3392424" cy="1234440"/>
          </a:xfrm>
          <a:prstGeom prst="roundRect">
            <a:avLst>
              <a:gd name="adj" fmla="val 8889"/>
            </a:avLst>
          </a:prstGeom>
          <a:solidFill>
            <a:schemeClr val="bg2"/>
          </a:solidFill>
          <a:ln/>
        </p:spPr>
      </p:sp>
      <p:sp>
        <p:nvSpPr>
          <p:cNvPr id="13" name="Rule label 2"/>
          <p:cNvSpPr txBox="1"/>
          <p:nvPr/>
        </p:nvSpPr>
        <p:spPr>
          <a:xfrm>
            <a:off x="4626864" y="3410712"/>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POSSESSION</a:t>
            </a:r>
            <a:endParaRPr lang="en-US" sz="1200" dirty="0"/>
          </a:p>
        </p:txBody>
      </p:sp>
      <p:sp>
        <p:nvSpPr>
          <p:cNvPr id="14" name="Rule text 2"/>
          <p:cNvSpPr txBox="1"/>
          <p:nvPr/>
        </p:nvSpPr>
        <p:spPr>
          <a:xfrm>
            <a:off x="4626864" y="3776472"/>
            <a:ext cx="2935224" cy="640080"/>
          </a:xfrm>
          <a:prstGeom prst="rect">
            <a:avLst/>
          </a:prstGeom>
          <a:noFill/>
          <a:ln/>
        </p:spPr>
        <p:txBody>
          <a:bodyPr wrap="square" lIns="0" tIns="0" rIns="0" bIns="0" rtlCol="0" anchor="t"/>
          <a:lstStyle/>
          <a:p>
            <a:pPr indent="0" marL="0">
              <a:buNone/>
            </a:pPr>
            <a:r>
              <a:rPr lang="en-US" sz="1500" dirty="0">
                <a:solidFill>
                  <a:schemeClr val="tx1"/>
                </a:solidFill>
              </a:rPr>
              <a:t>Touches by one player less than 2.5 s apart form one possession spell.</a:t>
            </a:r>
            <a:endParaRPr lang="en-US" sz="1500" dirty="0"/>
          </a:p>
        </p:txBody>
      </p:sp>
      <p:sp>
        <p:nvSpPr>
          <p:cNvPr id="15" name="Rule card 3"/>
          <p:cNvSpPr/>
          <p:nvPr/>
        </p:nvSpPr>
        <p:spPr>
          <a:xfrm>
            <a:off x="7973568" y="3273552"/>
            <a:ext cx="3392424" cy="1234440"/>
          </a:xfrm>
          <a:prstGeom prst="roundRect">
            <a:avLst>
              <a:gd name="adj" fmla="val 8889"/>
            </a:avLst>
          </a:prstGeom>
          <a:solidFill>
            <a:schemeClr val="bg2"/>
          </a:solidFill>
          <a:ln/>
        </p:spPr>
      </p:sp>
      <p:sp>
        <p:nvSpPr>
          <p:cNvPr id="16" name="Rule label 3"/>
          <p:cNvSpPr txBox="1"/>
          <p:nvPr/>
        </p:nvSpPr>
        <p:spPr>
          <a:xfrm>
            <a:off x="8202168" y="3410712"/>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PASS</a:t>
            </a:r>
            <a:endParaRPr lang="en-US" sz="1200" dirty="0"/>
          </a:p>
        </p:txBody>
      </p:sp>
      <p:sp>
        <p:nvSpPr>
          <p:cNvPr id="17" name="Rule text 3"/>
          <p:cNvSpPr txBox="1"/>
          <p:nvPr/>
        </p:nvSpPr>
        <p:spPr>
          <a:xfrm>
            <a:off x="8202168" y="3776472"/>
            <a:ext cx="2935224" cy="640080"/>
          </a:xfrm>
          <a:prstGeom prst="rect">
            <a:avLst/>
          </a:prstGeom>
          <a:noFill/>
          <a:ln/>
        </p:spPr>
        <p:txBody>
          <a:bodyPr wrap="square" lIns="0" tIns="0" rIns="0" bIns="0" rtlCol="0" anchor="t"/>
          <a:lstStyle/>
          <a:p>
            <a:pPr indent="0" marL="0">
              <a:buNone/>
            </a:pPr>
            <a:r>
              <a:rPr lang="en-US" sz="1500" dirty="0">
                <a:solidFill>
                  <a:schemeClr val="tx1"/>
                </a:solidFill>
              </a:rPr>
              <a:t>The gap between two spells in one camera view, at most 4 s. Same team: completed. Other team: intercepted.</a:t>
            </a:r>
            <a:endParaRPr lang="en-US" sz="1500" dirty="0"/>
          </a:p>
        </p:txBody>
      </p:sp>
      <p:sp>
        <p:nvSpPr>
          <p:cNvPr id="18" name="Rule card 4"/>
          <p:cNvSpPr/>
          <p:nvPr/>
        </p:nvSpPr>
        <p:spPr>
          <a:xfrm>
            <a:off x="822960" y="4626864"/>
            <a:ext cx="3392424" cy="1234440"/>
          </a:xfrm>
          <a:prstGeom prst="roundRect">
            <a:avLst>
              <a:gd name="adj" fmla="val 8889"/>
            </a:avLst>
          </a:prstGeom>
          <a:solidFill>
            <a:schemeClr val="bg2"/>
          </a:solidFill>
          <a:ln/>
        </p:spPr>
      </p:sp>
      <p:sp>
        <p:nvSpPr>
          <p:cNvPr id="19" name="Rule label 4"/>
          <p:cNvSpPr txBox="1"/>
          <p:nvPr/>
        </p:nvSpPr>
        <p:spPr>
          <a:xfrm>
            <a:off x="1051560" y="4764024"/>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CARRY</a:t>
            </a:r>
            <a:endParaRPr lang="en-US" sz="1200" dirty="0"/>
          </a:p>
        </p:txBody>
      </p:sp>
      <p:sp>
        <p:nvSpPr>
          <p:cNvPr id="20" name="Rule text 4"/>
          <p:cNvSpPr txBox="1"/>
          <p:nvPr/>
        </p:nvSpPr>
        <p:spPr>
          <a:xfrm>
            <a:off x="1051560" y="5129784"/>
            <a:ext cx="2935224" cy="640080"/>
          </a:xfrm>
          <a:prstGeom prst="rect">
            <a:avLst/>
          </a:prstGeom>
          <a:noFill/>
          <a:ln/>
        </p:spPr>
        <p:txBody>
          <a:bodyPr wrap="square" lIns="0" tIns="0" rIns="0" bIns="0" rtlCol="0" anchor="t"/>
          <a:lstStyle/>
          <a:p>
            <a:pPr indent="0" marL="0">
              <a:buNone/>
            </a:pPr>
            <a:r>
              <a:rPr lang="en-US" sz="1500" dirty="0">
                <a:solidFill>
                  <a:schemeClr val="tx1"/>
                </a:solidFill>
              </a:rPr>
              <a:t>A spell in which the player moved the ball at least 2 m between his first and last touch.</a:t>
            </a:r>
            <a:endParaRPr lang="en-US" sz="1500" dirty="0"/>
          </a:p>
        </p:txBody>
      </p:sp>
      <p:sp>
        <p:nvSpPr>
          <p:cNvPr id="21" name="Rule card 5"/>
          <p:cNvSpPr/>
          <p:nvPr/>
        </p:nvSpPr>
        <p:spPr>
          <a:xfrm>
            <a:off x="4398264" y="4626864"/>
            <a:ext cx="3392424" cy="1234440"/>
          </a:xfrm>
          <a:prstGeom prst="roundRect">
            <a:avLst>
              <a:gd name="adj" fmla="val 8889"/>
            </a:avLst>
          </a:prstGeom>
          <a:solidFill>
            <a:schemeClr val="bg2"/>
          </a:solidFill>
          <a:ln/>
        </p:spPr>
      </p:sp>
      <p:sp>
        <p:nvSpPr>
          <p:cNvPr id="22" name="Rule label 5"/>
          <p:cNvSpPr txBox="1"/>
          <p:nvPr/>
        </p:nvSpPr>
        <p:spPr>
          <a:xfrm>
            <a:off x="4626864" y="4764024"/>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SHOTS</a:t>
            </a:r>
            <a:endParaRPr lang="en-US" sz="1200" dirty="0"/>
          </a:p>
        </p:txBody>
      </p:sp>
      <p:sp>
        <p:nvSpPr>
          <p:cNvPr id="23" name="Rule text 5"/>
          <p:cNvSpPr txBox="1"/>
          <p:nvPr/>
        </p:nvSpPr>
        <p:spPr>
          <a:xfrm>
            <a:off x="4626864" y="5129784"/>
            <a:ext cx="2935224" cy="640080"/>
          </a:xfrm>
          <a:prstGeom prst="rect">
            <a:avLst/>
          </a:prstGeom>
          <a:noFill/>
          <a:ln/>
        </p:spPr>
        <p:txBody>
          <a:bodyPr wrap="square" lIns="0" tIns="0" rIns="0" bIns="0" rtlCol="0" anchor="t"/>
          <a:lstStyle/>
          <a:p>
            <a:pPr indent="0" marL="0">
              <a:buNone/>
            </a:pPr>
            <a:r>
              <a:rPr lang="en-US" sz="1500" dirty="0">
                <a:solidFill>
                  <a:schemeClr val="tx1"/>
                </a:solidFill>
              </a:rPr>
              <a:t>Not a rule: the video model (T-DEED) spots shots and credits them to the player at the ball.</a:t>
            </a:r>
            <a:endParaRPr lang="en-US" sz="1500" dirty="0"/>
          </a:p>
        </p:txBody>
      </p:sp>
      <p:sp>
        <p:nvSpPr>
          <p:cNvPr id="24" name="Rule card 6"/>
          <p:cNvSpPr/>
          <p:nvPr/>
        </p:nvSpPr>
        <p:spPr>
          <a:xfrm>
            <a:off x="7973568" y="4626864"/>
            <a:ext cx="3392424" cy="1234440"/>
          </a:xfrm>
          <a:prstGeom prst="roundRect">
            <a:avLst>
              <a:gd name="adj" fmla="val 8889"/>
            </a:avLst>
          </a:prstGeom>
          <a:solidFill>
            <a:schemeClr val="bg2"/>
          </a:solidFill>
          <a:ln/>
        </p:spPr>
      </p:sp>
      <p:sp>
        <p:nvSpPr>
          <p:cNvPr id="25" name="Rule label 6"/>
          <p:cNvSpPr txBox="1"/>
          <p:nvPr/>
        </p:nvSpPr>
        <p:spPr>
          <a:xfrm>
            <a:off x="8202168" y="4764024"/>
            <a:ext cx="293522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SPRINT</a:t>
            </a:r>
            <a:endParaRPr lang="en-US" sz="1200" dirty="0"/>
          </a:p>
        </p:txBody>
      </p:sp>
      <p:sp>
        <p:nvSpPr>
          <p:cNvPr id="26" name="Rule text 6"/>
          <p:cNvSpPr txBox="1"/>
          <p:nvPr/>
        </p:nvSpPr>
        <p:spPr>
          <a:xfrm>
            <a:off x="8202168" y="5129784"/>
            <a:ext cx="2935224" cy="640080"/>
          </a:xfrm>
          <a:prstGeom prst="rect">
            <a:avLst/>
          </a:prstGeom>
          <a:noFill/>
          <a:ln/>
        </p:spPr>
        <p:txBody>
          <a:bodyPr wrap="square" lIns="0" tIns="0" rIns="0" bIns="0" rtlCol="0" anchor="t"/>
          <a:lstStyle/>
          <a:p>
            <a:pPr indent="0" marL="0">
              <a:buNone/>
            </a:pPr>
            <a:r>
              <a:rPr lang="en-US" sz="1500" dirty="0">
                <a:solidFill>
                  <a:schemeClr val="tx1"/>
                </a:solidFill>
              </a:rPr>
              <a:t>At least 3 steps in a row, about 1.2 s, at 25.2 km/h or faster.</a:t>
            </a:r>
            <a:endParaRPr lang="en-US" sz="15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PROBLEM 10 · STATISTICS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far and how fast did each player run?</a:t>
            </a:r>
            <a:endParaRPr lang="en-US" sz="3600" dirty="0"/>
          </a:p>
        </p:txBody>
      </p:sp>
      <p:sp>
        <p:nvSpPr>
          <p:cNvPr id="5" name="Problem card"/>
          <p:cNvSpPr/>
          <p:nvPr/>
        </p:nvSpPr>
        <p:spPr>
          <a:xfrm>
            <a:off x="822960" y="1600200"/>
            <a:ext cx="5189220" cy="2286000"/>
          </a:xfrm>
          <a:prstGeom prst="roundRect">
            <a:avLst>
              <a:gd name="adj" fmla="val 4800"/>
            </a:avLst>
          </a:prstGeom>
          <a:solidFill>
            <a:schemeClr val="bg2"/>
          </a:solidFill>
          <a:ln/>
        </p:spPr>
      </p:sp>
      <p:sp>
        <p:nvSpPr>
          <p:cNvPr id="6" name="Label The problem"/>
          <p:cNvSpPr txBox="1"/>
          <p:nvPr/>
        </p:nvSpPr>
        <p:spPr>
          <a:xfrm>
            <a:off x="1078992"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PROBLEM</a:t>
            </a:r>
            <a:endParaRPr lang="en-US" sz="1100" dirty="0"/>
          </a:p>
        </p:txBody>
      </p:sp>
      <p:sp>
        <p:nvSpPr>
          <p:cNvPr id="7" name="Problem text"/>
          <p:cNvSpPr txBox="1"/>
          <p:nvPr/>
        </p:nvSpPr>
        <p:spPr>
          <a:xfrm>
            <a:off x="1078992" y="2103120"/>
            <a:ext cx="4677156" cy="1645920"/>
          </a:xfrm>
          <a:prstGeom prst="rect">
            <a:avLst/>
          </a:prstGeom>
          <a:noFill/>
          <a:ln/>
        </p:spPr>
        <p:txBody>
          <a:bodyPr wrap="square" lIns="0" tIns="0" rIns="0" bIns="0" rtlCol="0" anchor="t"/>
          <a:lstStyle/>
          <a:p>
            <a:pPr indent="0" marL="0">
              <a:buNone/>
            </a:pPr>
            <a:r>
              <a:rPr lang="en-US" sz="1800" dirty="0">
                <a:solidFill>
                  <a:schemeClr val="tx1"/>
                </a:solidFill>
              </a:rPr>
              <a:t>Raw pitch positions jitter by decimetres, which at 12.5 samples a second looks like fast running. Summing them directly would overstate distance and invent sprints.</a:t>
            </a:r>
            <a:endParaRPr lang="en-US" sz="1800" dirty="0"/>
          </a:p>
        </p:txBody>
      </p:sp>
      <p:sp>
        <p:nvSpPr>
          <p:cNvPr id="8" name="Answer card"/>
          <p:cNvSpPr/>
          <p:nvPr/>
        </p:nvSpPr>
        <p:spPr>
          <a:xfrm>
            <a:off x="6176772" y="1600200"/>
            <a:ext cx="5189220" cy="2286000"/>
          </a:xfrm>
          <a:prstGeom prst="roundRect">
            <a:avLst>
              <a:gd name="adj" fmla="val 4800"/>
            </a:avLst>
          </a:prstGeom>
          <a:solidFill>
            <a:schemeClr val="bg2"/>
          </a:solidFill>
          <a:ln/>
        </p:spPr>
      </p:sp>
      <p:sp>
        <p:nvSpPr>
          <p:cNvPr id="9" name="Label Our answer"/>
          <p:cNvSpPr txBox="1"/>
          <p:nvPr/>
        </p:nvSpPr>
        <p:spPr>
          <a:xfrm>
            <a:off x="6432804" y="174650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ANSWER</a:t>
            </a:r>
            <a:endParaRPr lang="en-US" sz="1100" dirty="0"/>
          </a:p>
        </p:txBody>
      </p:sp>
      <p:sp>
        <p:nvSpPr>
          <p:cNvPr id="10" name="Answer text"/>
          <p:cNvSpPr txBox="1"/>
          <p:nvPr/>
        </p:nvSpPr>
        <p:spPr>
          <a:xfrm>
            <a:off x="6432804" y="2057400"/>
            <a:ext cx="4677156" cy="173736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HAND-WRITTEN</a:t>
            </a:r>
            <a:endParaRPr lang="en-US" sz="1800" dirty="0"/>
          </a:p>
          <a:p>
            <a:pPr indent="0" marL="0">
              <a:spcAft>
                <a:spcPts val="400"/>
              </a:spcAft>
              <a:buNone/>
            </a:pPr>
            <a:r>
              <a:rPr lang="en-US" sz="2400" b="1" dirty="0">
                <a:solidFill>
                  <a:schemeClr val="tx1"/>
                </a:solidFill>
              </a:rPr>
              <a:t>Smoothing and step rules</a:t>
            </a:r>
            <a:endParaRPr lang="en-US" sz="1800" dirty="0"/>
          </a:p>
          <a:p>
            <a:pPr indent="0" marL="0">
              <a:spcAft>
                <a:spcPts val="400"/>
              </a:spcAft>
              <a:buNone/>
            </a:pPr>
            <a:r>
              <a:rPr lang="en-US" sz="1500" b="1" dirty="0">
                <a:solidFill>
                  <a:schemeClr val="accent1"/>
                </a:solidFill>
              </a:rPr>
              <a:t>Data it uses: </a:t>
            </a:r>
            <a:pPr indent="0" marL="0">
              <a:spcAft>
                <a:spcPts val="400"/>
              </a:spcAft>
              <a:buNone/>
            </a:pPr>
            <a:r>
              <a:rPr lang="en-US" sz="1500" dirty="0">
                <a:solidFill>
                  <a:schemeClr val="tx1"/>
                </a:solidFill>
              </a:rPr>
              <a:t>Each player’s pitch positions in metres, 12.5 a second.</a:t>
            </a:r>
            <a:endParaRPr lang="en-US" sz="1800" dirty="0"/>
          </a:p>
          <a:p>
            <a:pPr indent="0" marL="0">
              <a:spcAft>
                <a:spcPts val="400"/>
              </a:spcAft>
              <a:buNone/>
            </a:pPr>
            <a:r>
              <a:rPr lang="en-US" sz="1500" b="1" dirty="0">
                <a:solidFill>
                  <a:schemeClr val="accent1"/>
                </a:solidFill>
              </a:rPr>
              <a:t>Trained on: </a:t>
            </a:r>
            <a:pPr indent="0" marL="0">
              <a:spcAft>
                <a:spcPts val="400"/>
              </a:spcAft>
              <a:buNone/>
            </a:pPr>
            <a:r>
              <a:rPr lang="en-US" sz="1500" dirty="0">
                <a:solidFill>
                  <a:schemeClr val="tx1"/>
                </a:solidFill>
              </a:rPr>
              <a:t>Nothing. Hand-written, no training data.</a:t>
            </a:r>
            <a:endParaRPr lang="en-US" sz="1800" dirty="0"/>
          </a:p>
        </p:txBody>
      </p:sp>
      <p:sp>
        <p:nvSpPr>
          <p:cNvPr id="11" name="How card"/>
          <p:cNvSpPr/>
          <p:nvPr/>
        </p:nvSpPr>
        <p:spPr>
          <a:xfrm>
            <a:off x="822960" y="4050792"/>
            <a:ext cx="5189220" cy="2011680"/>
          </a:xfrm>
          <a:prstGeom prst="roundRect">
            <a:avLst>
              <a:gd name="adj" fmla="val 5455"/>
            </a:avLst>
          </a:prstGeom>
          <a:solidFill>
            <a:schemeClr val="bg2"/>
          </a:solidFill>
          <a:ln/>
        </p:spPr>
      </p:sp>
      <p:sp>
        <p:nvSpPr>
          <p:cNvPr id="12" name="Label How it works"/>
          <p:cNvSpPr txBox="1"/>
          <p:nvPr/>
        </p:nvSpPr>
        <p:spPr>
          <a:xfrm>
            <a:off x="1078992" y="4197096"/>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3" name="How text"/>
          <p:cNvSpPr txBox="1"/>
          <p:nvPr/>
        </p:nvSpPr>
        <p:spPr>
          <a:xfrm>
            <a:off x="1078992" y="4553712"/>
            <a:ext cx="4677156" cy="141732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Smooth positions over 13 samples, about one second.</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Measure steps every 0.4 s; discard steps over 11 m/s as errors; sum into distance.</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A sprint is 3 steps in a row at 25.2 km/h or faster.</a:t>
            </a:r>
            <a:endParaRPr lang="en-US" sz="1400" dirty="0"/>
          </a:p>
        </p:txBody>
      </p:sp>
      <p:sp>
        <p:nvSpPr>
          <p:cNvPr id="14" name="Outcome card"/>
          <p:cNvSpPr/>
          <p:nvPr/>
        </p:nvSpPr>
        <p:spPr>
          <a:xfrm>
            <a:off x="6176772" y="4050792"/>
            <a:ext cx="5189220" cy="2011680"/>
          </a:xfrm>
          <a:prstGeom prst="roundRect">
            <a:avLst>
              <a:gd name="adj" fmla="val 5455"/>
            </a:avLst>
          </a:prstGeom>
          <a:solidFill>
            <a:schemeClr val="accent1"/>
          </a:solidFill>
          <a:ln/>
        </p:spPr>
      </p:sp>
      <p:sp>
        <p:nvSpPr>
          <p:cNvPr id="15" name="Label Outcome"/>
          <p:cNvSpPr txBox="1"/>
          <p:nvPr/>
        </p:nvSpPr>
        <p:spPr>
          <a:xfrm>
            <a:off x="6432804" y="4197096"/>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6" name="Outcome text"/>
          <p:cNvSpPr txBox="1"/>
          <p:nvPr/>
        </p:nvSpPr>
        <p:spPr>
          <a:xfrm>
            <a:off x="6432804" y="4507992"/>
            <a:ext cx="4677156" cy="1463040"/>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Per player</a:t>
            </a:r>
            <a:endParaRPr lang="en-US" sz="1800" dirty="0"/>
          </a:p>
          <a:p>
            <a:pPr indent="0" marL="0">
              <a:spcAft>
                <a:spcPts val="300"/>
              </a:spcAft>
              <a:buNone/>
            </a:pPr>
            <a:r>
              <a:rPr lang="en-US" sz="1400" b="1" dirty="0">
                <a:solidFill>
                  <a:schemeClr val="bg2"/>
                </a:solidFill>
              </a:rPr>
              <a:t>distance, speed zones, sprints</a:t>
            </a:r>
            <a:endParaRPr lang="en-US" sz="1800" dirty="0"/>
          </a:p>
          <a:p>
            <a:pPr indent="0" marL="0">
              <a:spcAft>
                <a:spcPts val="300"/>
              </a:spcAft>
              <a:buNone/>
            </a:pPr>
            <a:r>
              <a:rPr lang="en-US" sz="1400" dirty="0">
                <a:solidFill>
                  <a:schemeClr val="bg1"/>
                </a:solidFill>
              </a:rPr>
              <a:t>Counts cover only the time a player was on screen, so team totals are fuller than player totals.</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RECAP · USED AS RELEASED</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Four building blocks we did not train</a:t>
            </a:r>
            <a:endParaRPr lang="en-US" sz="3600" dirty="0"/>
          </a:p>
        </p:txBody>
      </p:sp>
      <p:sp>
        <p:nvSpPr>
          <p:cNvPr id="5" name="Model card 1"/>
          <p:cNvSpPr/>
          <p:nvPr/>
        </p:nvSpPr>
        <p:spPr>
          <a:xfrm>
            <a:off x="822960" y="1572768"/>
            <a:ext cx="5180076" cy="1828800"/>
          </a:xfrm>
          <a:prstGeom prst="roundRect">
            <a:avLst>
              <a:gd name="adj" fmla="val 6000"/>
            </a:avLst>
          </a:prstGeom>
          <a:solidFill>
            <a:schemeClr val="bg2"/>
          </a:solidFill>
          <a:ln/>
        </p:spPr>
      </p:sp>
      <p:sp>
        <p:nvSpPr>
          <p:cNvPr id="6" name="Model text 1"/>
          <p:cNvSpPr txBox="1"/>
          <p:nvPr/>
        </p:nvSpPr>
        <p:spPr>
          <a:xfrm>
            <a:off x="1051560" y="1682496"/>
            <a:ext cx="4722876" cy="1645920"/>
          </a:xfrm>
          <a:prstGeom prst="rect">
            <a:avLst/>
          </a:prstGeom>
          <a:noFill/>
          <a:ln/>
        </p:spPr>
        <p:txBody>
          <a:bodyPr wrap="square" lIns="0" tIns="0" rIns="0" bIns="0" rtlCol="0" anchor="t"/>
          <a:lstStyle/>
          <a:p>
            <a:pPr indent="0" marL="0">
              <a:spcAft>
                <a:spcPts val="300"/>
              </a:spcAft>
              <a:buNone/>
            </a:pPr>
            <a:r>
              <a:rPr lang="en-US" sz="1100" b="1" dirty="0">
                <a:solidFill>
                  <a:schemeClr val="accent1"/>
                </a:solidFill>
              </a:rPr>
              <a:t>USED AS RELEASED</a:t>
            </a:r>
            <a:endParaRPr lang="en-US" sz="1800" dirty="0"/>
          </a:p>
          <a:p>
            <a:pPr indent="0" marL="0">
              <a:spcAft>
                <a:spcPts val="300"/>
              </a:spcAft>
              <a:buNone/>
            </a:pPr>
            <a:r>
              <a:rPr lang="en-US" sz="1600" b="1" dirty="0">
                <a:solidFill>
                  <a:schemeClr val="tx1"/>
                </a:solidFill>
              </a:rPr>
              <a:t>YOLOv8x detectors</a:t>
            </a:r>
            <a:endParaRPr lang="en-US" sz="1800" dirty="0"/>
          </a:p>
          <a:p>
            <a:pPr indent="0" marL="0">
              <a:spcAft>
                <a:spcPts val="300"/>
              </a:spcAft>
              <a:buNone/>
            </a:pPr>
            <a:r>
              <a:rPr lang="en-US" sz="1200" b="1" dirty="0">
                <a:solidFill>
                  <a:schemeClr val="tx1"/>
                </a:solidFill>
              </a:rPr>
              <a:t>Does: </a:t>
            </a:r>
            <a:pPr indent="0" marL="0">
              <a:spcAft>
                <a:spcPts val="300"/>
              </a:spcAft>
              <a:buNone/>
            </a:pPr>
            <a:r>
              <a:rPr lang="en-US" sz="1200" dirty="0">
                <a:solidFill>
                  <a:schemeClr val="tx1"/>
                </a:solidFill>
              </a:rPr>
              <a:t>Finds players, goalkeepers and referees. A second detector finds the ball.</a:t>
            </a:r>
            <a:endParaRPr lang="en-US" sz="1800" dirty="0"/>
          </a:p>
          <a:p>
            <a:pPr indent="0" marL="0">
              <a:spcAft>
                <a:spcPts val="300"/>
              </a:spcAft>
              <a:buNone/>
            </a:pPr>
            <a:r>
              <a:rPr lang="en-US" sz="1200" b="1" dirty="0">
                <a:solidFill>
                  <a:schemeClr val="tx1"/>
                </a:solidFill>
              </a:rPr>
              <a:t>Comes from: </a:t>
            </a:r>
            <a:pPr indent="0" marL="0">
              <a:spcAft>
                <a:spcPts val="300"/>
              </a:spcAft>
              <a:buNone/>
            </a:pPr>
            <a:r>
              <a:rPr lang="en-US" sz="1200" dirty="0">
                <a:solidFill>
                  <a:schemeClr val="tx1"/>
                </a:solidFill>
              </a:rPr>
              <a:t>Football weights from the Roboflow sports repository (Ultralytics YOLOv8x).</a:t>
            </a:r>
            <a:endParaRPr lang="en-US" sz="1800" dirty="0"/>
          </a:p>
          <a:p>
            <a:pPr indent="0" marL="0">
              <a:spcAft>
                <a:spcPts val="300"/>
              </a:spcAft>
              <a:buNone/>
            </a:pPr>
            <a:r>
              <a:rPr lang="en-US" sz="1200" b="1" dirty="0">
                <a:solidFill>
                  <a:schemeClr val="tx1"/>
                </a:solidFill>
              </a:rPr>
              <a:t>We use it: </a:t>
            </a:r>
            <a:pPr indent="0" marL="0">
              <a:spcAft>
                <a:spcPts val="300"/>
              </a:spcAft>
              <a:buNone/>
            </a:pPr>
            <a:r>
              <a:rPr lang="en-US" sz="1200" dirty="0">
                <a:solidFill>
                  <a:schemeClr val="tx1"/>
                </a:solidFill>
              </a:rPr>
              <a:t>Runs on every sampled frame, 12.5 times a second.</a:t>
            </a:r>
            <a:endParaRPr lang="en-US" sz="1800" dirty="0"/>
          </a:p>
        </p:txBody>
      </p:sp>
      <p:sp>
        <p:nvSpPr>
          <p:cNvPr id="7" name="Model card 2"/>
          <p:cNvSpPr/>
          <p:nvPr/>
        </p:nvSpPr>
        <p:spPr>
          <a:xfrm>
            <a:off x="6185916" y="1572768"/>
            <a:ext cx="5180076" cy="1828800"/>
          </a:xfrm>
          <a:prstGeom prst="roundRect">
            <a:avLst>
              <a:gd name="adj" fmla="val 6000"/>
            </a:avLst>
          </a:prstGeom>
          <a:solidFill>
            <a:schemeClr val="bg2"/>
          </a:solidFill>
          <a:ln/>
        </p:spPr>
      </p:sp>
      <p:sp>
        <p:nvSpPr>
          <p:cNvPr id="8" name="Model text 2"/>
          <p:cNvSpPr txBox="1"/>
          <p:nvPr/>
        </p:nvSpPr>
        <p:spPr>
          <a:xfrm>
            <a:off x="6414516" y="1682496"/>
            <a:ext cx="4722876" cy="1645920"/>
          </a:xfrm>
          <a:prstGeom prst="rect">
            <a:avLst/>
          </a:prstGeom>
          <a:noFill/>
          <a:ln/>
        </p:spPr>
        <p:txBody>
          <a:bodyPr wrap="square" lIns="0" tIns="0" rIns="0" bIns="0" rtlCol="0" anchor="t"/>
          <a:lstStyle/>
          <a:p>
            <a:pPr indent="0" marL="0">
              <a:spcAft>
                <a:spcPts val="300"/>
              </a:spcAft>
              <a:buNone/>
            </a:pPr>
            <a:r>
              <a:rPr lang="en-US" sz="1100" b="1" dirty="0">
                <a:solidFill>
                  <a:schemeClr val="accent1"/>
                </a:solidFill>
              </a:rPr>
              <a:t>USED AS RELEASED</a:t>
            </a:r>
            <a:endParaRPr lang="en-US" sz="1800" dirty="0"/>
          </a:p>
          <a:p>
            <a:pPr indent="0" marL="0">
              <a:spcAft>
                <a:spcPts val="300"/>
              </a:spcAft>
              <a:buNone/>
            </a:pPr>
            <a:r>
              <a:rPr lang="en-US" sz="1600" b="1" dirty="0">
                <a:solidFill>
                  <a:schemeClr val="tx1"/>
                </a:solidFill>
              </a:rPr>
              <a:t>HRNetV2-W48 pitch keypoints</a:t>
            </a:r>
            <a:endParaRPr lang="en-US" sz="1800" dirty="0"/>
          </a:p>
          <a:p>
            <a:pPr indent="0" marL="0">
              <a:spcAft>
                <a:spcPts val="300"/>
              </a:spcAft>
              <a:buNone/>
            </a:pPr>
            <a:r>
              <a:rPr lang="en-US" sz="1200" b="1" dirty="0">
                <a:solidFill>
                  <a:schemeClr val="tx1"/>
                </a:solidFill>
              </a:rPr>
              <a:t>Does: </a:t>
            </a:r>
            <a:pPr indent="0" marL="0">
              <a:spcAft>
                <a:spcPts val="300"/>
              </a:spcAft>
              <a:buNone/>
            </a:pPr>
            <a:r>
              <a:rPr lang="en-US" sz="1200" dirty="0">
                <a:solidFill>
                  <a:schemeClr val="tx1"/>
                </a:solidFill>
              </a:rPr>
              <a:t>Finds 57 points on the pitch lines in each camera view.</a:t>
            </a:r>
            <a:endParaRPr lang="en-US" sz="1800" dirty="0"/>
          </a:p>
          <a:p>
            <a:pPr indent="0" marL="0">
              <a:spcAft>
                <a:spcPts val="300"/>
              </a:spcAft>
              <a:buNone/>
            </a:pPr>
            <a:r>
              <a:rPr lang="en-US" sz="1200" b="1" dirty="0">
                <a:solidFill>
                  <a:schemeClr val="tx1"/>
                </a:solidFill>
              </a:rPr>
              <a:t>Comes from: </a:t>
            </a:r>
            <a:pPr indent="0" marL="0">
              <a:spcAft>
                <a:spcPts val="300"/>
              </a:spcAft>
              <a:buNone/>
            </a:pPr>
            <a:r>
              <a:rPr lang="en-US" sz="1200" dirty="0">
                <a:solidFill>
                  <a:schemeClr val="tx1"/>
                </a:solidFill>
              </a:rPr>
              <a:t>No-Bells-Just-Whistles (Gutiérrez-Pérez and Agudo), trained on SoccerNet calibration data.</a:t>
            </a:r>
            <a:endParaRPr lang="en-US" sz="1800" dirty="0"/>
          </a:p>
          <a:p>
            <a:pPr indent="0" marL="0">
              <a:spcAft>
                <a:spcPts val="300"/>
              </a:spcAft>
              <a:buNone/>
            </a:pPr>
            <a:r>
              <a:rPr lang="en-US" sz="1200" b="1" dirty="0">
                <a:solidFill>
                  <a:schemeClr val="tx1"/>
                </a:solidFill>
              </a:rPr>
              <a:t>We use it: </a:t>
            </a:r>
            <a:pPr indent="0" marL="0">
              <a:spcAft>
                <a:spcPts val="300"/>
              </a:spcAft>
              <a:buNone/>
            </a:pPr>
            <a:r>
              <a:rPr lang="en-US" sz="1200" dirty="0">
                <a:solidFill>
                  <a:schemeClr val="tx1"/>
                </a:solidFill>
              </a:rPr>
              <a:t>We fit a homography to turn pixels into metres, then clean the calibration over time.</a:t>
            </a:r>
            <a:endParaRPr lang="en-US" sz="1800" dirty="0"/>
          </a:p>
        </p:txBody>
      </p:sp>
      <p:sp>
        <p:nvSpPr>
          <p:cNvPr id="9" name="Model card 3"/>
          <p:cNvSpPr/>
          <p:nvPr/>
        </p:nvSpPr>
        <p:spPr>
          <a:xfrm>
            <a:off x="822960" y="3529584"/>
            <a:ext cx="5180076" cy="1828800"/>
          </a:xfrm>
          <a:prstGeom prst="roundRect">
            <a:avLst>
              <a:gd name="adj" fmla="val 6000"/>
            </a:avLst>
          </a:prstGeom>
          <a:solidFill>
            <a:schemeClr val="bg2"/>
          </a:solidFill>
          <a:ln/>
        </p:spPr>
      </p:sp>
      <p:sp>
        <p:nvSpPr>
          <p:cNvPr id="10" name="Model text 3"/>
          <p:cNvSpPr txBox="1"/>
          <p:nvPr/>
        </p:nvSpPr>
        <p:spPr>
          <a:xfrm>
            <a:off x="1051560" y="3639312"/>
            <a:ext cx="4722876" cy="1645920"/>
          </a:xfrm>
          <a:prstGeom prst="rect">
            <a:avLst/>
          </a:prstGeom>
          <a:noFill/>
          <a:ln/>
        </p:spPr>
        <p:txBody>
          <a:bodyPr wrap="square" lIns="0" tIns="0" rIns="0" bIns="0" rtlCol="0" anchor="t"/>
          <a:lstStyle/>
          <a:p>
            <a:pPr indent="0" marL="0">
              <a:spcAft>
                <a:spcPts val="300"/>
              </a:spcAft>
              <a:buNone/>
            </a:pPr>
            <a:r>
              <a:rPr lang="en-US" sz="1100" b="1" dirty="0">
                <a:solidFill>
                  <a:schemeClr val="accent1"/>
                </a:solidFill>
              </a:rPr>
              <a:t>USED AS RELEASED</a:t>
            </a:r>
            <a:endParaRPr lang="en-US" sz="1800" dirty="0"/>
          </a:p>
          <a:p>
            <a:pPr indent="0" marL="0">
              <a:spcAft>
                <a:spcPts val="300"/>
              </a:spcAft>
              <a:buNone/>
            </a:pPr>
            <a:r>
              <a:rPr lang="en-US" sz="1600" b="1" dirty="0">
                <a:solidFill>
                  <a:schemeClr val="tx1"/>
                </a:solidFill>
              </a:rPr>
              <a:t>ResNet-34 + PARSeq number reader</a:t>
            </a:r>
            <a:endParaRPr lang="en-US" sz="1800" dirty="0"/>
          </a:p>
          <a:p>
            <a:pPr indent="0" marL="0">
              <a:spcAft>
                <a:spcPts val="300"/>
              </a:spcAft>
              <a:buNone/>
            </a:pPr>
            <a:r>
              <a:rPr lang="en-US" sz="1200" b="1" dirty="0">
                <a:solidFill>
                  <a:schemeClr val="tx1"/>
                </a:solidFill>
              </a:rPr>
              <a:t>Does: </a:t>
            </a:r>
            <a:pPr indent="0" marL="0">
              <a:spcAft>
                <a:spcPts val="300"/>
              </a:spcAft>
              <a:buNone/>
            </a:pPr>
            <a:r>
              <a:rPr lang="en-US" sz="1200" dirty="0">
                <a:solidFill>
                  <a:schemeClr val="tx1"/>
                </a:solidFill>
              </a:rPr>
              <a:t>Checks whether a shirt number is readable, then reads its digits.</a:t>
            </a:r>
            <a:endParaRPr lang="en-US" sz="1800" dirty="0"/>
          </a:p>
          <a:p>
            <a:pPr indent="0" marL="0">
              <a:spcAft>
                <a:spcPts val="300"/>
              </a:spcAft>
              <a:buNone/>
            </a:pPr>
            <a:r>
              <a:rPr lang="en-US" sz="1200" b="1" dirty="0">
                <a:solidFill>
                  <a:schemeClr val="tx1"/>
                </a:solidFill>
              </a:rPr>
              <a:t>Comes from: </a:t>
            </a:r>
            <a:pPr indent="0" marL="0">
              <a:spcAft>
                <a:spcPts val="300"/>
              </a:spcAft>
              <a:buNone/>
            </a:pPr>
            <a:r>
              <a:rPr lang="en-US" sz="1200" dirty="0">
                <a:solidFill>
                  <a:schemeClr val="tx1"/>
                </a:solidFill>
              </a:rPr>
              <a:t>The SoccerNet jersey-number pipeline (Koshkina and Elder; PARSeq by Bautista and Atienza).</a:t>
            </a:r>
            <a:endParaRPr lang="en-US" sz="1800" dirty="0"/>
          </a:p>
          <a:p>
            <a:pPr indent="0" marL="0">
              <a:spcAft>
                <a:spcPts val="300"/>
              </a:spcAft>
              <a:buNone/>
            </a:pPr>
            <a:r>
              <a:rPr lang="en-US" sz="1200" b="1" dirty="0">
                <a:solidFill>
                  <a:schemeClr val="tx1"/>
                </a:solidFill>
              </a:rPr>
              <a:t>We use it: </a:t>
            </a:r>
            <a:pPr indent="0" marL="0">
              <a:spcAft>
                <a:spcPts val="300"/>
              </a:spcAft>
              <a:buNone/>
            </a:pPr>
            <a:r>
              <a:rPr lang="en-US" sz="1200" dirty="0">
                <a:solidFill>
                  <a:schemeClr val="tx1"/>
                </a:solidFill>
              </a:rPr>
              <a:t>Applied to the torso of each player thumbnail. Only readable thumbnails vote.</a:t>
            </a:r>
            <a:endParaRPr lang="en-US" sz="1800" dirty="0"/>
          </a:p>
        </p:txBody>
      </p:sp>
      <p:sp>
        <p:nvSpPr>
          <p:cNvPr id="11" name="Model card 4"/>
          <p:cNvSpPr/>
          <p:nvPr/>
        </p:nvSpPr>
        <p:spPr>
          <a:xfrm>
            <a:off x="6185916" y="3529584"/>
            <a:ext cx="5180076" cy="1828800"/>
          </a:xfrm>
          <a:prstGeom prst="roundRect">
            <a:avLst>
              <a:gd name="adj" fmla="val 6000"/>
            </a:avLst>
          </a:prstGeom>
          <a:solidFill>
            <a:schemeClr val="bg2"/>
          </a:solidFill>
          <a:ln/>
        </p:spPr>
      </p:sp>
      <p:sp>
        <p:nvSpPr>
          <p:cNvPr id="12" name="Model text 4"/>
          <p:cNvSpPr txBox="1"/>
          <p:nvPr/>
        </p:nvSpPr>
        <p:spPr>
          <a:xfrm>
            <a:off x="6414516" y="3639312"/>
            <a:ext cx="4722876" cy="1645920"/>
          </a:xfrm>
          <a:prstGeom prst="rect">
            <a:avLst/>
          </a:prstGeom>
          <a:noFill/>
          <a:ln/>
        </p:spPr>
        <p:txBody>
          <a:bodyPr wrap="square" lIns="0" tIns="0" rIns="0" bIns="0" rtlCol="0" anchor="t"/>
          <a:lstStyle/>
          <a:p>
            <a:pPr indent="0" marL="0">
              <a:spcAft>
                <a:spcPts val="300"/>
              </a:spcAft>
              <a:buNone/>
            </a:pPr>
            <a:r>
              <a:rPr lang="en-US" sz="1100" b="1" dirty="0">
                <a:solidFill>
                  <a:schemeClr val="accent1"/>
                </a:solidFill>
              </a:rPr>
              <a:t>METHOD, NO TRAINING</a:t>
            </a:r>
            <a:endParaRPr lang="en-US" sz="1800" dirty="0"/>
          </a:p>
          <a:p>
            <a:pPr indent="0" marL="0">
              <a:spcAft>
                <a:spcPts val="300"/>
              </a:spcAft>
              <a:buNone/>
            </a:pPr>
            <a:r>
              <a:rPr lang="en-US" sz="1600" b="1" dirty="0">
                <a:solidFill>
                  <a:schemeClr val="tx1"/>
                </a:solidFill>
              </a:rPr>
              <a:t>BoT-SORT tracker</a:t>
            </a:r>
            <a:endParaRPr lang="en-US" sz="1800" dirty="0"/>
          </a:p>
          <a:p>
            <a:pPr indent="0" marL="0">
              <a:spcAft>
                <a:spcPts val="300"/>
              </a:spcAft>
              <a:buNone/>
            </a:pPr>
            <a:r>
              <a:rPr lang="en-US" sz="1200" b="1" dirty="0">
                <a:solidFill>
                  <a:schemeClr val="tx1"/>
                </a:solidFill>
              </a:rPr>
              <a:t>Does: </a:t>
            </a:r>
            <a:pPr indent="0" marL="0">
              <a:spcAft>
                <a:spcPts val="300"/>
              </a:spcAft>
              <a:buNone/>
            </a:pPr>
            <a:r>
              <a:rPr lang="en-US" sz="1200" dirty="0">
                <a:solidFill>
                  <a:schemeClr val="tx1"/>
                </a:solidFill>
              </a:rPr>
              <a:t>Links the boxes of one player from frame to frame.</a:t>
            </a:r>
            <a:endParaRPr lang="en-US" sz="1800" dirty="0"/>
          </a:p>
          <a:p>
            <a:pPr indent="0" marL="0">
              <a:spcAft>
                <a:spcPts val="300"/>
              </a:spcAft>
              <a:buNone/>
            </a:pPr>
            <a:r>
              <a:rPr lang="en-US" sz="1200" b="1" dirty="0">
                <a:solidFill>
                  <a:schemeClr val="tx1"/>
                </a:solidFill>
              </a:rPr>
              <a:t>Comes from: </a:t>
            </a:r>
            <a:pPr indent="0" marL="0">
              <a:spcAft>
                <a:spcPts val="300"/>
              </a:spcAft>
              <a:buNone/>
            </a:pPr>
            <a:r>
              <a:rPr lang="en-US" sz="1200" dirty="0">
                <a:solidFill>
                  <a:schemeClr val="tx1"/>
                </a:solidFill>
              </a:rPr>
              <a:t>A standard tracker, run with camera-motion correction and no appearance model.</a:t>
            </a:r>
            <a:endParaRPr lang="en-US" sz="1800" dirty="0"/>
          </a:p>
          <a:p>
            <a:pPr indent="0" marL="0">
              <a:spcAft>
                <a:spcPts val="300"/>
              </a:spcAft>
              <a:buNone/>
            </a:pPr>
            <a:r>
              <a:rPr lang="en-US" sz="1200" b="1" dirty="0">
                <a:solidFill>
                  <a:schemeClr val="tx1"/>
                </a:solidFill>
              </a:rPr>
              <a:t>We use it: </a:t>
            </a:r>
            <a:pPr indent="0" marL="0">
              <a:spcAft>
                <a:spcPts val="300"/>
              </a:spcAft>
              <a:buNone/>
            </a:pPr>
            <a:r>
              <a:rPr lang="en-US" sz="1200" dirty="0">
                <a:solidFill>
                  <a:schemeClr val="tx1"/>
                </a:solidFill>
              </a:rPr>
              <a:t>Our cut detector restarts every track at a camera cut.</a:t>
            </a:r>
            <a:endParaRPr lang="en-US" sz="1800" dirty="0"/>
          </a:p>
        </p:txBody>
      </p:sp>
      <p:sp>
        <p:nvSpPr>
          <p:cNvPr id="13" name="Licences"/>
          <p:cNvSpPr txBox="1"/>
          <p:nvPr/>
        </p:nvSpPr>
        <p:spPr>
          <a:xfrm>
            <a:off x="822960" y="5760720"/>
            <a:ext cx="10543032" cy="274320"/>
          </a:xfrm>
          <a:prstGeom prst="rect">
            <a:avLst/>
          </a:prstGeom>
          <a:noFill/>
          <a:ln/>
        </p:spPr>
        <p:txBody>
          <a:bodyPr wrap="square" lIns="0" tIns="0" rIns="0" bIns="0" rtlCol="0" anchor="t"/>
          <a:lstStyle/>
          <a:p>
            <a:pPr indent="0" marL="0">
              <a:buNone/>
            </a:pPr>
            <a:r>
              <a:rPr lang="en-US" sz="1200" dirty="0">
                <a:solidFill>
                  <a:schemeClr val="tx2"/>
                </a:solidFill>
              </a:rPr>
              <a:t>Licences include AGPL-3.0, GPL-2.0 and CC BY-NC: fine for research, to be reviewed before commercial use</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RECAP · HOW WE TRAINED THEM</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How we trained the models we own</a:t>
            </a:r>
            <a:endParaRPr lang="en-US" sz="3600" dirty="0"/>
          </a:p>
        </p:txBody>
      </p:sp>
      <p:sp>
        <p:nvSpPr>
          <p:cNvPr id="5" name="Recipe card 1"/>
          <p:cNvSpPr/>
          <p:nvPr/>
        </p:nvSpPr>
        <p:spPr>
          <a:xfrm>
            <a:off x="822960" y="1572768"/>
            <a:ext cx="5180076" cy="3931920"/>
          </a:xfrm>
          <a:prstGeom prst="roundRect">
            <a:avLst>
              <a:gd name="adj" fmla="val 2791"/>
            </a:avLst>
          </a:prstGeom>
          <a:solidFill>
            <a:schemeClr val="bg1"/>
          </a:solidFill>
          <a:ln/>
        </p:spPr>
      </p:sp>
      <p:sp>
        <p:nvSpPr>
          <p:cNvPr id="6" name="Recipe text 1"/>
          <p:cNvSpPr txBox="1"/>
          <p:nvPr/>
        </p:nvSpPr>
        <p:spPr>
          <a:xfrm>
            <a:off x="1097280" y="1755648"/>
            <a:ext cx="4631436" cy="3657600"/>
          </a:xfrm>
          <a:prstGeom prst="rect">
            <a:avLst/>
          </a:prstGeom>
          <a:noFill/>
          <a:ln/>
        </p:spPr>
        <p:txBody>
          <a:bodyPr wrap="square" lIns="0" tIns="0" rIns="0" bIns="0" rtlCol="0" anchor="t"/>
          <a:lstStyle/>
          <a:p>
            <a:pPr indent="0" marL="0">
              <a:spcAft>
                <a:spcPts val="700"/>
              </a:spcAft>
              <a:buNone/>
            </a:pPr>
            <a:r>
              <a:rPr lang="en-US" sz="1200" b="1" dirty="0">
                <a:solidFill>
                  <a:schemeClr val="accent2"/>
                </a:solidFill>
              </a:rPr>
              <a:t>FINE-TUNED</a:t>
            </a:r>
            <a:endParaRPr lang="en-US" sz="1800" dirty="0"/>
          </a:p>
          <a:p>
            <a:pPr indent="0" marL="0">
              <a:spcAft>
                <a:spcPts val="700"/>
              </a:spcAft>
              <a:buNone/>
            </a:pPr>
            <a:r>
              <a:rPr lang="en-US" sz="2100" b="1" dirty="0">
                <a:solidFill>
                  <a:schemeClr val="tx1"/>
                </a:solidFill>
              </a:rPr>
              <a:t>Identity model: CLIP ViT-B/16</a:t>
            </a:r>
            <a:endParaRPr lang="en-US" sz="1800" dirty="0"/>
          </a:p>
          <a:p>
            <a:pPr indent="0" marL="0">
              <a:spcAft>
                <a:spcPts val="700"/>
              </a:spcAft>
              <a:buNone/>
            </a:pPr>
            <a:r>
              <a:rPr lang="en-US" sz="1500" b="1" dirty="0">
                <a:solidFill>
                  <a:schemeClr val="tx1"/>
                </a:solidFill>
              </a:rPr>
              <a:t>Starts from: </a:t>
            </a:r>
            <a:pPr indent="0" marL="0">
              <a:spcAft>
                <a:spcPts val="700"/>
              </a:spcAft>
              <a:buNone/>
            </a:pPr>
            <a:r>
              <a:rPr lang="en-US" sz="1500" dirty="0">
                <a:solidFill>
                  <a:schemeClr val="tx1"/>
                </a:solidFill>
              </a:rPr>
              <a:t>OpenAI CLIP ViT-B/16 weights.</a:t>
            </a:r>
            <a:endParaRPr lang="en-US" sz="1800" dirty="0"/>
          </a:p>
          <a:p>
            <a:pPr indent="0" marL="0">
              <a:spcAft>
                <a:spcPts val="700"/>
              </a:spcAft>
              <a:buNone/>
            </a:pPr>
            <a:r>
              <a:rPr lang="en-US" sz="1500" b="1" dirty="0">
                <a:solidFill>
                  <a:schemeClr val="tx1"/>
                </a:solidFill>
              </a:rPr>
              <a:t>Learns from: </a:t>
            </a:r>
            <a:pPr indent="0" marL="0">
              <a:spcAft>
                <a:spcPts val="700"/>
              </a:spcAft>
              <a:buNone/>
            </a:pPr>
            <a:r>
              <a:rPr lang="en-US" sz="1500" dirty="0">
                <a:solidFill>
                  <a:schemeClr val="tx1"/>
                </a:solidFill>
              </a:rPr>
              <a:t>48 FOOTPASS games: 6.0 million player thumbnails with true numbers, identities and goalkeeper flags.</a:t>
            </a:r>
            <a:endParaRPr lang="en-US" sz="1800" dirty="0"/>
          </a:p>
          <a:p>
            <a:pPr indent="0" marL="0">
              <a:spcAft>
                <a:spcPts val="700"/>
              </a:spcAft>
              <a:buNone/>
            </a:pPr>
            <a:r>
              <a:rPr lang="en-US" sz="1500" b="1" dirty="0">
                <a:solidFill>
                  <a:schemeClr val="tx1"/>
                </a:solidFill>
              </a:rPr>
              <a:t>Learns to: </a:t>
            </a:r>
            <a:pPr indent="0" marL="0">
              <a:spcAft>
                <a:spcPts val="700"/>
              </a:spcAft>
              <a:buNone/>
            </a:pPr>
            <a:r>
              <a:rPr lang="en-US" sz="1500" dirty="0">
                <a:solidFill>
                  <a:schemeClr val="tx1"/>
                </a:solidFill>
              </a:rPr>
              <a:t>Read shirt digits, tell players apart and spot goalkeepers. Digits are learned only from readable thumbnails.</a:t>
            </a:r>
            <a:endParaRPr lang="en-US" sz="1800" dirty="0"/>
          </a:p>
          <a:p>
            <a:pPr indent="0" marL="0">
              <a:spcAft>
                <a:spcPts val="700"/>
              </a:spcAft>
              <a:buNone/>
            </a:pPr>
            <a:r>
              <a:rPr lang="en-US" sz="1500" b="1" dirty="0">
                <a:solidFill>
                  <a:schemeClr val="tx1"/>
                </a:solidFill>
              </a:rPr>
              <a:t>Checked on: </a:t>
            </a:r>
            <a:pPr indent="0" marL="0">
              <a:spcAft>
                <a:spcPts val="700"/>
              </a:spcAft>
              <a:buNone/>
            </a:pPr>
            <a:r>
              <a:rPr lang="en-US" sz="1500" dirty="0">
                <a:solidFill>
                  <a:schemeClr val="tx1"/>
                </a:solidFill>
              </a:rPr>
              <a:t>3 unseen FOOTPASS games, 13,610 tracklets.</a:t>
            </a:r>
            <a:endParaRPr lang="en-US" sz="1800" dirty="0"/>
          </a:p>
          <a:p>
            <a:pPr indent="0" marL="0">
              <a:spcAft>
                <a:spcPts val="700"/>
              </a:spcAft>
              <a:buNone/>
            </a:pPr>
            <a:r>
              <a:rPr lang="en-US" sz="1500" b="1" dirty="0">
                <a:solidFill>
                  <a:schemeClr val="tx1"/>
                </a:solidFill>
              </a:rPr>
              <a:t>Cost: </a:t>
            </a:r>
            <a:pPr indent="0" marL="0">
              <a:spcAft>
                <a:spcPts val="700"/>
              </a:spcAft>
              <a:buNone/>
            </a:pPr>
            <a:r>
              <a:rPr lang="en-US" sz="1500" dirty="0">
                <a:solidFill>
                  <a:schemeClr val="tx1"/>
                </a:solidFill>
              </a:rPr>
              <a:t>10,000 steps on one RTX 3090.</a:t>
            </a:r>
            <a:endParaRPr lang="en-US" sz="1800" dirty="0"/>
          </a:p>
        </p:txBody>
      </p:sp>
      <p:sp>
        <p:nvSpPr>
          <p:cNvPr id="7" name="Recipe card 2"/>
          <p:cNvSpPr/>
          <p:nvPr/>
        </p:nvSpPr>
        <p:spPr>
          <a:xfrm>
            <a:off x="6185916" y="1572768"/>
            <a:ext cx="5180076" cy="3931920"/>
          </a:xfrm>
          <a:prstGeom prst="roundRect">
            <a:avLst>
              <a:gd name="adj" fmla="val 2791"/>
            </a:avLst>
          </a:prstGeom>
          <a:solidFill>
            <a:schemeClr val="bg1"/>
          </a:solidFill>
          <a:ln/>
        </p:spPr>
      </p:sp>
      <p:sp>
        <p:nvSpPr>
          <p:cNvPr id="8" name="Recipe text 2"/>
          <p:cNvSpPr txBox="1"/>
          <p:nvPr/>
        </p:nvSpPr>
        <p:spPr>
          <a:xfrm>
            <a:off x="6460236" y="1755648"/>
            <a:ext cx="4631436" cy="3657600"/>
          </a:xfrm>
          <a:prstGeom prst="rect">
            <a:avLst/>
          </a:prstGeom>
          <a:noFill/>
          <a:ln/>
        </p:spPr>
        <p:txBody>
          <a:bodyPr wrap="square" lIns="0" tIns="0" rIns="0" bIns="0" rtlCol="0" anchor="t"/>
          <a:lstStyle/>
          <a:p>
            <a:pPr indent="0" marL="0">
              <a:spcAft>
                <a:spcPts val="700"/>
              </a:spcAft>
              <a:buNone/>
            </a:pPr>
            <a:r>
              <a:rPr lang="en-US" sz="1200" b="1" dirty="0">
                <a:solidFill>
                  <a:schemeClr val="accent2"/>
                </a:solidFill>
              </a:rPr>
              <a:t>FINE-TUNED</a:t>
            </a:r>
            <a:endParaRPr lang="en-US" sz="1800" dirty="0"/>
          </a:p>
          <a:p>
            <a:pPr indent="0" marL="0">
              <a:spcAft>
                <a:spcPts val="700"/>
              </a:spcAft>
              <a:buNone/>
            </a:pPr>
            <a:r>
              <a:rPr lang="en-US" sz="2100" b="1" dirty="0">
                <a:solidFill>
                  <a:schemeClr val="tx1"/>
                </a:solidFill>
              </a:rPr>
              <a:t>Action spotter: T-DEED</a:t>
            </a:r>
            <a:endParaRPr lang="en-US" sz="1800" dirty="0"/>
          </a:p>
          <a:p>
            <a:pPr indent="0" marL="0">
              <a:spcAft>
                <a:spcPts val="700"/>
              </a:spcAft>
              <a:buNone/>
            </a:pPr>
            <a:r>
              <a:rPr lang="en-US" sz="1500" b="1" dirty="0">
                <a:solidFill>
                  <a:schemeClr val="tx1"/>
                </a:solidFill>
              </a:rPr>
              <a:t>Starts from: </a:t>
            </a:r>
            <a:pPr indent="0" marL="0">
              <a:spcAft>
                <a:spcPts val="700"/>
              </a:spcAft>
              <a:buNone/>
            </a:pPr>
            <a:r>
              <a:rPr lang="en-US" sz="1500" dirty="0">
                <a:solidFill>
                  <a:schemeClr val="tx1"/>
                </a:solidFill>
              </a:rPr>
              <a:t>The SoccerNet 2025 T-DEED baseline.</a:t>
            </a:r>
            <a:endParaRPr lang="en-US" sz="1800" dirty="0"/>
          </a:p>
          <a:p>
            <a:pPr indent="0" marL="0">
              <a:spcAft>
                <a:spcPts val="700"/>
              </a:spcAft>
              <a:buNone/>
            </a:pPr>
            <a:r>
              <a:rPr lang="en-US" sz="1500" b="1" dirty="0">
                <a:solidFill>
                  <a:schemeClr val="tx1"/>
                </a:solidFill>
              </a:rPr>
              <a:t>Learns from: </a:t>
            </a:r>
            <a:pPr indent="0" marL="0">
              <a:spcAft>
                <a:spcPts val="700"/>
              </a:spcAft>
              <a:buNone/>
            </a:pPr>
            <a:r>
              <a:rPr lang="en-US" sz="1500" dirty="0">
                <a:solidFill>
                  <a:schemeClr val="tx1"/>
                </a:solidFill>
              </a:rPr>
              <a:t>SoccerNet ball-action games plus 48 FOOTPASS games, some with partial labels.</a:t>
            </a:r>
            <a:endParaRPr lang="en-US" sz="1800" dirty="0"/>
          </a:p>
          <a:p>
            <a:pPr indent="0" marL="0">
              <a:spcAft>
                <a:spcPts val="700"/>
              </a:spcAft>
              <a:buNone/>
            </a:pPr>
            <a:r>
              <a:rPr lang="en-US" sz="1500" b="1" dirty="0">
                <a:solidFill>
                  <a:schemeClr val="tx1"/>
                </a:solidFill>
              </a:rPr>
              <a:t>Learns to: </a:t>
            </a:r>
            <a:pPr indent="0" marL="0">
              <a:spcAft>
                <a:spcPts val="700"/>
              </a:spcAft>
              <a:buNone/>
            </a:pPr>
            <a:r>
              <a:rPr lang="en-US" sz="1500" dirty="0">
                <a:solidFill>
                  <a:schemeClr val="tx1"/>
                </a:solidFill>
              </a:rPr>
              <a:t>Find 12 kinds of action in the video, with extra weight on rare ones such as tackles and blocks.</a:t>
            </a:r>
            <a:endParaRPr lang="en-US" sz="1800" dirty="0"/>
          </a:p>
          <a:p>
            <a:pPr indent="0" marL="0">
              <a:spcAft>
                <a:spcPts val="700"/>
              </a:spcAft>
              <a:buNone/>
            </a:pPr>
            <a:r>
              <a:rPr lang="en-US" sz="1500" b="1" dirty="0">
                <a:solidFill>
                  <a:schemeClr val="tx1"/>
                </a:solidFill>
              </a:rPr>
              <a:t>Checked on: </a:t>
            </a:r>
            <a:pPr indent="0" marL="0">
              <a:spcAft>
                <a:spcPts val="700"/>
              </a:spcAft>
              <a:buNone/>
            </a:pPr>
            <a:r>
              <a:rPr lang="en-US" sz="1500" dirty="0">
                <a:solidFill>
                  <a:schemeClr val="tx1"/>
                </a:solidFill>
              </a:rPr>
              <a:t>2 unseen SoccerNet games and 3 unseen FOOTPASS games.</a:t>
            </a:r>
            <a:endParaRPr lang="en-US" sz="1800" dirty="0"/>
          </a:p>
          <a:p>
            <a:pPr indent="0" marL="0">
              <a:spcAft>
                <a:spcPts val="700"/>
              </a:spcAft>
              <a:buNone/>
            </a:pPr>
            <a:r>
              <a:rPr lang="en-US" sz="1500" b="1" dirty="0">
                <a:solidFill>
                  <a:schemeClr val="tx1"/>
                </a:solidFill>
              </a:rPr>
              <a:t>Cost: </a:t>
            </a:r>
            <a:pPr indent="0" marL="0">
              <a:spcAft>
                <a:spcPts val="700"/>
              </a:spcAft>
              <a:buNone/>
            </a:pPr>
            <a:r>
              <a:rPr lang="en-US" sz="1500" dirty="0">
                <a:solidFill>
                  <a:schemeClr val="tx1"/>
                </a:solidFill>
              </a:rPr>
              <a:t>3,000 steps, about 3 hours on one RTX 3090.</a:t>
            </a:r>
            <a:endParaRPr lang="en-US" sz="1800" dirty="0"/>
          </a:p>
        </p:txBody>
      </p:sp>
      <p:sp>
        <p:nvSpPr>
          <p:cNvPr id="9" name="Costs"/>
          <p:cNvSpPr txBox="1"/>
          <p:nvPr/>
        </p:nvSpPr>
        <p:spPr>
          <a:xfrm>
            <a:off x="822960" y="5760720"/>
            <a:ext cx="10543032" cy="274320"/>
          </a:xfrm>
          <a:prstGeom prst="rect">
            <a:avLst/>
          </a:prstGeom>
          <a:noFill/>
          <a:ln/>
        </p:spPr>
        <p:txBody>
          <a:bodyPr wrap="square" lIns="0" tIns="0" rIns="0" bIns="0" rtlCol="0" anchor="t"/>
          <a:lstStyle/>
          <a:p>
            <a:pPr indent="0" marL="0">
              <a:buNone/>
            </a:pPr>
            <a:r>
              <a:rPr lang="en-US" sz="1200" dirty="0">
                <a:solidFill>
                  <a:schemeClr val="tx2"/>
                </a:solidFill>
              </a:rPr>
              <a:t>All training on one RTX 3090 · every model is checked on games it never saw</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4 · RESULTS · SUMMARY</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bg1"/>
                </a:solidFill>
              </a:rPr>
              <a:t>How well each part works</a:t>
            </a:r>
            <a:endParaRPr lang="en-US" sz="3600" dirty="0"/>
          </a:p>
        </p:txBody>
      </p:sp>
      <p:graphicFrame>
        <p:nvGraphicFramePr>
          <p:cNvPr id="20" name="Summary table"/>
          <p:cNvGraphicFramePr>
            <a:graphicFrameLocks noGrp="1"/>
          </p:cNvGraphicFramePr>
          <p:nvPr>
            <p:extLst>
              <p:ext uri="{D42A27DB-BD31-4B8C-83A1-F6EECF244321}">
                <p14:modId xmlns:p14="http://schemas.microsoft.com/office/powerpoint/2010/main" val="1579011935"/>
              </p:ext>
            </p:extLst>
          </p:nvPr>
        </p:nvGraphicFramePr>
        <p:xfrm>
          <a:off x="822960" y="1572768"/>
          <a:ext cx="10543032" cy="914400"/>
        </p:xfrm>
        <a:graphic>
          <a:graphicData uri="http://schemas.openxmlformats.org/drawingml/2006/table">
            <a:tbl>
              <a:tblPr/>
              <a:tblGrid>
                <a:gridCol w="1920240"/>
                <a:gridCol w="2011680"/>
                <a:gridCol w="3566160"/>
                <a:gridCol w="1554480"/>
                <a:gridCol w="1490472"/>
              </a:tblGrid>
              <a:tr h="310896">
                <a:tc>
                  <a:txBody>
                    <a:bodyPr/>
                    <a:lstStyle/>
                    <a:p>
                      <a:pPr algn="l" indent="0" marL="0">
                        <a:buNone/>
                      </a:pPr>
                      <a:r>
                        <a:rPr lang="en-US" sz="900" b="1" dirty="0">
                          <a:solidFill>
                            <a:srgbClr val="8CE3B6"/>
                          </a:solidFill>
                          <a:latin typeface="Calibri" pitchFamily="34" charset="0"/>
                          <a:ea typeface="Calibri" pitchFamily="34" charset="-122"/>
                          <a:cs typeface="Calibri" pitchFamily="34" charset="-120"/>
                        </a:rPr>
                        <a:t>PART</a:t>
                      </a:r>
                      <a:endParaRPr lang="en-US" sz="9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900" b="1" dirty="0">
                          <a:solidFill>
                            <a:srgbClr val="8CE3B6"/>
                          </a:solidFill>
                          <a:latin typeface="Calibri" pitchFamily="34" charset="0"/>
                          <a:ea typeface="Calibri" pitchFamily="34" charset="-122"/>
                          <a:cs typeface="Calibri" pitchFamily="34" charset="-120"/>
                        </a:rPr>
                        <a:t>JOB</a:t>
                      </a:r>
                      <a:endParaRPr lang="en-US" sz="9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900" b="1" dirty="0">
                          <a:solidFill>
                            <a:srgbClr val="8CE3B6"/>
                          </a:solidFill>
                          <a:latin typeface="Calibri" pitchFamily="34" charset="0"/>
                          <a:ea typeface="Calibri" pitchFamily="34" charset="-122"/>
                          <a:cs typeface="Calibri" pitchFamily="34" charset="-120"/>
                        </a:rPr>
                        <a:t>MEASURED ON UNSEEN GAMES</a:t>
                      </a:r>
                      <a:endParaRPr lang="en-US" sz="9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900" b="1" dirty="0">
                          <a:solidFill>
                            <a:srgbClr val="8CE3B6"/>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900" b="1" dirty="0">
                          <a:solidFill>
                            <a:srgbClr val="8CE3B6"/>
                          </a:solidFill>
                          <a:latin typeface="Calibri" pitchFamily="34" charset="0"/>
                          <a:ea typeface="Calibri" pitchFamily="34" charset="-122"/>
                          <a:cs typeface="Calibri" pitchFamily="34" charset="-120"/>
                        </a:rPr>
                        <a:t>VERDICT</a:t>
                      </a:r>
                      <a:endParaRPr lang="en-US" sz="9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YOLOv8x detector</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Finds players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Visible player time detected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89.7%</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8CE3B6"/>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Kit-colour teams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Splits the two teams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Detected players on the right team</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97%</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8CE3B6"/>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BoT-SORT tracker</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Follows players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Tracked time in single-player tracks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97.1%</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8CE3B6"/>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ResNet-34 + PARSeq</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Reads shirt numbers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Tracklets read right</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8CE3B6"/>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CLIP identity model</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Names players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Names right · visible time named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95% · 52%</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F5B76B"/>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T-DEED spotter</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Finds events in video</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Mean AP (pass 0.93, shot 0.66, tackle 0.10)</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0.63</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F5B76B"/>
                          </a:solidFill>
                          <a:latin typeface="Calibri" pitchFamily="34" charset="0"/>
                          <a:ea typeface="Calibri" pitchFamily="34" charset="-122"/>
                          <a:cs typeface="Calibri" pitchFamily="34" charset="-120"/>
                        </a:rPr>
                        <a:t>Mixed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Event rules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Passes from positions</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Pass precision · recall</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68% · 70%</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8CE3B6"/>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r h="370332">
                <a:tc>
                  <a:txBody>
                    <a:bodyPr/>
                    <a:lstStyle/>
                    <a:p>
                      <a:pPr algn="l" indent="0" marL="0">
                        <a:buNone/>
                      </a:pPr>
                      <a:r>
                        <a:rPr lang="en-US" sz="1300" b="1" dirty="0">
                          <a:solidFill>
                            <a:srgbClr val="F3F6F2"/>
                          </a:solidFill>
                          <a:latin typeface="Calibri" pitchFamily="34" charset="0"/>
                          <a:ea typeface="Calibri" pitchFamily="34" charset="-122"/>
                          <a:cs typeface="Calibri" pitchFamily="34" charset="-120"/>
                        </a:rPr>
                        <a:t>Ball detector</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Finds the ball</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Visible balls found</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dirty="0">
                          <a:solidFill>
                            <a:srgbClr val="F3F6F2"/>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c>
                  <a:txBody>
                    <a:bodyPr/>
                    <a:lstStyle/>
                    <a:p>
                      <a:pPr algn="l" indent="0" marL="0">
                        <a:buNone/>
                      </a:pPr>
                      <a:r>
                        <a:rPr lang="en-US" sz="1300" b="1" dirty="0">
                          <a:solidFill>
                            <a:srgbClr val="FF8A65"/>
                          </a:solidFill>
                          <a:latin typeface="Calibri" pitchFamily="34" charset="0"/>
                          <a:ea typeface="Calibri" pitchFamily="34" charset="-122"/>
                          <a:cs typeface="Calibri" pitchFamily="34" charset="-120"/>
                        </a:rPr>
                        <a:t>Weak</a:t>
                      </a:r>
                      <a:endParaRPr lang="en-US" sz="1300" dirty="0">
                        <a:latin typeface="Calibri" charset="0"/>
                        <a:ea typeface="Calibri" charset="0"/>
                        <a:cs typeface="Calibri" charset="0"/>
                      </a:endParaRPr>
                    </a:p>
                  </a:txBody>
                  <a:tcPr marL="73152" marR="73152" marT="18288" marB="18288" anchor="ctr">
                    <a:lnL w="9525" cap="flat" cmpd="sng" algn="ctr">
                      <a:solidFill>
                        <a:srgbClr val="2A5646"/>
                      </a:solidFill>
                      <a:prstDash val="solid"/>
                      <a:round/>
                      <a:headEnd type="none" w="med" len="med"/>
                      <a:tailEnd type="none" w="med" len="med"/>
                    </a:lnL>
                    <a:lnR w="9525" cap="flat" cmpd="sng" algn="ctr">
                      <a:solidFill>
                        <a:srgbClr val="2A5646"/>
                      </a:solidFill>
                      <a:prstDash val="solid"/>
                      <a:round/>
                      <a:headEnd type="none" w="med" len="med"/>
                      <a:tailEnd type="none" w="med" len="med"/>
                    </a:lnR>
                    <a:lnT w="9525" cap="flat" cmpd="sng" algn="ctr">
                      <a:solidFill>
                        <a:srgbClr val="2A5646"/>
                      </a:solidFill>
                      <a:prstDash val="solid"/>
                      <a:round/>
                      <a:headEnd type="none" w="med" len="med"/>
                      <a:tailEnd type="none" w="med" len="med"/>
                    </a:lnT>
                    <a:lnB w="9525" cap="flat" cmpd="sng" algn="ctr">
                      <a:solidFill>
                        <a:srgbClr val="2A5646"/>
                      </a:solidFill>
                      <a:prstDash val="solid"/>
                      <a:round/>
                      <a:headEnd type="none" w="med" len="med"/>
                      <a:tailEnd type="none" w="med" len="med"/>
                    </a:lnB>
                    <a:solidFill>
                      <a:srgbClr val="17382D"/>
                    </a:solidFill>
                  </a:tcPr>
                </a:tc>
              </a:tr>
            </a:tbl>
          </a:graphicData>
        </a:graphic>
      </p:graphicFrame>
      <p:sp>
        <p:nvSpPr>
          <p:cNvPr id="6" name="Meaning card"/>
          <p:cNvSpPr/>
          <p:nvPr/>
        </p:nvSpPr>
        <p:spPr>
          <a:xfrm>
            <a:off x="822960" y="5486400"/>
            <a:ext cx="10543032" cy="658368"/>
          </a:xfrm>
          <a:prstGeom prst="roundRect">
            <a:avLst>
              <a:gd name="adj" fmla="val 16667"/>
            </a:avLst>
          </a:prstGeom>
          <a:solidFill>
            <a:schemeClr val="tx2"/>
          </a:solidFill>
          <a:ln/>
        </p:spPr>
      </p:sp>
      <p:sp>
        <p:nvSpPr>
          <p:cNvPr id="7" name="Meaning accent"/>
          <p:cNvSpPr/>
          <p:nvPr/>
        </p:nvSpPr>
        <p:spPr>
          <a:xfrm>
            <a:off x="822960" y="5486400"/>
            <a:ext cx="73152" cy="658368"/>
          </a:xfrm>
          <a:prstGeom prst="rect">
            <a:avLst/>
          </a:prstGeom>
          <a:solidFill>
            <a:schemeClr val="accent3"/>
          </a:solidFill>
          <a:ln/>
        </p:spPr>
      </p:sp>
      <p:sp>
        <p:nvSpPr>
          <p:cNvPr id="8"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3"/>
                </a:solidFill>
              </a:rPr>
              <a:t>IN SHORT</a:t>
            </a:r>
            <a:endParaRPr lang="en-US" sz="1100" dirty="0"/>
          </a:p>
        </p:txBody>
      </p:sp>
      <p:sp>
        <p:nvSpPr>
          <p:cNvPr id="9"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bg1"/>
                </a:solidFill>
              </a:rPr>
              <a:t>Seeing and tracking players is strong. Naming players, tackles and the ball are the weak points, so team totals are more reliable than player totals.</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4 · SCALABILITY</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bg1"/>
                </a:solidFill>
              </a:rPr>
              <a:t>Scaling up: more matches, better models</a:t>
            </a:r>
            <a:endParaRPr lang="en-US" sz="3600" dirty="0"/>
          </a:p>
        </p:txBody>
      </p:sp>
      <p:sp>
        <p:nvSpPr>
          <p:cNvPr id="5" name="Scale card 1"/>
          <p:cNvSpPr/>
          <p:nvPr/>
        </p:nvSpPr>
        <p:spPr>
          <a:xfrm>
            <a:off x="822960" y="1572768"/>
            <a:ext cx="5180076" cy="1828800"/>
          </a:xfrm>
          <a:prstGeom prst="roundRect">
            <a:avLst>
              <a:gd name="adj" fmla="val 6000"/>
            </a:avLst>
          </a:prstGeom>
          <a:solidFill>
            <a:schemeClr val="tx2"/>
          </a:solidFill>
          <a:ln/>
        </p:spPr>
      </p:sp>
      <p:sp>
        <p:nvSpPr>
          <p:cNvPr id="6" name="Scale text 1"/>
          <p:cNvSpPr txBox="1"/>
          <p:nvPr/>
        </p:nvSpPr>
        <p:spPr>
          <a:xfrm>
            <a:off x="1051560" y="1709928"/>
            <a:ext cx="4722876" cy="16002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SCALE</a:t>
            </a:r>
            <a:endParaRPr lang="en-US" sz="1800" dirty="0"/>
          </a:p>
          <a:p>
            <a:pPr indent="0" marL="0">
              <a:spcAft>
                <a:spcPts val="400"/>
              </a:spcAft>
              <a:buNone/>
            </a:pPr>
            <a:r>
              <a:rPr lang="en-US" sz="1700" b="1" dirty="0">
                <a:solidFill>
                  <a:schemeClr val="bg1"/>
                </a:solidFill>
              </a:rPr>
              <a:t>More matches</a:t>
            </a:r>
            <a:endParaRPr lang="en-US" sz="1800" dirty="0"/>
          </a:p>
          <a:p>
            <a:pPr indent="0" marL="0">
              <a:spcAft>
                <a:spcPts val="400"/>
              </a:spcAft>
              <a:buNone/>
            </a:pPr>
            <a:r>
              <a:rPr lang="en-US" sz="1300" dirty="0">
                <a:solidFill>
                  <a:schemeClr val="bg2"/>
                </a:solidFill>
              </a:rPr>
              <a:t>Each match is processed on its own, about 0.75× its length on one RTX 3090, so a 90-minute match takes about 70 minutes. Only broadcast video is needed, so any match on video can be added.</a:t>
            </a:r>
            <a:endParaRPr lang="en-US" sz="1800" dirty="0"/>
          </a:p>
        </p:txBody>
      </p:sp>
      <p:sp>
        <p:nvSpPr>
          <p:cNvPr id="7" name="Scale card 2"/>
          <p:cNvSpPr/>
          <p:nvPr/>
        </p:nvSpPr>
        <p:spPr>
          <a:xfrm>
            <a:off x="6185916" y="1572768"/>
            <a:ext cx="5180076" cy="1828800"/>
          </a:xfrm>
          <a:prstGeom prst="roundRect">
            <a:avLst>
              <a:gd name="adj" fmla="val 6000"/>
            </a:avLst>
          </a:prstGeom>
          <a:solidFill>
            <a:schemeClr val="tx2"/>
          </a:solidFill>
          <a:ln/>
        </p:spPr>
      </p:sp>
      <p:sp>
        <p:nvSpPr>
          <p:cNvPr id="8" name="Scale text 2"/>
          <p:cNvSpPr txBox="1"/>
          <p:nvPr/>
        </p:nvSpPr>
        <p:spPr>
          <a:xfrm>
            <a:off x="6414516" y="1709928"/>
            <a:ext cx="4722876" cy="16002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IMPROVE</a:t>
            </a:r>
            <a:endParaRPr lang="en-US" sz="1800" dirty="0"/>
          </a:p>
          <a:p>
            <a:pPr indent="0" marL="0">
              <a:spcAft>
                <a:spcPts val="400"/>
              </a:spcAft>
              <a:buNone/>
            </a:pPr>
            <a:r>
              <a:rPr lang="en-US" sz="1700" b="1" dirty="0">
                <a:solidFill>
                  <a:schemeClr val="bg1"/>
                </a:solidFill>
              </a:rPr>
              <a:t>Better models</a:t>
            </a:r>
            <a:endParaRPr lang="en-US" sz="1800" dirty="0"/>
          </a:p>
          <a:p>
            <a:pPr indent="0" marL="0">
              <a:spcAft>
                <a:spcPts val="400"/>
              </a:spcAft>
              <a:buNone/>
            </a:pPr>
            <a:r>
              <a:rPr lang="en-US" sz="1300" dirty="0">
                <a:solidFill>
                  <a:schemeClr val="bg2"/>
                </a:solidFill>
              </a:rPr>
              <a:t>More training data helped: moving the identity model from 19 to 48 games raised the right-name share from 48.9% to 53.0%. The ball is still the weakest link: it is found in under half of the frames where it is visible.</a:t>
            </a:r>
            <a:endParaRPr lang="en-US" sz="1800" dirty="0"/>
          </a:p>
        </p:txBody>
      </p:sp>
      <p:sp>
        <p:nvSpPr>
          <p:cNvPr id="9" name="Scale card 3"/>
          <p:cNvSpPr/>
          <p:nvPr/>
        </p:nvSpPr>
        <p:spPr>
          <a:xfrm>
            <a:off x="822960" y="3529584"/>
            <a:ext cx="5180076" cy="1828800"/>
          </a:xfrm>
          <a:prstGeom prst="roundRect">
            <a:avLst>
              <a:gd name="adj" fmla="val 6000"/>
            </a:avLst>
          </a:prstGeom>
          <a:solidFill>
            <a:schemeClr val="tx2"/>
          </a:solidFill>
          <a:ln/>
        </p:spPr>
      </p:sp>
      <p:sp>
        <p:nvSpPr>
          <p:cNvPr id="10" name="Scale text 3"/>
          <p:cNvSpPr txBox="1"/>
          <p:nvPr/>
        </p:nvSpPr>
        <p:spPr>
          <a:xfrm>
            <a:off x="1051560" y="3666744"/>
            <a:ext cx="4722876" cy="16002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NEXT</a:t>
            </a:r>
            <a:endParaRPr lang="en-US" sz="1800" dirty="0"/>
          </a:p>
          <a:p>
            <a:pPr indent="0" marL="0">
              <a:spcAft>
                <a:spcPts val="400"/>
              </a:spcAft>
              <a:buNone/>
            </a:pPr>
            <a:r>
              <a:rPr lang="en-US" sz="1700" b="1" dirty="0">
                <a:solidFill>
                  <a:schemeClr val="bg1"/>
                </a:solidFill>
              </a:rPr>
              <a:t>Name more players</a:t>
            </a:r>
            <a:endParaRPr lang="en-US" sz="1800" dirty="0"/>
          </a:p>
          <a:p>
            <a:pPr indent="0" marL="0">
              <a:spcAft>
                <a:spcPts val="400"/>
              </a:spcAft>
              <a:buNone/>
            </a:pPr>
            <a:r>
              <a:rPr lang="en-US" sz="1300" dirty="0">
                <a:solidFill>
                  <a:schemeClr val="bg2"/>
                </a:solidFill>
              </a:rPr>
              <a:t>About half of visible player time is still unnamed. In a test with the true squads, a line-up raised the right-name share from 53.0% to 64.2%; more thumbnails and the naming panel also give names, and unnamed players keep their statistics.</a:t>
            </a:r>
            <a:endParaRPr lang="en-US" sz="1800" dirty="0"/>
          </a:p>
        </p:txBody>
      </p:sp>
      <p:sp>
        <p:nvSpPr>
          <p:cNvPr id="11" name="Scale card 4"/>
          <p:cNvSpPr/>
          <p:nvPr/>
        </p:nvSpPr>
        <p:spPr>
          <a:xfrm>
            <a:off x="6185916" y="3529584"/>
            <a:ext cx="5180076" cy="1828800"/>
          </a:xfrm>
          <a:prstGeom prst="roundRect">
            <a:avLst>
              <a:gd name="adj" fmla="val 6000"/>
            </a:avLst>
          </a:prstGeom>
          <a:solidFill>
            <a:schemeClr val="tx2"/>
          </a:solidFill>
          <a:ln/>
        </p:spPr>
      </p:sp>
      <p:sp>
        <p:nvSpPr>
          <p:cNvPr id="12" name="Scale text 4"/>
          <p:cNvSpPr txBox="1"/>
          <p:nvPr/>
        </p:nvSpPr>
        <p:spPr>
          <a:xfrm>
            <a:off x="6414516" y="3666744"/>
            <a:ext cx="4722876" cy="16002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POSSIBLE EXTENSION</a:t>
            </a:r>
            <a:endParaRPr lang="en-US" sz="1800" dirty="0"/>
          </a:p>
          <a:p>
            <a:pPr indent="0" marL="0">
              <a:spcAft>
                <a:spcPts val="400"/>
              </a:spcAft>
              <a:buNone/>
            </a:pPr>
            <a:r>
              <a:rPr lang="en-US" sz="1700" b="1" dirty="0">
                <a:solidFill>
                  <a:schemeClr val="bg1"/>
                </a:solidFill>
              </a:rPr>
              <a:t>Player grading and playing styles</a:t>
            </a:r>
            <a:endParaRPr lang="en-US" sz="1800" dirty="0"/>
          </a:p>
          <a:p>
            <a:pPr indent="0" marL="0">
              <a:spcAft>
                <a:spcPts val="400"/>
              </a:spcAft>
              <a:buNone/>
            </a:pPr>
            <a:r>
              <a:rPr lang="en-US" sz="1300" dirty="0">
                <a:solidFill>
                  <a:schemeClr val="bg2"/>
                </a:solidFill>
              </a:rPr>
              <a:t>A reviewer would grade players against a list of styles, and a model would estimate the rest. Nobody has graded players yet, so it needs labels before it can be tested. Our player statistics would be its input.</a:t>
            </a:r>
            <a:endParaRPr lang="en-US" sz="1800" dirty="0"/>
          </a:p>
        </p:txBody>
      </p:sp>
      <p:sp>
        <p:nvSpPr>
          <p:cNvPr id="13" name="Footnote"/>
          <p:cNvSpPr txBox="1"/>
          <p:nvPr/>
        </p:nvSpPr>
        <p:spPr>
          <a:xfrm>
            <a:off x="822960" y="5760720"/>
            <a:ext cx="10543032" cy="274320"/>
          </a:xfrm>
          <a:prstGeom prst="rect">
            <a:avLst/>
          </a:prstGeom>
          <a:noFill/>
          <a:ln/>
        </p:spPr>
        <p:txBody>
          <a:bodyPr wrap="square" lIns="0" tIns="0" rIns="0" bIns="0" rtlCol="0" anchor="t"/>
          <a:lstStyle/>
          <a:p>
            <a:pPr indent="0" marL="0">
              <a:buNone/>
            </a:pPr>
            <a:r>
              <a:rPr lang="en-US" sz="1200" dirty="0">
                <a:solidFill>
                  <a:schemeClr val="bg2"/>
                </a:solidFill>
              </a:rPr>
              <a:t>Estimates: 0.75× is the median processing ratio on one RTX 3090 · grading and styles are a possible extension, not a result</a:t>
            </a:r>
            <a:endParaRPr lang="en-US" sz="1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WHAT YOU CAN DO IN THE APP</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Four ways to see the match</a:t>
            </a:r>
            <a:endParaRPr lang="en-US" sz="3600" dirty="0"/>
          </a:p>
        </p:txBody>
      </p:sp>
      <p:sp>
        <p:nvSpPr>
          <p:cNvPr id="5" name="Card 1"/>
          <p:cNvSpPr/>
          <p:nvPr/>
        </p:nvSpPr>
        <p:spPr>
          <a:xfrm>
            <a:off x="822960" y="2011680"/>
            <a:ext cx="5134356" cy="1645920"/>
          </a:xfrm>
          <a:prstGeom prst="roundRect">
            <a:avLst>
              <a:gd name="adj" fmla="val 6667"/>
            </a:avLst>
          </a:prstGeom>
          <a:solidFill>
            <a:schemeClr val="bg1"/>
          </a:solidFill>
          <a:ln/>
        </p:spPr>
      </p:sp>
      <p:sp>
        <p:nvSpPr>
          <p:cNvPr id="6" name="Badge 1"/>
          <p:cNvSpPr/>
          <p:nvPr/>
        </p:nvSpPr>
        <p:spPr>
          <a:xfrm>
            <a:off x="1097280" y="2286000"/>
            <a:ext cx="457200" cy="457200"/>
          </a:xfrm>
          <a:prstGeom prst="ellipse">
            <a:avLst/>
          </a:prstGeom>
          <a:solidFill>
            <a:schemeClr val="accent1"/>
          </a:solidFill>
          <a:ln/>
        </p:spPr>
      </p:sp>
      <p:sp>
        <p:nvSpPr>
          <p:cNvPr id="7" name="Badge 1 number"/>
          <p:cNvSpPr txBox="1"/>
          <p:nvPr/>
        </p:nvSpPr>
        <p:spPr>
          <a:xfrm>
            <a:off x="10972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Card title 1"/>
          <p:cNvSpPr txBox="1"/>
          <p:nvPr/>
        </p:nvSpPr>
        <p:spPr>
          <a:xfrm>
            <a:off x="1737360"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Match report</a:t>
            </a:r>
            <a:endParaRPr lang="en-US" sz="2400" dirty="0"/>
          </a:p>
        </p:txBody>
      </p:sp>
      <p:sp>
        <p:nvSpPr>
          <p:cNvPr id="9" name="Card text 1"/>
          <p:cNvSpPr txBox="1"/>
          <p:nvPr/>
        </p:nvSpPr>
        <p:spPr>
          <a:xfrm>
            <a:off x="1737360" y="2880360"/>
            <a:ext cx="3945636" cy="594360"/>
          </a:xfrm>
          <a:prstGeom prst="rect">
            <a:avLst/>
          </a:prstGeom>
          <a:noFill/>
          <a:ln/>
        </p:spPr>
        <p:txBody>
          <a:bodyPr wrap="square" lIns="0" tIns="0" rIns="0" bIns="0" rtlCol="0" anchor="t"/>
          <a:lstStyle/>
          <a:p>
            <a:pPr indent="0" marL="0">
              <a:buNone/>
            </a:pPr>
            <a:r>
              <a:rPr lang="en-US" sz="1800" dirty="0">
                <a:solidFill>
                  <a:schemeClr val="tx2"/>
                </a:solidFill>
              </a:rPr>
              <a:t>Compare the two teams: possession, passes, shots.</a:t>
            </a:r>
            <a:endParaRPr lang="en-US" sz="1800" dirty="0"/>
          </a:p>
        </p:txBody>
      </p:sp>
      <p:sp>
        <p:nvSpPr>
          <p:cNvPr id="10" name="Card 2"/>
          <p:cNvSpPr/>
          <p:nvPr/>
        </p:nvSpPr>
        <p:spPr>
          <a:xfrm>
            <a:off x="6231636" y="2011680"/>
            <a:ext cx="5134356" cy="1645920"/>
          </a:xfrm>
          <a:prstGeom prst="roundRect">
            <a:avLst>
              <a:gd name="adj" fmla="val 6667"/>
            </a:avLst>
          </a:prstGeom>
          <a:solidFill>
            <a:schemeClr val="bg1"/>
          </a:solidFill>
          <a:ln/>
        </p:spPr>
      </p:sp>
      <p:sp>
        <p:nvSpPr>
          <p:cNvPr id="11" name="Badge 2"/>
          <p:cNvSpPr/>
          <p:nvPr/>
        </p:nvSpPr>
        <p:spPr>
          <a:xfrm>
            <a:off x="6505956" y="2286000"/>
            <a:ext cx="457200" cy="457200"/>
          </a:xfrm>
          <a:prstGeom prst="ellipse">
            <a:avLst/>
          </a:prstGeom>
          <a:solidFill>
            <a:schemeClr val="accent1"/>
          </a:solidFill>
          <a:ln/>
        </p:spPr>
      </p:sp>
      <p:sp>
        <p:nvSpPr>
          <p:cNvPr id="12" name="Badge 2 number"/>
          <p:cNvSpPr txBox="1"/>
          <p:nvPr/>
        </p:nvSpPr>
        <p:spPr>
          <a:xfrm>
            <a:off x="6505956"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Card title 2"/>
          <p:cNvSpPr txBox="1"/>
          <p:nvPr/>
        </p:nvSpPr>
        <p:spPr>
          <a:xfrm>
            <a:off x="7146036"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Player profiles</a:t>
            </a:r>
            <a:endParaRPr lang="en-US" sz="2400" dirty="0"/>
          </a:p>
        </p:txBody>
      </p:sp>
      <p:sp>
        <p:nvSpPr>
          <p:cNvPr id="14" name="Card text 2"/>
          <p:cNvSpPr txBox="1"/>
          <p:nvPr/>
        </p:nvSpPr>
        <p:spPr>
          <a:xfrm>
            <a:off x="7146036" y="2880360"/>
            <a:ext cx="3945636" cy="594360"/>
          </a:xfrm>
          <a:prstGeom prst="rect">
            <a:avLst/>
          </a:prstGeom>
          <a:noFill/>
          <a:ln/>
        </p:spPr>
        <p:txBody>
          <a:bodyPr wrap="square" lIns="0" tIns="0" rIns="0" bIns="0" rtlCol="0" anchor="t"/>
          <a:lstStyle/>
          <a:p>
            <a:pPr indent="0" marL="0">
              <a:buNone/>
            </a:pPr>
            <a:r>
              <a:rPr lang="en-US" sz="1800" dirty="0">
                <a:solidFill>
                  <a:schemeClr val="tx2"/>
                </a:solidFill>
              </a:rPr>
              <a:t>Distance, speed, heatmap and actions for each player.</a:t>
            </a:r>
            <a:endParaRPr lang="en-US" sz="1800" dirty="0"/>
          </a:p>
        </p:txBody>
      </p:sp>
      <p:sp>
        <p:nvSpPr>
          <p:cNvPr id="15" name="Card 3"/>
          <p:cNvSpPr/>
          <p:nvPr/>
        </p:nvSpPr>
        <p:spPr>
          <a:xfrm>
            <a:off x="822960" y="3840480"/>
            <a:ext cx="5134356" cy="1645920"/>
          </a:xfrm>
          <a:prstGeom prst="roundRect">
            <a:avLst>
              <a:gd name="adj" fmla="val 6667"/>
            </a:avLst>
          </a:prstGeom>
          <a:solidFill>
            <a:schemeClr val="bg1"/>
          </a:solidFill>
          <a:ln/>
        </p:spPr>
      </p:sp>
      <p:sp>
        <p:nvSpPr>
          <p:cNvPr id="16" name="Badge 3"/>
          <p:cNvSpPr/>
          <p:nvPr/>
        </p:nvSpPr>
        <p:spPr>
          <a:xfrm>
            <a:off x="1097280" y="4114800"/>
            <a:ext cx="457200" cy="457200"/>
          </a:xfrm>
          <a:prstGeom prst="ellipse">
            <a:avLst/>
          </a:prstGeom>
          <a:solidFill>
            <a:schemeClr val="accent1"/>
          </a:solidFill>
          <a:ln/>
        </p:spPr>
      </p:sp>
      <p:sp>
        <p:nvSpPr>
          <p:cNvPr id="17" name="Badge 3 number"/>
          <p:cNvSpPr txBox="1"/>
          <p:nvPr/>
        </p:nvSpPr>
        <p:spPr>
          <a:xfrm>
            <a:off x="109728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Card title 3"/>
          <p:cNvSpPr txBox="1"/>
          <p:nvPr/>
        </p:nvSpPr>
        <p:spPr>
          <a:xfrm>
            <a:off x="1737360" y="41148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Event maps</a:t>
            </a:r>
            <a:endParaRPr lang="en-US" sz="2400" dirty="0"/>
          </a:p>
        </p:txBody>
      </p:sp>
      <p:sp>
        <p:nvSpPr>
          <p:cNvPr id="19" name="Card text 3"/>
          <p:cNvSpPr txBox="1"/>
          <p:nvPr/>
        </p:nvSpPr>
        <p:spPr>
          <a:xfrm>
            <a:off x="1737360" y="4709160"/>
            <a:ext cx="3945636" cy="594360"/>
          </a:xfrm>
          <a:prstGeom prst="rect">
            <a:avLst/>
          </a:prstGeom>
          <a:noFill/>
          <a:ln/>
        </p:spPr>
        <p:txBody>
          <a:bodyPr wrap="square" lIns="0" tIns="0" rIns="0" bIns="0" rtlCol="0" anchor="t"/>
          <a:lstStyle/>
          <a:p>
            <a:pPr indent="0" marL="0">
              <a:buNone/>
            </a:pPr>
            <a:r>
              <a:rPr lang="en-US" sz="1800" dirty="0">
                <a:solidFill>
                  <a:schemeClr val="tx2"/>
                </a:solidFill>
              </a:rPr>
              <a:t>See where every pass and shot happened.</a:t>
            </a:r>
            <a:endParaRPr lang="en-US" sz="1800" dirty="0"/>
          </a:p>
        </p:txBody>
      </p:sp>
      <p:sp>
        <p:nvSpPr>
          <p:cNvPr id="20" name="Card 4"/>
          <p:cNvSpPr/>
          <p:nvPr/>
        </p:nvSpPr>
        <p:spPr>
          <a:xfrm>
            <a:off x="6231636" y="3840480"/>
            <a:ext cx="5134356" cy="1645920"/>
          </a:xfrm>
          <a:prstGeom prst="roundRect">
            <a:avLst>
              <a:gd name="adj" fmla="val 6667"/>
            </a:avLst>
          </a:prstGeom>
          <a:solidFill>
            <a:schemeClr val="bg1"/>
          </a:solidFill>
          <a:ln/>
        </p:spPr>
      </p:sp>
      <p:sp>
        <p:nvSpPr>
          <p:cNvPr id="21" name="Badge 4"/>
          <p:cNvSpPr/>
          <p:nvPr/>
        </p:nvSpPr>
        <p:spPr>
          <a:xfrm>
            <a:off x="6505956" y="4114800"/>
            <a:ext cx="457200" cy="457200"/>
          </a:xfrm>
          <a:prstGeom prst="ellipse">
            <a:avLst/>
          </a:prstGeom>
          <a:solidFill>
            <a:schemeClr val="accent1"/>
          </a:solidFill>
          <a:ln/>
        </p:spPr>
      </p:sp>
      <p:sp>
        <p:nvSpPr>
          <p:cNvPr id="22" name="Badge 4 number"/>
          <p:cNvSpPr txBox="1"/>
          <p:nvPr/>
        </p:nvSpPr>
        <p:spPr>
          <a:xfrm>
            <a:off x="6505956"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Card title 4"/>
          <p:cNvSpPr txBox="1"/>
          <p:nvPr/>
        </p:nvSpPr>
        <p:spPr>
          <a:xfrm>
            <a:off x="7146036" y="41148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Live tracking</a:t>
            </a:r>
            <a:endParaRPr lang="en-US" sz="2400" dirty="0"/>
          </a:p>
        </p:txBody>
      </p:sp>
      <p:sp>
        <p:nvSpPr>
          <p:cNvPr id="24" name="Card text 4"/>
          <p:cNvSpPr txBox="1"/>
          <p:nvPr/>
        </p:nvSpPr>
        <p:spPr>
          <a:xfrm>
            <a:off x="7146036" y="4709160"/>
            <a:ext cx="3945636" cy="594360"/>
          </a:xfrm>
          <a:prstGeom prst="rect">
            <a:avLst/>
          </a:prstGeom>
          <a:noFill/>
          <a:ln/>
        </p:spPr>
        <p:txBody>
          <a:bodyPr wrap="square" lIns="0" tIns="0" rIns="0" bIns="0" rtlCol="0" anchor="t"/>
          <a:lstStyle/>
          <a:p>
            <a:pPr indent="0" marL="0">
              <a:buNone/>
            </a:pPr>
            <a:r>
              <a:rPr lang="en-US" sz="1800" dirty="0">
                <a:solidFill>
                  <a:schemeClr val="tx2"/>
                </a:solidFill>
              </a:rPr>
              <a:t>Watch the AI’s boxes on the real footage.</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HOW IT WORKS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Four steps from video to statistics</a:t>
            </a:r>
            <a:endParaRPr lang="en-US" sz="3600" dirty="0"/>
          </a:p>
        </p:txBody>
      </p:sp>
      <p:sp>
        <p:nvSpPr>
          <p:cNvPr id="5" name="Step card 1"/>
          <p:cNvSpPr/>
          <p:nvPr/>
        </p:nvSpPr>
        <p:spPr>
          <a:xfrm>
            <a:off x="822960" y="2103120"/>
            <a:ext cx="2189988" cy="3017520"/>
          </a:xfrm>
          <a:prstGeom prst="roundRect">
            <a:avLst>
              <a:gd name="adj" fmla="val 5010"/>
            </a:avLst>
          </a:prstGeom>
          <a:solidFill>
            <a:schemeClr val="bg2"/>
          </a:solidFill>
          <a:ln/>
        </p:spPr>
      </p:sp>
      <p:sp>
        <p:nvSpPr>
          <p:cNvPr id="6" name="Step badge 1"/>
          <p:cNvSpPr/>
          <p:nvPr/>
        </p:nvSpPr>
        <p:spPr>
          <a:xfrm>
            <a:off x="1097280" y="2377440"/>
            <a:ext cx="457200" cy="457200"/>
          </a:xfrm>
          <a:prstGeom prst="ellipse">
            <a:avLst/>
          </a:prstGeom>
          <a:solidFill>
            <a:schemeClr val="accent1"/>
          </a:solidFill>
          <a:ln/>
        </p:spPr>
      </p:sp>
      <p:sp>
        <p:nvSpPr>
          <p:cNvPr id="7" name="Step badge 1 number"/>
          <p:cNvSpPr txBox="1"/>
          <p:nvPr/>
        </p:nvSpPr>
        <p:spPr>
          <a:xfrm>
            <a:off x="109728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Step title 1"/>
          <p:cNvSpPr txBox="1"/>
          <p:nvPr/>
        </p:nvSpPr>
        <p:spPr>
          <a:xfrm>
            <a:off x="1097280" y="3017520"/>
            <a:ext cx="1641348" cy="457200"/>
          </a:xfrm>
          <a:prstGeom prst="rect">
            <a:avLst/>
          </a:prstGeom>
          <a:noFill/>
          <a:ln/>
        </p:spPr>
        <p:txBody>
          <a:bodyPr wrap="square" lIns="0" tIns="0" rIns="0" bIns="0" rtlCol="0" anchor="t"/>
          <a:lstStyle/>
          <a:p>
            <a:pPr indent="0" marL="0">
              <a:buNone/>
            </a:pPr>
            <a:r>
              <a:rPr lang="en-US" sz="2400" b="1" dirty="0">
                <a:solidFill>
                  <a:schemeClr val="tx1"/>
                </a:solidFill>
              </a:rPr>
              <a:t>See</a:t>
            </a:r>
            <a:endParaRPr lang="en-US" sz="2400" dirty="0"/>
          </a:p>
        </p:txBody>
      </p:sp>
      <p:sp>
        <p:nvSpPr>
          <p:cNvPr id="9" name="Step text 1"/>
          <p:cNvSpPr txBox="1"/>
          <p:nvPr/>
        </p:nvSpPr>
        <p:spPr>
          <a:xfrm>
            <a:off x="1097280" y="3520440"/>
            <a:ext cx="1641348" cy="1371600"/>
          </a:xfrm>
          <a:prstGeom prst="rect">
            <a:avLst/>
          </a:prstGeom>
          <a:noFill/>
          <a:ln/>
        </p:spPr>
        <p:txBody>
          <a:bodyPr wrap="square" lIns="0" tIns="0" rIns="0" bIns="0" rtlCol="0" anchor="t"/>
          <a:lstStyle/>
          <a:p>
            <a:pPr indent="0" marL="0">
              <a:buNone/>
            </a:pPr>
            <a:r>
              <a:rPr lang="en-US" sz="1800" dirty="0">
                <a:solidFill>
                  <a:schemeClr val="tx2"/>
                </a:solidFill>
              </a:rPr>
              <a:t>Find every player and the ball in each frame.</a:t>
            </a:r>
            <a:endParaRPr lang="en-US" sz="1800" dirty="0"/>
          </a:p>
        </p:txBody>
      </p:sp>
      <p:sp>
        <p:nvSpPr>
          <p:cNvPr id="10" name="Arrow 1"/>
          <p:cNvSpPr/>
          <p:nvPr/>
        </p:nvSpPr>
        <p:spPr>
          <a:xfrm>
            <a:off x="3127248" y="3456432"/>
            <a:ext cx="365760" cy="310896"/>
          </a:xfrm>
          <a:prstGeom prst="rightArrow">
            <a:avLst/>
          </a:prstGeom>
          <a:solidFill>
            <a:schemeClr val="accent1"/>
          </a:solidFill>
          <a:ln/>
        </p:spPr>
      </p:sp>
      <p:sp>
        <p:nvSpPr>
          <p:cNvPr id="11" name="Step card 2"/>
          <p:cNvSpPr/>
          <p:nvPr/>
        </p:nvSpPr>
        <p:spPr>
          <a:xfrm>
            <a:off x="3607308" y="2103120"/>
            <a:ext cx="2189988" cy="3017520"/>
          </a:xfrm>
          <a:prstGeom prst="roundRect">
            <a:avLst>
              <a:gd name="adj" fmla="val 5010"/>
            </a:avLst>
          </a:prstGeom>
          <a:solidFill>
            <a:schemeClr val="bg2"/>
          </a:solidFill>
          <a:ln/>
        </p:spPr>
      </p:sp>
      <p:sp>
        <p:nvSpPr>
          <p:cNvPr id="12" name="Step badge 2"/>
          <p:cNvSpPr/>
          <p:nvPr/>
        </p:nvSpPr>
        <p:spPr>
          <a:xfrm>
            <a:off x="3881628" y="2377440"/>
            <a:ext cx="457200" cy="457200"/>
          </a:xfrm>
          <a:prstGeom prst="ellipse">
            <a:avLst/>
          </a:prstGeom>
          <a:solidFill>
            <a:schemeClr val="accent1"/>
          </a:solidFill>
          <a:ln/>
        </p:spPr>
      </p:sp>
      <p:sp>
        <p:nvSpPr>
          <p:cNvPr id="13" name="Step badge 2 number"/>
          <p:cNvSpPr txBox="1"/>
          <p:nvPr/>
        </p:nvSpPr>
        <p:spPr>
          <a:xfrm>
            <a:off x="3881628"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Step title 2"/>
          <p:cNvSpPr txBox="1"/>
          <p:nvPr/>
        </p:nvSpPr>
        <p:spPr>
          <a:xfrm>
            <a:off x="3881628" y="3017520"/>
            <a:ext cx="1641348" cy="457200"/>
          </a:xfrm>
          <a:prstGeom prst="rect">
            <a:avLst/>
          </a:prstGeom>
          <a:noFill/>
          <a:ln/>
        </p:spPr>
        <p:txBody>
          <a:bodyPr wrap="square" lIns="0" tIns="0" rIns="0" bIns="0" rtlCol="0" anchor="t"/>
          <a:lstStyle/>
          <a:p>
            <a:pPr indent="0" marL="0">
              <a:buNone/>
            </a:pPr>
            <a:r>
              <a:rPr lang="en-US" sz="2400" b="1" dirty="0">
                <a:solidFill>
                  <a:schemeClr val="tx1"/>
                </a:solidFill>
              </a:rPr>
              <a:t>Place</a:t>
            </a:r>
            <a:endParaRPr lang="en-US" sz="2400" dirty="0"/>
          </a:p>
        </p:txBody>
      </p:sp>
      <p:sp>
        <p:nvSpPr>
          <p:cNvPr id="15" name="Step text 2"/>
          <p:cNvSpPr txBox="1"/>
          <p:nvPr/>
        </p:nvSpPr>
        <p:spPr>
          <a:xfrm>
            <a:off x="3881628" y="3520440"/>
            <a:ext cx="1641348" cy="1371600"/>
          </a:xfrm>
          <a:prstGeom prst="rect">
            <a:avLst/>
          </a:prstGeom>
          <a:noFill/>
          <a:ln/>
        </p:spPr>
        <p:txBody>
          <a:bodyPr wrap="square" lIns="0" tIns="0" rIns="0" bIns="0" rtlCol="0" anchor="t"/>
          <a:lstStyle/>
          <a:p>
            <a:pPr indent="0" marL="0">
              <a:buNone/>
            </a:pPr>
            <a:r>
              <a:rPr lang="en-US" sz="1800" dirty="0">
                <a:solidFill>
                  <a:schemeClr val="tx2"/>
                </a:solidFill>
              </a:rPr>
              <a:t>Turn camera pixels into metres on the pitch.</a:t>
            </a:r>
            <a:endParaRPr lang="en-US" sz="1800" dirty="0"/>
          </a:p>
        </p:txBody>
      </p:sp>
      <p:sp>
        <p:nvSpPr>
          <p:cNvPr id="16" name="Arrow 2"/>
          <p:cNvSpPr/>
          <p:nvPr/>
        </p:nvSpPr>
        <p:spPr>
          <a:xfrm>
            <a:off x="5911596" y="3456432"/>
            <a:ext cx="365760" cy="310896"/>
          </a:xfrm>
          <a:prstGeom prst="rightArrow">
            <a:avLst/>
          </a:prstGeom>
          <a:solidFill>
            <a:schemeClr val="accent1"/>
          </a:solidFill>
          <a:ln/>
        </p:spPr>
      </p:sp>
      <p:sp>
        <p:nvSpPr>
          <p:cNvPr id="17" name="Step card 3"/>
          <p:cNvSpPr/>
          <p:nvPr/>
        </p:nvSpPr>
        <p:spPr>
          <a:xfrm>
            <a:off x="6391656" y="2103120"/>
            <a:ext cx="2189988" cy="3017520"/>
          </a:xfrm>
          <a:prstGeom prst="roundRect">
            <a:avLst>
              <a:gd name="adj" fmla="val 5010"/>
            </a:avLst>
          </a:prstGeom>
          <a:solidFill>
            <a:schemeClr val="bg2"/>
          </a:solidFill>
          <a:ln/>
        </p:spPr>
      </p:sp>
      <p:sp>
        <p:nvSpPr>
          <p:cNvPr id="18" name="Step badge 3"/>
          <p:cNvSpPr/>
          <p:nvPr/>
        </p:nvSpPr>
        <p:spPr>
          <a:xfrm>
            <a:off x="6665976" y="2377440"/>
            <a:ext cx="457200" cy="457200"/>
          </a:xfrm>
          <a:prstGeom prst="ellipse">
            <a:avLst/>
          </a:prstGeom>
          <a:solidFill>
            <a:schemeClr val="accent1"/>
          </a:solidFill>
          <a:ln/>
        </p:spPr>
      </p:sp>
      <p:sp>
        <p:nvSpPr>
          <p:cNvPr id="19" name="Step badge 3 number"/>
          <p:cNvSpPr txBox="1"/>
          <p:nvPr/>
        </p:nvSpPr>
        <p:spPr>
          <a:xfrm>
            <a:off x="6665976"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Step title 3"/>
          <p:cNvSpPr txBox="1"/>
          <p:nvPr/>
        </p:nvSpPr>
        <p:spPr>
          <a:xfrm>
            <a:off x="6665976" y="3017520"/>
            <a:ext cx="1641348" cy="457200"/>
          </a:xfrm>
          <a:prstGeom prst="rect">
            <a:avLst/>
          </a:prstGeom>
          <a:noFill/>
          <a:ln/>
        </p:spPr>
        <p:txBody>
          <a:bodyPr wrap="square" lIns="0" tIns="0" rIns="0" bIns="0" rtlCol="0" anchor="t"/>
          <a:lstStyle/>
          <a:p>
            <a:pPr indent="0" marL="0">
              <a:buNone/>
            </a:pPr>
            <a:r>
              <a:rPr lang="en-US" sz="2400" b="1" dirty="0">
                <a:solidFill>
                  <a:schemeClr val="tx1"/>
                </a:solidFill>
              </a:rPr>
              <a:t>Identify</a:t>
            </a:r>
            <a:endParaRPr lang="en-US" sz="2400" dirty="0"/>
          </a:p>
        </p:txBody>
      </p:sp>
      <p:sp>
        <p:nvSpPr>
          <p:cNvPr id="21" name="Step text 3"/>
          <p:cNvSpPr txBox="1"/>
          <p:nvPr/>
        </p:nvSpPr>
        <p:spPr>
          <a:xfrm>
            <a:off x="6665976" y="3520440"/>
            <a:ext cx="1641348" cy="1371600"/>
          </a:xfrm>
          <a:prstGeom prst="rect">
            <a:avLst/>
          </a:prstGeom>
          <a:noFill/>
          <a:ln/>
        </p:spPr>
        <p:txBody>
          <a:bodyPr wrap="square" lIns="0" tIns="0" rIns="0" bIns="0" rtlCol="0" anchor="t"/>
          <a:lstStyle/>
          <a:p>
            <a:pPr indent="0" marL="0">
              <a:buNone/>
            </a:pPr>
            <a:r>
              <a:rPr lang="en-US" sz="1800" dirty="0">
                <a:solidFill>
                  <a:schemeClr val="tx2"/>
                </a:solidFill>
              </a:rPr>
              <a:t>Team from kit colour. Player from shirt number.</a:t>
            </a:r>
            <a:endParaRPr lang="en-US" sz="1800" dirty="0"/>
          </a:p>
        </p:txBody>
      </p:sp>
      <p:sp>
        <p:nvSpPr>
          <p:cNvPr id="22" name="Arrow 3"/>
          <p:cNvSpPr/>
          <p:nvPr/>
        </p:nvSpPr>
        <p:spPr>
          <a:xfrm>
            <a:off x="8695944" y="3456432"/>
            <a:ext cx="365760" cy="310896"/>
          </a:xfrm>
          <a:prstGeom prst="rightArrow">
            <a:avLst/>
          </a:prstGeom>
          <a:solidFill>
            <a:schemeClr val="accent1"/>
          </a:solidFill>
          <a:ln/>
        </p:spPr>
      </p:sp>
      <p:sp>
        <p:nvSpPr>
          <p:cNvPr id="23" name="Step card 4"/>
          <p:cNvSpPr/>
          <p:nvPr/>
        </p:nvSpPr>
        <p:spPr>
          <a:xfrm>
            <a:off x="9176004" y="2103120"/>
            <a:ext cx="2189988" cy="3017520"/>
          </a:xfrm>
          <a:prstGeom prst="roundRect">
            <a:avLst>
              <a:gd name="adj" fmla="val 5010"/>
            </a:avLst>
          </a:prstGeom>
          <a:solidFill>
            <a:schemeClr val="bg2"/>
          </a:solidFill>
          <a:ln/>
        </p:spPr>
      </p:sp>
      <p:sp>
        <p:nvSpPr>
          <p:cNvPr id="24" name="Step badge 4"/>
          <p:cNvSpPr/>
          <p:nvPr/>
        </p:nvSpPr>
        <p:spPr>
          <a:xfrm>
            <a:off x="9450324" y="2377440"/>
            <a:ext cx="457200" cy="457200"/>
          </a:xfrm>
          <a:prstGeom prst="ellipse">
            <a:avLst/>
          </a:prstGeom>
          <a:solidFill>
            <a:schemeClr val="accent1"/>
          </a:solidFill>
          <a:ln/>
        </p:spPr>
      </p:sp>
      <p:sp>
        <p:nvSpPr>
          <p:cNvPr id="25" name="Step badge 4 number"/>
          <p:cNvSpPr txBox="1"/>
          <p:nvPr/>
        </p:nvSpPr>
        <p:spPr>
          <a:xfrm>
            <a:off x="9450324"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Step title 4"/>
          <p:cNvSpPr txBox="1"/>
          <p:nvPr/>
        </p:nvSpPr>
        <p:spPr>
          <a:xfrm>
            <a:off x="9450324" y="3017520"/>
            <a:ext cx="1641348" cy="457200"/>
          </a:xfrm>
          <a:prstGeom prst="rect">
            <a:avLst/>
          </a:prstGeom>
          <a:noFill/>
          <a:ln/>
        </p:spPr>
        <p:txBody>
          <a:bodyPr wrap="square" lIns="0" tIns="0" rIns="0" bIns="0" rtlCol="0" anchor="t"/>
          <a:lstStyle/>
          <a:p>
            <a:pPr indent="0" marL="0">
              <a:buNone/>
            </a:pPr>
            <a:r>
              <a:rPr lang="en-US" sz="2400" b="1" dirty="0">
                <a:solidFill>
                  <a:schemeClr val="tx1"/>
                </a:solidFill>
              </a:rPr>
              <a:t>Count</a:t>
            </a:r>
            <a:endParaRPr lang="en-US" sz="2400" dirty="0"/>
          </a:p>
        </p:txBody>
      </p:sp>
      <p:sp>
        <p:nvSpPr>
          <p:cNvPr id="27" name="Step text 4"/>
          <p:cNvSpPr txBox="1"/>
          <p:nvPr/>
        </p:nvSpPr>
        <p:spPr>
          <a:xfrm>
            <a:off x="9450324" y="3520440"/>
            <a:ext cx="1641348" cy="1371600"/>
          </a:xfrm>
          <a:prstGeom prst="rect">
            <a:avLst/>
          </a:prstGeom>
          <a:noFill/>
          <a:ln/>
        </p:spPr>
        <p:txBody>
          <a:bodyPr wrap="square" lIns="0" tIns="0" rIns="0" bIns="0" rtlCol="0" anchor="t"/>
          <a:lstStyle/>
          <a:p>
            <a:pPr indent="0" marL="0">
              <a:buNone/>
            </a:pPr>
            <a:r>
              <a:rPr lang="en-US" sz="1800" dirty="0">
                <a:solidFill>
                  <a:schemeClr val="tx2"/>
                </a:solidFill>
              </a:rPr>
              <a:t>Passes, shots, distance and runs from the movement.</a:t>
            </a:r>
            <a:endParaRPr lang="en-US" sz="1800" dirty="0"/>
          </a:p>
        </p:txBody>
      </p:sp>
      <p:sp>
        <p:nvSpPr>
          <p:cNvPr id="28" name="Key message"/>
          <p:cNvSpPr txBox="1"/>
          <p:nvPr/>
        </p:nvSpPr>
        <p:spPr>
          <a:xfrm>
            <a:off x="822960" y="5486400"/>
            <a:ext cx="10543032" cy="457200"/>
          </a:xfrm>
          <a:prstGeom prst="rect">
            <a:avLst/>
          </a:prstGeom>
          <a:noFill/>
          <a:ln/>
        </p:spPr>
        <p:txBody>
          <a:bodyPr wrap="square" lIns="0" tIns="0" rIns="0" bIns="0" rtlCol="0" anchor="t"/>
          <a:lstStyle/>
          <a:p>
            <a:pPr indent="0" marL="0">
              <a:buNone/>
            </a:pPr>
            <a:r>
              <a:rPr lang="en-US" sz="2200" b="1" dirty="0">
                <a:solidFill>
                  <a:schemeClr val="tx1"/>
                </a:solidFill>
              </a:rPr>
              <a:t>Only the video is used. </a:t>
            </a:r>
            <a:pPr indent="0" marL="0">
              <a:buNone/>
            </a:pPr>
            <a:r>
              <a:rPr lang="en-US" sz="2200" dirty="0">
                <a:solidFill>
                  <a:schemeClr val="tx2"/>
                </a:solidFill>
              </a:rPr>
              <a:t>No data feeds. A line-up is optional and not used for any number shown.</a:t>
            </a:r>
            <a:endParaRPr lang="en-US" sz="22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EVERY MODEL AND METHOD</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What each model and method does</a:t>
            </a:r>
            <a:endParaRPr lang="en-US" sz="3600" dirty="0"/>
          </a:p>
        </p:txBody>
      </p:sp>
      <p:graphicFrame>
        <p:nvGraphicFramePr>
          <p:cNvPr id="24" name="Models table"/>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2148840"/>
                <a:gridCol w="4206240"/>
                <a:gridCol w="2331720"/>
                <a:gridCol w="1856232"/>
              </a:tblGrid>
              <a:tr h="310896">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MODEL OR METHOD</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WHAT IT DOES</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IN → OUT</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ORIGIN</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YOLOv8x detectors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Find players, goalkeepers and referees. A second one finds the ball.</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Frame → boxes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Pretrained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BoT-SORT tracker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Follows each box from frame to frame. A cut detector stops identities crossing a camera cut.</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Boxes → tracks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 training</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HRNetV2-W48 keypoints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Finds 57 points on the pitch lines. A homography turns pixels into metres.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Frame → pitch position</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Pretrained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K-means on shirt colour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Splits the players into two teams.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Torso colour → team A or B</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 training</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ResNet-34 + PARSeq</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Checks whether a number is readable, then reads it.</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Thumbnail → shirt number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Pretrained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CLIP ViT-B/16 identity model</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Reads number digits, spots goalkeepers, matches a player’s look across cuts.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Thumbnail → which player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Fine-tuned by us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T-DEED action spotter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Finds passes, carries, shots, headers, blocks and tackles in the video.</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Video clip → event and time</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Fine-tuned by us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57200">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Event rules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Work out touches, passes, carries, sprints and distance from positions.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Positions → events, totals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Hand-written</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THE AI BEHIND EACH STEP</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One model family for each job</a:t>
            </a:r>
            <a:endParaRPr lang="en-US" sz="3600" dirty="0"/>
          </a:p>
        </p:txBody>
      </p:sp>
      <p:sp>
        <p:nvSpPr>
          <p:cNvPr id="5" name="Model card 1"/>
          <p:cNvSpPr/>
          <p:nvPr/>
        </p:nvSpPr>
        <p:spPr>
          <a:xfrm>
            <a:off x="822960" y="1691640"/>
            <a:ext cx="5134356" cy="1828800"/>
          </a:xfrm>
          <a:prstGeom prst="roundRect">
            <a:avLst>
              <a:gd name="adj" fmla="val 6000"/>
            </a:avLst>
          </a:prstGeom>
          <a:solidFill>
            <a:schemeClr val="bg2"/>
          </a:solidFill>
          <a:ln/>
        </p:spPr>
      </p:sp>
      <p:sp>
        <p:nvSpPr>
          <p:cNvPr id="6" name="Model step 1"/>
          <p:cNvSpPr txBox="1"/>
          <p:nvPr/>
        </p:nvSpPr>
        <p:spPr>
          <a:xfrm>
            <a:off x="1143000" y="1920240"/>
            <a:ext cx="449427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 · SEE</a:t>
            </a:r>
            <a:endParaRPr lang="en-US" sz="1200" dirty="0"/>
          </a:p>
        </p:txBody>
      </p:sp>
      <p:sp>
        <p:nvSpPr>
          <p:cNvPr id="7" name="Model name 1"/>
          <p:cNvSpPr txBox="1"/>
          <p:nvPr/>
        </p:nvSpPr>
        <p:spPr>
          <a:xfrm>
            <a:off x="1143000" y="2194560"/>
            <a:ext cx="4494276" cy="731520"/>
          </a:xfrm>
          <a:prstGeom prst="rect">
            <a:avLst/>
          </a:prstGeom>
          <a:noFill/>
          <a:ln/>
        </p:spPr>
        <p:txBody>
          <a:bodyPr wrap="square" lIns="0" tIns="0" rIns="0" bIns="0" rtlCol="0" anchor="t"/>
          <a:lstStyle/>
          <a:p>
            <a:pPr indent="0" marL="0">
              <a:buNone/>
            </a:pPr>
            <a:r>
              <a:rPr lang="en-US" sz="2200" b="1" dirty="0">
                <a:solidFill>
                  <a:schemeClr val="tx1"/>
                </a:solidFill>
              </a:rPr>
              <a:t>YOLOv8x detector and BoT-SORT tracker</a:t>
            </a:r>
            <a:endParaRPr lang="en-US" sz="2200" dirty="0"/>
          </a:p>
        </p:txBody>
      </p:sp>
      <p:sp>
        <p:nvSpPr>
          <p:cNvPr id="8" name="Model role 1"/>
          <p:cNvSpPr txBox="1"/>
          <p:nvPr/>
        </p:nvSpPr>
        <p:spPr>
          <a:xfrm>
            <a:off x="1143000" y="2971800"/>
            <a:ext cx="4494276" cy="502920"/>
          </a:xfrm>
          <a:prstGeom prst="rect">
            <a:avLst/>
          </a:prstGeom>
          <a:noFill/>
          <a:ln/>
        </p:spPr>
        <p:txBody>
          <a:bodyPr wrap="square" lIns="0" tIns="0" rIns="0" bIns="0" rtlCol="0" anchor="t"/>
          <a:lstStyle/>
          <a:p>
            <a:pPr indent="0" marL="0">
              <a:buNone/>
            </a:pPr>
            <a:r>
              <a:rPr lang="en-US" sz="1600" dirty="0">
                <a:solidFill>
                  <a:schemeClr val="tx2"/>
                </a:solidFill>
              </a:rPr>
              <a:t>Finds players and follows them between frames.</a:t>
            </a:r>
            <a:endParaRPr lang="en-US" sz="1600" dirty="0"/>
          </a:p>
        </p:txBody>
      </p:sp>
      <p:sp>
        <p:nvSpPr>
          <p:cNvPr id="9" name="Model card 2"/>
          <p:cNvSpPr/>
          <p:nvPr/>
        </p:nvSpPr>
        <p:spPr>
          <a:xfrm>
            <a:off x="6231636" y="1691640"/>
            <a:ext cx="5134356" cy="1828800"/>
          </a:xfrm>
          <a:prstGeom prst="roundRect">
            <a:avLst>
              <a:gd name="adj" fmla="val 6000"/>
            </a:avLst>
          </a:prstGeom>
          <a:solidFill>
            <a:schemeClr val="bg2"/>
          </a:solidFill>
          <a:ln/>
        </p:spPr>
      </p:sp>
      <p:sp>
        <p:nvSpPr>
          <p:cNvPr id="10" name="Model step 2"/>
          <p:cNvSpPr txBox="1"/>
          <p:nvPr/>
        </p:nvSpPr>
        <p:spPr>
          <a:xfrm>
            <a:off x="6551676" y="1920240"/>
            <a:ext cx="449427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2 · PLACE</a:t>
            </a:r>
            <a:endParaRPr lang="en-US" sz="1200" dirty="0"/>
          </a:p>
        </p:txBody>
      </p:sp>
      <p:sp>
        <p:nvSpPr>
          <p:cNvPr id="11" name="Model name 2"/>
          <p:cNvSpPr txBox="1"/>
          <p:nvPr/>
        </p:nvSpPr>
        <p:spPr>
          <a:xfrm>
            <a:off x="6551676" y="2194560"/>
            <a:ext cx="4494276" cy="731520"/>
          </a:xfrm>
          <a:prstGeom prst="rect">
            <a:avLst/>
          </a:prstGeom>
          <a:noFill/>
          <a:ln/>
        </p:spPr>
        <p:txBody>
          <a:bodyPr wrap="square" lIns="0" tIns="0" rIns="0" bIns="0" rtlCol="0" anchor="t"/>
          <a:lstStyle/>
          <a:p>
            <a:pPr indent="0" marL="0">
              <a:buNone/>
            </a:pPr>
            <a:r>
              <a:rPr lang="en-US" sz="2200" b="1" dirty="0">
                <a:solidFill>
                  <a:schemeClr val="tx1"/>
                </a:solidFill>
              </a:rPr>
              <a:t>HRNet pitch-keypoint network</a:t>
            </a:r>
            <a:endParaRPr lang="en-US" sz="2200" dirty="0"/>
          </a:p>
        </p:txBody>
      </p:sp>
      <p:sp>
        <p:nvSpPr>
          <p:cNvPr id="12" name="Model role 2"/>
          <p:cNvSpPr txBox="1"/>
          <p:nvPr/>
        </p:nvSpPr>
        <p:spPr>
          <a:xfrm>
            <a:off x="6551676" y="2971800"/>
            <a:ext cx="4494276" cy="502920"/>
          </a:xfrm>
          <a:prstGeom prst="rect">
            <a:avLst/>
          </a:prstGeom>
          <a:noFill/>
          <a:ln/>
        </p:spPr>
        <p:txBody>
          <a:bodyPr wrap="square" lIns="0" tIns="0" rIns="0" bIns="0" rtlCol="0" anchor="t"/>
          <a:lstStyle/>
          <a:p>
            <a:pPr indent="0" marL="0">
              <a:buNone/>
            </a:pPr>
            <a:r>
              <a:rPr lang="en-US" sz="1600" dirty="0">
                <a:solidFill>
                  <a:schemeClr val="tx2"/>
                </a:solidFill>
              </a:rPr>
              <a:t>Finds the pitch lines, so positions are in metres.</a:t>
            </a:r>
            <a:endParaRPr lang="en-US" sz="1600" dirty="0"/>
          </a:p>
        </p:txBody>
      </p:sp>
      <p:sp>
        <p:nvSpPr>
          <p:cNvPr id="13" name="Model card 3"/>
          <p:cNvSpPr/>
          <p:nvPr/>
        </p:nvSpPr>
        <p:spPr>
          <a:xfrm>
            <a:off x="822960" y="3703320"/>
            <a:ext cx="5134356" cy="1828800"/>
          </a:xfrm>
          <a:prstGeom prst="roundRect">
            <a:avLst>
              <a:gd name="adj" fmla="val 6000"/>
            </a:avLst>
          </a:prstGeom>
          <a:solidFill>
            <a:schemeClr val="bg2"/>
          </a:solidFill>
          <a:ln/>
        </p:spPr>
      </p:sp>
      <p:sp>
        <p:nvSpPr>
          <p:cNvPr id="14" name="Model step 3"/>
          <p:cNvSpPr txBox="1"/>
          <p:nvPr/>
        </p:nvSpPr>
        <p:spPr>
          <a:xfrm>
            <a:off x="1143000" y="3931920"/>
            <a:ext cx="449427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 · IDENTIFY</a:t>
            </a:r>
            <a:endParaRPr lang="en-US" sz="1200" dirty="0"/>
          </a:p>
        </p:txBody>
      </p:sp>
      <p:sp>
        <p:nvSpPr>
          <p:cNvPr id="15" name="Model name 3"/>
          <p:cNvSpPr txBox="1"/>
          <p:nvPr/>
        </p:nvSpPr>
        <p:spPr>
          <a:xfrm>
            <a:off x="1143000" y="4206240"/>
            <a:ext cx="4494276" cy="731520"/>
          </a:xfrm>
          <a:prstGeom prst="rect">
            <a:avLst/>
          </a:prstGeom>
          <a:noFill/>
          <a:ln/>
        </p:spPr>
        <p:txBody>
          <a:bodyPr wrap="square" lIns="0" tIns="0" rIns="0" bIns="0" rtlCol="0" anchor="t"/>
          <a:lstStyle/>
          <a:p>
            <a:pPr indent="0" marL="0">
              <a:buNone/>
            </a:pPr>
            <a:r>
              <a:rPr lang="en-US" sz="2200" b="1" dirty="0">
                <a:solidFill>
                  <a:schemeClr val="tx1"/>
                </a:solidFill>
              </a:rPr>
              <a:t>CLIP vision model and shirt-number reader</a:t>
            </a:r>
            <a:endParaRPr lang="en-US" sz="2200" dirty="0"/>
          </a:p>
        </p:txBody>
      </p:sp>
      <p:sp>
        <p:nvSpPr>
          <p:cNvPr id="16" name="Model role 3"/>
          <p:cNvSpPr txBox="1"/>
          <p:nvPr/>
        </p:nvSpPr>
        <p:spPr>
          <a:xfrm>
            <a:off x="1143000" y="4983480"/>
            <a:ext cx="4494276" cy="502920"/>
          </a:xfrm>
          <a:prstGeom prst="rect">
            <a:avLst/>
          </a:prstGeom>
          <a:noFill/>
          <a:ln/>
        </p:spPr>
        <p:txBody>
          <a:bodyPr wrap="square" lIns="0" tIns="0" rIns="0" bIns="0" rtlCol="0" anchor="t"/>
          <a:lstStyle/>
          <a:p>
            <a:pPr indent="0" marL="0">
              <a:buNone/>
            </a:pPr>
            <a:r>
              <a:rPr lang="en-US" sz="1600" dirty="0">
                <a:solidFill>
                  <a:schemeClr val="tx2"/>
                </a:solidFill>
              </a:rPr>
              <a:t>Tells players apart, reads numbers. We fine-tuned it.</a:t>
            </a:r>
            <a:endParaRPr lang="en-US" sz="1600" dirty="0"/>
          </a:p>
        </p:txBody>
      </p:sp>
      <p:sp>
        <p:nvSpPr>
          <p:cNvPr id="17" name="Model card 4"/>
          <p:cNvSpPr/>
          <p:nvPr/>
        </p:nvSpPr>
        <p:spPr>
          <a:xfrm>
            <a:off x="6231636" y="3703320"/>
            <a:ext cx="5134356" cy="1828800"/>
          </a:xfrm>
          <a:prstGeom prst="roundRect">
            <a:avLst>
              <a:gd name="adj" fmla="val 6000"/>
            </a:avLst>
          </a:prstGeom>
          <a:solidFill>
            <a:schemeClr val="bg2"/>
          </a:solidFill>
          <a:ln/>
        </p:spPr>
      </p:sp>
      <p:sp>
        <p:nvSpPr>
          <p:cNvPr id="18" name="Model step 4"/>
          <p:cNvSpPr txBox="1"/>
          <p:nvPr/>
        </p:nvSpPr>
        <p:spPr>
          <a:xfrm>
            <a:off x="6551676" y="3931920"/>
            <a:ext cx="449427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4 · COUNT</a:t>
            </a:r>
            <a:endParaRPr lang="en-US" sz="1200" dirty="0"/>
          </a:p>
        </p:txBody>
      </p:sp>
      <p:sp>
        <p:nvSpPr>
          <p:cNvPr id="19" name="Model name 4"/>
          <p:cNvSpPr txBox="1"/>
          <p:nvPr/>
        </p:nvSpPr>
        <p:spPr>
          <a:xfrm>
            <a:off x="6551676" y="4206240"/>
            <a:ext cx="4494276" cy="731520"/>
          </a:xfrm>
          <a:prstGeom prst="rect">
            <a:avLst/>
          </a:prstGeom>
          <a:noFill/>
          <a:ln/>
        </p:spPr>
        <p:txBody>
          <a:bodyPr wrap="square" lIns="0" tIns="0" rIns="0" bIns="0" rtlCol="0" anchor="t"/>
          <a:lstStyle/>
          <a:p>
            <a:pPr indent="0" marL="0">
              <a:buNone/>
            </a:pPr>
            <a:r>
              <a:rPr lang="en-US" sz="2200" b="1" dirty="0">
                <a:solidFill>
                  <a:schemeClr val="tx1"/>
                </a:solidFill>
              </a:rPr>
              <a:t>Simple rules and the T-DEED video model</a:t>
            </a:r>
            <a:endParaRPr lang="en-US" sz="2200" dirty="0"/>
          </a:p>
        </p:txBody>
      </p:sp>
      <p:sp>
        <p:nvSpPr>
          <p:cNvPr id="20" name="Model role 4"/>
          <p:cNvSpPr txBox="1"/>
          <p:nvPr/>
        </p:nvSpPr>
        <p:spPr>
          <a:xfrm>
            <a:off x="6551676" y="4983480"/>
            <a:ext cx="4494276" cy="502920"/>
          </a:xfrm>
          <a:prstGeom prst="rect">
            <a:avLst/>
          </a:prstGeom>
          <a:noFill/>
          <a:ln/>
        </p:spPr>
        <p:txBody>
          <a:bodyPr wrap="square" lIns="0" tIns="0" rIns="0" bIns="0" rtlCol="0" anchor="t"/>
          <a:lstStyle/>
          <a:p>
            <a:pPr indent="0" marL="0">
              <a:buNone/>
            </a:pPr>
            <a:r>
              <a:rPr lang="en-US" sz="1600" dirty="0">
                <a:solidFill>
                  <a:schemeClr val="tx2"/>
                </a:solidFill>
              </a:rPr>
              <a:t>Rules count passes. The video model finds shots and tackles.</a:t>
            </a:r>
            <a:endParaRPr lang="en-US" sz="1600" dirty="0"/>
          </a:p>
        </p:txBody>
      </p:sp>
      <p:sp>
        <p:nvSpPr>
          <p:cNvPr id="21" name="Footnote"/>
          <p:cNvSpPr txBox="1"/>
          <p:nvPr/>
        </p:nvSpPr>
        <p:spPr>
          <a:xfrm>
            <a:off x="822960" y="5760720"/>
            <a:ext cx="10543032" cy="320040"/>
          </a:xfrm>
          <a:prstGeom prst="rect">
            <a:avLst/>
          </a:prstGeom>
          <a:noFill/>
          <a:ln/>
        </p:spPr>
        <p:txBody>
          <a:bodyPr wrap="square" lIns="0" tIns="0" rIns="0" bIns="0" rtlCol="0" anchor="t"/>
          <a:lstStyle/>
          <a:p>
            <a:pPr indent="0" marL="0">
              <a:buNone/>
            </a:pPr>
            <a:r>
              <a:rPr lang="en-US" sz="1600" dirty="0">
                <a:solidFill>
                  <a:schemeClr val="tx2"/>
                </a:solidFill>
              </a:rPr>
              <a:t>Everything runs on one local GPU. No cloud AI service.</a:t>
            </a:r>
            <a:endParaRPr lang="en-US" sz="16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WHAT WE WOULD IMPROVE</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Next steps</a:t>
            </a:r>
            <a:endParaRPr lang="en-US" sz="3600" dirty="0"/>
          </a:p>
        </p:txBody>
      </p:sp>
      <p:sp>
        <p:nvSpPr>
          <p:cNvPr id="5" name="Card 1"/>
          <p:cNvSpPr/>
          <p:nvPr/>
        </p:nvSpPr>
        <p:spPr>
          <a:xfrm>
            <a:off x="822960" y="2011680"/>
            <a:ext cx="5134356" cy="1645920"/>
          </a:xfrm>
          <a:prstGeom prst="roundRect">
            <a:avLst>
              <a:gd name="adj" fmla="val 6667"/>
            </a:avLst>
          </a:prstGeom>
          <a:solidFill>
            <a:schemeClr val="bg2"/>
          </a:solidFill>
          <a:ln/>
        </p:spPr>
      </p:sp>
      <p:sp>
        <p:nvSpPr>
          <p:cNvPr id="6" name="Badge 1"/>
          <p:cNvSpPr/>
          <p:nvPr/>
        </p:nvSpPr>
        <p:spPr>
          <a:xfrm>
            <a:off x="1097280" y="2286000"/>
            <a:ext cx="457200" cy="457200"/>
          </a:xfrm>
          <a:prstGeom prst="ellipse">
            <a:avLst/>
          </a:prstGeom>
          <a:solidFill>
            <a:schemeClr val="accent1"/>
          </a:solidFill>
          <a:ln/>
        </p:spPr>
      </p:sp>
      <p:sp>
        <p:nvSpPr>
          <p:cNvPr id="7" name="Badge 1 number"/>
          <p:cNvSpPr txBox="1"/>
          <p:nvPr/>
        </p:nvSpPr>
        <p:spPr>
          <a:xfrm>
            <a:off x="10972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Card title 1"/>
          <p:cNvSpPr txBox="1"/>
          <p:nvPr/>
        </p:nvSpPr>
        <p:spPr>
          <a:xfrm>
            <a:off x="1737360"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Find the ball better</a:t>
            </a:r>
            <a:endParaRPr lang="en-US" sz="2400" dirty="0"/>
          </a:p>
        </p:txBody>
      </p:sp>
      <p:sp>
        <p:nvSpPr>
          <p:cNvPr id="9" name="Card text 1"/>
          <p:cNvSpPr txBox="1"/>
          <p:nvPr/>
        </p:nvSpPr>
        <p:spPr>
          <a:xfrm>
            <a:off x="1737360" y="2880360"/>
            <a:ext cx="3945636" cy="594360"/>
          </a:xfrm>
          <a:prstGeom prst="rect">
            <a:avLst/>
          </a:prstGeom>
          <a:noFill/>
          <a:ln/>
        </p:spPr>
        <p:txBody>
          <a:bodyPr wrap="square" lIns="0" tIns="0" rIns="0" bIns="0" rtlCol="0" anchor="t"/>
          <a:lstStyle/>
          <a:p>
            <a:pPr indent="0" marL="0">
              <a:buNone/>
            </a:pPr>
            <a:r>
              <a:rPr lang="en-US" sz="1800" dirty="0">
                <a:solidFill>
                  <a:schemeClr val="tx2"/>
                </a:solidFill>
              </a:rPr>
              <a:t>More passes counted and credited to the right player.</a:t>
            </a:r>
            <a:endParaRPr lang="en-US" sz="1800" dirty="0"/>
          </a:p>
        </p:txBody>
      </p:sp>
      <p:sp>
        <p:nvSpPr>
          <p:cNvPr id="10" name="Card 2"/>
          <p:cNvSpPr/>
          <p:nvPr/>
        </p:nvSpPr>
        <p:spPr>
          <a:xfrm>
            <a:off x="6231636" y="2011680"/>
            <a:ext cx="5134356" cy="1645920"/>
          </a:xfrm>
          <a:prstGeom prst="roundRect">
            <a:avLst>
              <a:gd name="adj" fmla="val 6667"/>
            </a:avLst>
          </a:prstGeom>
          <a:solidFill>
            <a:schemeClr val="bg2"/>
          </a:solidFill>
          <a:ln/>
        </p:spPr>
      </p:sp>
      <p:sp>
        <p:nvSpPr>
          <p:cNvPr id="11" name="Badge 2"/>
          <p:cNvSpPr/>
          <p:nvPr/>
        </p:nvSpPr>
        <p:spPr>
          <a:xfrm>
            <a:off x="6505956" y="2286000"/>
            <a:ext cx="457200" cy="457200"/>
          </a:xfrm>
          <a:prstGeom prst="ellipse">
            <a:avLst/>
          </a:prstGeom>
          <a:solidFill>
            <a:schemeClr val="accent1"/>
          </a:solidFill>
          <a:ln/>
        </p:spPr>
      </p:sp>
      <p:sp>
        <p:nvSpPr>
          <p:cNvPr id="12" name="Badge 2 number"/>
          <p:cNvSpPr txBox="1"/>
          <p:nvPr/>
        </p:nvSpPr>
        <p:spPr>
          <a:xfrm>
            <a:off x="6505956"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Card title 2"/>
          <p:cNvSpPr txBox="1"/>
          <p:nvPr/>
        </p:nvSpPr>
        <p:spPr>
          <a:xfrm>
            <a:off x="7146036" y="22860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Name every player</a:t>
            </a:r>
            <a:endParaRPr lang="en-US" sz="2400" dirty="0"/>
          </a:p>
        </p:txBody>
      </p:sp>
      <p:sp>
        <p:nvSpPr>
          <p:cNvPr id="14" name="Card text 2"/>
          <p:cNvSpPr txBox="1"/>
          <p:nvPr/>
        </p:nvSpPr>
        <p:spPr>
          <a:xfrm>
            <a:off x="7146036" y="2880360"/>
            <a:ext cx="3945636" cy="594360"/>
          </a:xfrm>
          <a:prstGeom prst="rect">
            <a:avLst/>
          </a:prstGeom>
          <a:noFill/>
          <a:ln/>
        </p:spPr>
        <p:txBody>
          <a:bodyPr wrap="square" lIns="0" tIns="0" rIns="0" bIns="0" rtlCol="0" anchor="t"/>
          <a:lstStyle/>
          <a:p>
            <a:pPr indent="0" marL="0">
              <a:buNone/>
            </a:pPr>
            <a:r>
              <a:rPr lang="en-US" sz="1800" dirty="0">
                <a:solidFill>
                  <a:schemeClr val="tx2"/>
                </a:solidFill>
              </a:rPr>
              <a:t>Read more shirt numbers; fix the rest in the review screen.</a:t>
            </a:r>
            <a:endParaRPr lang="en-US" sz="1800" dirty="0"/>
          </a:p>
        </p:txBody>
      </p:sp>
      <p:sp>
        <p:nvSpPr>
          <p:cNvPr id="15" name="Card 3"/>
          <p:cNvSpPr/>
          <p:nvPr/>
        </p:nvSpPr>
        <p:spPr>
          <a:xfrm>
            <a:off x="822960" y="3840480"/>
            <a:ext cx="5134356" cy="1645920"/>
          </a:xfrm>
          <a:prstGeom prst="roundRect">
            <a:avLst>
              <a:gd name="adj" fmla="val 6667"/>
            </a:avLst>
          </a:prstGeom>
          <a:solidFill>
            <a:schemeClr val="bg2"/>
          </a:solidFill>
          <a:ln/>
        </p:spPr>
      </p:sp>
      <p:sp>
        <p:nvSpPr>
          <p:cNvPr id="16" name="Badge 3"/>
          <p:cNvSpPr/>
          <p:nvPr/>
        </p:nvSpPr>
        <p:spPr>
          <a:xfrm>
            <a:off x="1097280" y="4114800"/>
            <a:ext cx="457200" cy="457200"/>
          </a:xfrm>
          <a:prstGeom prst="ellipse">
            <a:avLst/>
          </a:prstGeom>
          <a:solidFill>
            <a:schemeClr val="accent1"/>
          </a:solidFill>
          <a:ln/>
        </p:spPr>
      </p:sp>
      <p:sp>
        <p:nvSpPr>
          <p:cNvPr id="17" name="Badge 3 number"/>
          <p:cNvSpPr txBox="1"/>
          <p:nvPr/>
        </p:nvSpPr>
        <p:spPr>
          <a:xfrm>
            <a:off x="109728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Card title 3"/>
          <p:cNvSpPr txBox="1"/>
          <p:nvPr/>
        </p:nvSpPr>
        <p:spPr>
          <a:xfrm>
            <a:off x="1737360" y="41148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Count tackles properly</a:t>
            </a:r>
            <a:endParaRPr lang="en-US" sz="2400" dirty="0"/>
          </a:p>
        </p:txBody>
      </p:sp>
      <p:sp>
        <p:nvSpPr>
          <p:cNvPr id="19" name="Card text 3"/>
          <p:cNvSpPr txBox="1"/>
          <p:nvPr/>
        </p:nvSpPr>
        <p:spPr>
          <a:xfrm>
            <a:off x="1737360" y="4709160"/>
            <a:ext cx="3945636" cy="594360"/>
          </a:xfrm>
          <a:prstGeom prst="rect">
            <a:avLst/>
          </a:prstGeom>
          <a:noFill/>
          <a:ln/>
        </p:spPr>
        <p:txBody>
          <a:bodyPr wrap="square" lIns="0" tIns="0" rIns="0" bIns="0" rtlCol="0" anchor="t"/>
          <a:lstStyle/>
          <a:p>
            <a:pPr indent="0" marL="0">
              <a:buNone/>
            </a:pPr>
            <a:r>
              <a:rPr lang="en-US" sz="1800" dirty="0">
                <a:solidFill>
                  <a:schemeClr val="tx2"/>
                </a:solidFill>
              </a:rPr>
              <a:t>Needs many more labelled tackles to learn from.</a:t>
            </a:r>
            <a:endParaRPr lang="en-US" sz="1800" dirty="0"/>
          </a:p>
        </p:txBody>
      </p:sp>
      <p:sp>
        <p:nvSpPr>
          <p:cNvPr id="20" name="Card 4"/>
          <p:cNvSpPr/>
          <p:nvPr/>
        </p:nvSpPr>
        <p:spPr>
          <a:xfrm>
            <a:off x="6231636" y="3840480"/>
            <a:ext cx="5134356" cy="1645920"/>
          </a:xfrm>
          <a:prstGeom prst="roundRect">
            <a:avLst>
              <a:gd name="adj" fmla="val 6667"/>
            </a:avLst>
          </a:prstGeom>
          <a:solidFill>
            <a:schemeClr val="bg2"/>
          </a:solidFill>
          <a:ln/>
        </p:spPr>
      </p:sp>
      <p:sp>
        <p:nvSpPr>
          <p:cNvPr id="21" name="Badge 4"/>
          <p:cNvSpPr/>
          <p:nvPr/>
        </p:nvSpPr>
        <p:spPr>
          <a:xfrm>
            <a:off x="6505956" y="4114800"/>
            <a:ext cx="457200" cy="457200"/>
          </a:xfrm>
          <a:prstGeom prst="ellipse">
            <a:avLst/>
          </a:prstGeom>
          <a:solidFill>
            <a:schemeClr val="accent1"/>
          </a:solidFill>
          <a:ln/>
        </p:spPr>
      </p:sp>
      <p:sp>
        <p:nvSpPr>
          <p:cNvPr id="22" name="Badge 4 number"/>
          <p:cNvSpPr txBox="1"/>
          <p:nvPr/>
        </p:nvSpPr>
        <p:spPr>
          <a:xfrm>
            <a:off x="6505956"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Card title 4"/>
          <p:cNvSpPr txBox="1"/>
          <p:nvPr/>
        </p:nvSpPr>
        <p:spPr>
          <a:xfrm>
            <a:off x="7146036" y="4114800"/>
            <a:ext cx="3945636" cy="457200"/>
          </a:xfrm>
          <a:prstGeom prst="rect">
            <a:avLst/>
          </a:prstGeom>
          <a:noFill/>
          <a:ln/>
        </p:spPr>
        <p:txBody>
          <a:bodyPr wrap="square" lIns="0" tIns="0" rIns="0" bIns="0" rtlCol="0" anchor="ctr"/>
          <a:lstStyle/>
          <a:p>
            <a:pPr indent="0" marL="0">
              <a:buNone/>
            </a:pPr>
            <a:r>
              <a:rPr lang="en-US" sz="2400" b="1" dirty="0">
                <a:solidFill>
                  <a:schemeClr val="tx1"/>
                </a:solidFill>
              </a:rPr>
              <a:t>Find the ball more often</a:t>
            </a:r>
            <a:endParaRPr lang="en-US" sz="2400" dirty="0"/>
          </a:p>
        </p:txBody>
      </p:sp>
      <p:sp>
        <p:nvSpPr>
          <p:cNvPr id="24" name="Card text 4"/>
          <p:cNvSpPr txBox="1"/>
          <p:nvPr/>
        </p:nvSpPr>
        <p:spPr>
          <a:xfrm>
            <a:off x="7146036" y="4709160"/>
            <a:ext cx="3945636" cy="594360"/>
          </a:xfrm>
          <a:prstGeom prst="rect">
            <a:avLst/>
          </a:prstGeom>
          <a:noFill/>
          <a:ln/>
        </p:spPr>
        <p:txBody>
          <a:bodyPr wrap="square" lIns="0" tIns="0" rIns="0" bIns="0" rtlCol="0" anchor="t"/>
          <a:lstStyle/>
          <a:p>
            <a:pPr indent="0" marL="0">
              <a:buNone/>
            </a:pPr>
            <a:r>
              <a:rPr lang="en-US" sz="1800" dirty="0">
                <a:solidFill>
                  <a:schemeClr val="tx2"/>
                </a:solidFill>
              </a:rPr>
              <a:t>It is found in under half of the visible frames, and every pass and shot depends on it.</a:t>
            </a:r>
            <a:endParaRPr lang="en-US" sz="1800" dirty="0"/>
          </a:p>
        </p:txBody>
      </p:sp>
      <p:sp>
        <p:nvSpPr>
          <p:cNvPr id="25" name="Footnote"/>
          <p:cNvSpPr txBox="1"/>
          <p:nvPr/>
        </p:nvSpPr>
        <p:spPr>
          <a:xfrm>
            <a:off x="822960" y="5760720"/>
            <a:ext cx="10543032" cy="365760"/>
          </a:xfrm>
          <a:prstGeom prst="rect">
            <a:avLst/>
          </a:prstGeom>
          <a:noFill/>
          <a:ln/>
        </p:spPr>
        <p:txBody>
          <a:bodyPr wrap="square" lIns="0" tIns="0" rIns="0" bIns="0" rtlCol="0" anchor="t"/>
          <a:lstStyle/>
          <a:p>
            <a:pPr indent="0" marL="0">
              <a:buNone/>
            </a:pPr>
            <a:r>
              <a:rPr lang="en-US" sz="1800" dirty="0">
                <a:solidFill>
                  <a:schemeClr val="tx2"/>
                </a:solidFill>
              </a:rPr>
              <a:t>Also: accept any uploaded half or match, not only those already in the library.</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HOW WE TEST</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Tested only on matches the models never saw</a:t>
            </a:r>
            <a:endParaRPr lang="en-US" sz="3600" dirty="0"/>
          </a:p>
        </p:txBody>
      </p:sp>
      <p:graphicFrame>
        <p:nvGraphicFramePr>
          <p:cNvPr id="27" name="Test table"/>
          <p:cNvGraphicFramePr>
            <a:graphicFrameLocks noGrp="1"/>
          </p:cNvGraphicFramePr>
          <p:nvPr>
            <p:extLst>
              <p:ext uri="{D42A27DB-BD31-4B8C-83A1-F6EECF244321}">
                <p14:modId xmlns:p14="http://schemas.microsoft.com/office/powerpoint/2010/main" val="1579011935"/>
              </p:ext>
            </p:extLst>
          </p:nvPr>
        </p:nvGraphicFramePr>
        <p:xfrm>
          <a:off x="822960" y="1645920"/>
          <a:ext cx="7269480" cy="914400"/>
        </p:xfrm>
        <a:graphic>
          <a:graphicData uri="http://schemas.openxmlformats.org/drawingml/2006/table">
            <a:tbl>
              <a:tblPr/>
              <a:tblGrid>
                <a:gridCol w="1188720"/>
                <a:gridCol w="1828800"/>
                <a:gridCol w="1508760"/>
                <a:gridCol w="1143000"/>
                <a:gridCol w="1600200"/>
              </a:tblGrid>
              <a:tr h="310896">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MEASURED</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MODEL OR RULE</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TEST DATA</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SIZE</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COUNTED RIGHT WHEN</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Players, teams, tracks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YOLOv8x detector, BoT-SORT, kit-colour K-means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FOOTPASS, 3 unseen games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2.03 million player-samples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box overlaps truth (IoU ≥ 0.5)</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Shirt numbers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ResNet-34 legibility check, PARSeq reader</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SoccerNet Jersey test split</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1,211 tracklets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exact number, or "not visible", right</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Player identity</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Fine-tuned CLIP ViT-B/16 identity model</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FOOTPASS, 3 unseen games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13,610 tracklets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the true player is named</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Events from video</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T-DEED action spotter, fine-tuned</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SoccerNet BAS, 2 unseen games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3,980 labelled actions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right type within ±1 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Event rules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Rules over positions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SoccerTrack match</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1,069 passes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right type and player within ±1 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566928">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Ball detector</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YOLOv8x ball detector</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SoccerNet tracking, test clips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6,766 visible balls</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within 15 px of the true ball</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6" name="Terms card"/>
          <p:cNvSpPr/>
          <p:nvPr/>
        </p:nvSpPr>
        <p:spPr>
          <a:xfrm>
            <a:off x="8229600" y="1645920"/>
            <a:ext cx="3136392" cy="3657600"/>
          </a:xfrm>
          <a:prstGeom prst="roundRect">
            <a:avLst>
              <a:gd name="adj" fmla="val 3499"/>
            </a:avLst>
          </a:prstGeom>
          <a:solidFill>
            <a:schemeClr val="bg1"/>
          </a:solidFill>
          <a:ln/>
        </p:spPr>
      </p:sp>
      <p:sp>
        <p:nvSpPr>
          <p:cNvPr id="7" name="Terms title"/>
          <p:cNvSpPr txBox="1"/>
          <p:nvPr/>
        </p:nvSpPr>
        <p:spPr>
          <a:xfrm>
            <a:off x="8412480" y="1783080"/>
            <a:ext cx="2770632" cy="320040"/>
          </a:xfrm>
          <a:prstGeom prst="rect">
            <a:avLst/>
          </a:prstGeom>
          <a:noFill/>
          <a:ln/>
        </p:spPr>
        <p:txBody>
          <a:bodyPr wrap="square" lIns="0" tIns="0" rIns="0" bIns="0" rtlCol="0" anchor="t"/>
          <a:lstStyle/>
          <a:p>
            <a:pPr indent="0" marL="0">
              <a:buNone/>
            </a:pPr>
            <a:r>
              <a:rPr lang="en-US" sz="1500" b="1" dirty="0">
                <a:solidFill>
                  <a:schemeClr val="tx1"/>
                </a:solidFill>
              </a:rPr>
              <a:t>Reading the charts</a:t>
            </a:r>
            <a:endParaRPr lang="en-US" sz="1500" dirty="0"/>
          </a:p>
        </p:txBody>
      </p:sp>
      <p:sp>
        <p:nvSpPr>
          <p:cNvPr id="8" name="Terms text"/>
          <p:cNvSpPr txBox="1"/>
          <p:nvPr/>
        </p:nvSpPr>
        <p:spPr>
          <a:xfrm>
            <a:off x="8412480" y="2194560"/>
            <a:ext cx="2770632" cy="3017520"/>
          </a:xfrm>
          <a:prstGeom prst="rect">
            <a:avLst/>
          </a:prstGeom>
          <a:noFill/>
          <a:ln/>
        </p:spPr>
        <p:txBody>
          <a:bodyPr wrap="square" lIns="0" tIns="0" rIns="0" bIns="0" rtlCol="0" anchor="t"/>
          <a:lstStyle/>
          <a:p>
            <a:pPr indent="0" marL="0">
              <a:spcAft>
                <a:spcPts val="800"/>
              </a:spcAft>
              <a:buNone/>
            </a:pPr>
            <a:r>
              <a:rPr lang="en-US" sz="1200" b="1" dirty="0">
                <a:solidFill>
                  <a:schemeClr val="accent1"/>
                </a:solidFill>
              </a:rPr>
              <a:t>Precision: </a:t>
            </a:r>
            <a:pPr indent="0" marL="0">
              <a:spcAft>
                <a:spcPts val="800"/>
              </a:spcAft>
              <a:buNone/>
            </a:pPr>
            <a:r>
              <a:rPr lang="en-US" sz="1200" dirty="0">
                <a:solidFill>
                  <a:schemeClr val="tx1"/>
                </a:solidFill>
              </a:rPr>
              <a:t>of what it reported, how much was real.</a:t>
            </a:r>
            <a:endParaRPr lang="en-US" sz="1200" dirty="0"/>
          </a:p>
          <a:p>
            <a:pPr indent="0" marL="0">
              <a:spcAft>
                <a:spcPts val="800"/>
              </a:spcAft>
              <a:buNone/>
            </a:pPr>
            <a:r>
              <a:rPr lang="en-US" sz="1200" b="1" dirty="0">
                <a:solidFill>
                  <a:schemeClr val="accent1"/>
                </a:solidFill>
              </a:rPr>
              <a:t>Recall: </a:t>
            </a:r>
            <a:pPr indent="0" marL="0">
              <a:spcAft>
                <a:spcPts val="800"/>
              </a:spcAft>
              <a:buNone/>
            </a:pPr>
            <a:r>
              <a:rPr lang="en-US" sz="1200" dirty="0">
                <a:solidFill>
                  <a:schemeClr val="tx1"/>
                </a:solidFill>
              </a:rPr>
              <a:t>of what really happened, how much it found.</a:t>
            </a:r>
            <a:endParaRPr lang="en-US" sz="1200" dirty="0"/>
          </a:p>
          <a:p>
            <a:pPr indent="0" marL="0">
              <a:spcAft>
                <a:spcPts val="800"/>
              </a:spcAft>
              <a:buNone/>
            </a:pPr>
            <a:r>
              <a:rPr lang="en-US" sz="1200" b="1" dirty="0">
                <a:solidFill>
                  <a:schemeClr val="accent1"/>
                </a:solidFill>
              </a:rPr>
              <a:t>Average precision: </a:t>
            </a:r>
            <a:pPr indent="0" marL="0">
              <a:spcAft>
                <a:spcPts val="800"/>
              </a:spcAft>
              <a:buNone/>
            </a:pPr>
            <a:r>
              <a:rPr lang="en-US" sz="1200" dirty="0">
                <a:solidFill>
                  <a:schemeClr val="tx1"/>
                </a:solidFill>
              </a:rPr>
              <a:t>precision averaged over every threshold. 1.0 is perfect.</a:t>
            </a:r>
            <a:endParaRPr lang="en-US" sz="1200" dirty="0"/>
          </a:p>
          <a:p>
            <a:pPr indent="0" marL="0">
              <a:spcAft>
                <a:spcPts val="800"/>
              </a:spcAft>
              <a:buNone/>
            </a:pPr>
            <a:r>
              <a:rPr lang="en-US" sz="1200" b="1" dirty="0">
                <a:solidFill>
                  <a:schemeClr val="accent1"/>
                </a:solidFill>
              </a:rPr>
              <a:t>Confusion matrix: </a:t>
            </a:r>
            <a:pPr indent="0" marL="0">
              <a:spcAft>
                <a:spcPts val="800"/>
              </a:spcAft>
              <a:buNone/>
            </a:pPr>
            <a:r>
              <a:rPr lang="en-US" sz="1200" dirty="0">
                <a:solidFill>
                  <a:schemeClr val="tx1"/>
                </a:solidFill>
              </a:rPr>
              <a:t>counts of right and wrong calls; the diagonal is correct.</a:t>
            </a:r>
            <a:endParaRPr lang="en-US" sz="1200" dirty="0"/>
          </a:p>
          <a:p>
            <a:pPr indent="0" marL="0">
              <a:spcAft>
                <a:spcPts val="800"/>
              </a:spcAft>
              <a:buNone/>
            </a:pPr>
            <a:r>
              <a:rPr lang="en-US" sz="1200" b="1" dirty="0">
                <a:solidFill>
                  <a:schemeClr val="accent1"/>
                </a:solidFill>
              </a:rPr>
              <a:t>TP / FP / FN: </a:t>
            </a:r>
            <a:pPr indent="0" marL="0">
              <a:spcAft>
                <a:spcPts val="800"/>
              </a:spcAft>
              <a:buNone/>
            </a:pPr>
            <a:r>
              <a:rPr lang="en-US" sz="1200" dirty="0">
                <a:solidFill>
                  <a:schemeClr val="tx1"/>
                </a:solidFill>
              </a:rPr>
              <a:t>found right / invented / missed.</a:t>
            </a:r>
            <a:endParaRPr lang="en-US" sz="1200" dirty="0"/>
          </a:p>
        </p:txBody>
      </p:sp>
      <p:sp>
        <p:nvSpPr>
          <p:cNvPr id="9" name="Meaning card"/>
          <p:cNvSpPr/>
          <p:nvPr/>
        </p:nvSpPr>
        <p:spPr>
          <a:xfrm>
            <a:off x="822960" y="5486400"/>
            <a:ext cx="10543032" cy="658368"/>
          </a:xfrm>
          <a:prstGeom prst="roundRect">
            <a:avLst>
              <a:gd name="adj" fmla="val 16667"/>
            </a:avLst>
          </a:prstGeom>
          <a:solidFill>
            <a:schemeClr val="bg1"/>
          </a:solidFill>
          <a:ln/>
        </p:spPr>
      </p:sp>
      <p:sp>
        <p:nvSpPr>
          <p:cNvPr id="10" name="Meaning accent"/>
          <p:cNvSpPr/>
          <p:nvPr/>
        </p:nvSpPr>
        <p:spPr>
          <a:xfrm>
            <a:off x="822960" y="5486400"/>
            <a:ext cx="73152" cy="658368"/>
          </a:xfrm>
          <a:prstGeom prst="rect">
            <a:avLst/>
          </a:prstGeom>
          <a:solidFill>
            <a:schemeClr val="accent1"/>
          </a:solidFill>
          <a:ln/>
        </p:spPr>
      </p:sp>
      <p:sp>
        <p:nvSpPr>
          <p:cNvPr id="11"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WHY IT MATTERS</a:t>
            </a:r>
            <a:endParaRPr lang="en-US" sz="1100" dirty="0"/>
          </a:p>
        </p:txBody>
      </p:sp>
      <p:sp>
        <p:nvSpPr>
          <p:cNvPr id="12"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None of the test matches were used to train or tune the model being measured, so these numbers show how it behaves on a new game.</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SEEING PLAYERS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Players are found and sorted into teams reliably</a:t>
            </a:r>
            <a:endParaRPr lang="en-US" sz="3600" dirty="0"/>
          </a:p>
        </p:txBody>
      </p:sp>
      <p:sp>
        <p:nvSpPr>
          <p:cNvPr id="5" name="Chip 1"/>
          <p:cNvSpPr/>
          <p:nvPr/>
        </p:nvSpPr>
        <p:spPr>
          <a:xfrm>
            <a:off x="822960" y="1600200"/>
            <a:ext cx="3392424" cy="713232"/>
          </a:xfrm>
          <a:prstGeom prst="roundRect">
            <a:avLst>
              <a:gd name="adj" fmla="val 15385"/>
            </a:avLst>
          </a:prstGeom>
          <a:solidFill>
            <a:schemeClr val="bg2"/>
          </a:solidFill>
          <a:ln/>
        </p:spPr>
      </p:sp>
      <p:sp>
        <p:nvSpPr>
          <p:cNvPr id="6" name="Chip number 1"/>
          <p:cNvSpPr txBox="1"/>
          <p:nvPr/>
        </p:nvSpPr>
        <p:spPr>
          <a:xfrm>
            <a:off x="1005840"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89.7%</a:t>
            </a:r>
            <a:endParaRPr lang="en-US" sz="2400" dirty="0"/>
          </a:p>
        </p:txBody>
      </p:sp>
      <p:sp>
        <p:nvSpPr>
          <p:cNvPr id="7" name="Chip label 1"/>
          <p:cNvSpPr txBox="1"/>
          <p:nvPr/>
        </p:nvSpPr>
        <p:spPr>
          <a:xfrm>
            <a:off x="2560320"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of visible player time is detected</a:t>
            </a:r>
            <a:endParaRPr lang="en-US" sz="1200" dirty="0"/>
          </a:p>
        </p:txBody>
      </p:sp>
      <p:sp>
        <p:nvSpPr>
          <p:cNvPr id="8" name="Chip 2"/>
          <p:cNvSpPr/>
          <p:nvPr/>
        </p:nvSpPr>
        <p:spPr>
          <a:xfrm>
            <a:off x="4398264" y="1600200"/>
            <a:ext cx="3392424" cy="713232"/>
          </a:xfrm>
          <a:prstGeom prst="roundRect">
            <a:avLst>
              <a:gd name="adj" fmla="val 15385"/>
            </a:avLst>
          </a:prstGeom>
          <a:solidFill>
            <a:schemeClr val="bg2"/>
          </a:solidFill>
          <a:ln/>
        </p:spPr>
      </p:sp>
      <p:sp>
        <p:nvSpPr>
          <p:cNvPr id="9" name="Chip number 2"/>
          <p:cNvSpPr txBox="1"/>
          <p:nvPr/>
        </p:nvSpPr>
        <p:spPr>
          <a:xfrm>
            <a:off x="4581144"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97%</a:t>
            </a:r>
            <a:endParaRPr lang="en-US" sz="2400" dirty="0"/>
          </a:p>
        </p:txBody>
      </p:sp>
      <p:sp>
        <p:nvSpPr>
          <p:cNvPr id="10" name="Chip label 2"/>
          <p:cNvSpPr txBox="1"/>
          <p:nvPr/>
        </p:nvSpPr>
        <p:spPr>
          <a:xfrm>
            <a:off x="6135624"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of detected players get the right team</a:t>
            </a:r>
            <a:endParaRPr lang="en-US" sz="1200" dirty="0"/>
          </a:p>
        </p:txBody>
      </p:sp>
      <p:sp>
        <p:nvSpPr>
          <p:cNvPr id="11" name="Chip 3"/>
          <p:cNvSpPr/>
          <p:nvPr/>
        </p:nvSpPr>
        <p:spPr>
          <a:xfrm>
            <a:off x="7973568" y="1600200"/>
            <a:ext cx="3392424" cy="713232"/>
          </a:xfrm>
          <a:prstGeom prst="roundRect">
            <a:avLst>
              <a:gd name="adj" fmla="val 15385"/>
            </a:avLst>
          </a:prstGeom>
          <a:solidFill>
            <a:schemeClr val="bg2"/>
          </a:solidFill>
          <a:ln/>
        </p:spPr>
      </p:sp>
      <p:sp>
        <p:nvSpPr>
          <p:cNvPr id="12" name="Chip number 3"/>
          <p:cNvSpPr txBox="1"/>
          <p:nvPr/>
        </p:nvSpPr>
        <p:spPr>
          <a:xfrm>
            <a:off x="8156448"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97.1%</a:t>
            </a:r>
            <a:endParaRPr lang="en-US" sz="2400" dirty="0"/>
          </a:p>
        </p:txBody>
      </p:sp>
      <p:sp>
        <p:nvSpPr>
          <p:cNvPr id="13" name="Chip label 3"/>
          <p:cNvSpPr txBox="1"/>
          <p:nvPr/>
        </p:nvSpPr>
        <p:spPr>
          <a:xfrm>
            <a:off x="9710928"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of tracked time is a single player</a:t>
            </a:r>
            <a:endParaRPr lang="en-US" sz="1200" dirty="0"/>
          </a:p>
        </p:txBody>
      </p:sp>
      <p:sp>
        <p:nvSpPr>
          <p:cNvPr id="14" name="Chart card"/>
          <p:cNvSpPr/>
          <p:nvPr/>
        </p:nvSpPr>
        <p:spPr>
          <a:xfrm>
            <a:off x="822960" y="2468880"/>
            <a:ext cx="6400800" cy="2880360"/>
          </a:xfrm>
          <a:prstGeom prst="roundRect">
            <a:avLst>
              <a:gd name="adj" fmla="val 3810"/>
            </a:avLst>
          </a:prstGeom>
          <a:solidFill>
            <a:schemeClr val="bg2"/>
          </a:solidFill>
          <a:ln/>
        </p:spPr>
      </p:sp>
      <p:sp>
        <p:nvSpPr>
          <p:cNvPr id="15" name="Chart title"/>
          <p:cNvSpPr txBox="1"/>
          <p:nvPr/>
        </p:nvSpPr>
        <p:spPr>
          <a:xfrm>
            <a:off x="1051560" y="2560320"/>
            <a:ext cx="5943600" cy="274320"/>
          </a:xfrm>
          <a:prstGeom prst="rect">
            <a:avLst/>
          </a:prstGeom>
          <a:noFill/>
          <a:ln/>
        </p:spPr>
        <p:txBody>
          <a:bodyPr wrap="square" lIns="0" tIns="0" rIns="0" bIns="0" rtlCol="0" anchor="t"/>
          <a:lstStyle/>
          <a:p>
            <a:pPr indent="0" marL="0">
              <a:buNone/>
            </a:pPr>
            <a:r>
              <a:rPr lang="en-US" sz="1500" b="1" dirty="0">
                <a:solidFill>
                  <a:schemeClr val="tx1"/>
                </a:solidFill>
              </a:rPr>
              <a:t>Share of visible player time, per unseen half</a:t>
            </a:r>
            <a:endParaRPr lang="en-US" sz="1500" dirty="0"/>
          </a:p>
        </p:txBody>
      </p:sp>
      <p:sp>
        <p:nvSpPr>
          <p:cNvPr id="16" name="Chart subtitle"/>
          <p:cNvSpPr txBox="1"/>
          <p:nvPr/>
        </p:nvSpPr>
        <p:spPr>
          <a:xfrm>
            <a:off x="1051560" y="2834640"/>
            <a:ext cx="5943600" cy="411480"/>
          </a:xfrm>
          <a:prstGeom prst="rect">
            <a:avLst/>
          </a:prstGeom>
          <a:noFill/>
          <a:ln/>
        </p:spPr>
        <p:txBody>
          <a:bodyPr wrap="square" lIns="0" tIns="0" rIns="0" bIns="0" rtlCol="0" anchor="t"/>
          <a:lstStyle/>
          <a:p>
            <a:pPr indent="0" marL="0">
              <a:buNone/>
            </a:pPr>
            <a:r>
              <a:rPr lang="en-US" sz="1100" dirty="0">
                <a:solidFill>
                  <a:schemeClr val="tx2"/>
                </a:solidFill>
              </a:rPr>
              <a:t>Models: YOLOv8x detector · kit-colour teams · CLIP identity model for names</a:t>
            </a:r>
            <a:endParaRPr lang="en-US" sz="1100" dirty="0"/>
          </a:p>
        </p:txBody>
      </p:sp>
      <p:graphicFrame>
        <p:nvGraphicFramePr>
          <p:cNvPr id="17" name="Chart 0" descr=""/>
          <p:cNvGraphicFramePr/>
          <p:nvPr/>
        </p:nvGraphicFramePr>
        <p:xfrm>
          <a:off x="914400" y="3017520"/>
          <a:ext cx="6217920" cy="2286000"/>
        </p:xfrm>
        <a:graphic xmlns:a="http://schemas.openxmlformats.org/drawingml/2006/main">
          <a:graphicData uri="http://schemas.openxmlformats.org/drawingml/2006/chart">
            <c:chart xmlns:c="http://schemas.openxmlformats.org/drawingml/2006/chart" r:id="rId1"/>
          </a:graphicData>
        </a:graphic>
      </p:graphicFrame>
      <p:sp>
        <p:nvSpPr>
          <p:cNvPr id="18" name="Keeper card"/>
          <p:cNvSpPr/>
          <p:nvPr/>
        </p:nvSpPr>
        <p:spPr>
          <a:xfrm>
            <a:off x="7406640" y="2468880"/>
            <a:ext cx="3959352" cy="2880360"/>
          </a:xfrm>
          <a:prstGeom prst="roundRect">
            <a:avLst>
              <a:gd name="adj" fmla="val 3810"/>
            </a:avLst>
          </a:prstGeom>
          <a:solidFill>
            <a:schemeClr val="bg2"/>
          </a:solidFill>
          <a:ln/>
        </p:spPr>
      </p:sp>
      <p:sp>
        <p:nvSpPr>
          <p:cNvPr id="19" name="Chart title"/>
          <p:cNvSpPr txBox="1"/>
          <p:nvPr/>
        </p:nvSpPr>
        <p:spPr>
          <a:xfrm>
            <a:off x="7635240" y="2560320"/>
            <a:ext cx="3502152" cy="274320"/>
          </a:xfrm>
          <a:prstGeom prst="rect">
            <a:avLst/>
          </a:prstGeom>
          <a:noFill/>
          <a:ln/>
        </p:spPr>
        <p:txBody>
          <a:bodyPr wrap="square" lIns="0" tIns="0" rIns="0" bIns="0" rtlCol="0" anchor="t"/>
          <a:lstStyle/>
          <a:p>
            <a:pPr indent="0" marL="0">
              <a:buNone/>
            </a:pPr>
            <a:r>
              <a:rPr lang="en-US" sz="1500" b="1" dirty="0">
                <a:solidFill>
                  <a:schemeClr val="tx1"/>
                </a:solidFill>
              </a:rPr>
              <a:t>Goalkeeper or not? (per tracklet)</a:t>
            </a:r>
            <a:endParaRPr lang="en-US" sz="1500" dirty="0"/>
          </a:p>
        </p:txBody>
      </p:sp>
      <p:sp>
        <p:nvSpPr>
          <p:cNvPr id="20" name="Chart subtitle"/>
          <p:cNvSpPr txBox="1"/>
          <p:nvPr/>
        </p:nvSpPr>
        <p:spPr>
          <a:xfrm>
            <a:off x="7635240" y="2834640"/>
            <a:ext cx="3502152" cy="411480"/>
          </a:xfrm>
          <a:prstGeom prst="rect">
            <a:avLst/>
          </a:prstGeom>
          <a:noFill/>
          <a:ln/>
        </p:spPr>
        <p:txBody>
          <a:bodyPr wrap="square" lIns="0" tIns="0" rIns="0" bIns="0" rtlCol="0" anchor="t"/>
          <a:lstStyle/>
          <a:p>
            <a:pPr indent="0" marL="0">
              <a:buNone/>
            </a:pPr>
            <a:r>
              <a:rPr lang="en-US" sz="1100" dirty="0">
                <a:solidFill>
                  <a:schemeClr val="tx2"/>
                </a:solidFill>
              </a:rPr>
              <a:t>Model: CLIP identity model, goalkeeper head. Precision 99.0%, recall 89.9%</a:t>
            </a:r>
            <a:endParaRPr lang="en-US" sz="1100" dirty="0"/>
          </a:p>
        </p:txBody>
      </p:sp>
      <p:graphicFrame>
        <p:nvGraphicFramePr>
          <p:cNvPr id="28" name="Goalkeeper matrix"/>
          <p:cNvGraphicFramePr>
            <a:graphicFrameLocks noGrp="1"/>
          </p:cNvGraphicFramePr>
          <p:nvPr>
            <p:extLst>
              <p:ext uri="{D42A27DB-BD31-4B8C-83A1-F6EECF244321}">
                <p14:modId xmlns:p14="http://schemas.microsoft.com/office/powerpoint/2010/main" val="1579011935"/>
              </p:ext>
            </p:extLst>
          </p:nvPr>
        </p:nvGraphicFramePr>
        <p:xfrm>
          <a:off x="7589520" y="3383280"/>
          <a:ext cx="3291840" cy="914400"/>
        </p:xfrm>
        <a:graphic>
          <a:graphicData uri="http://schemas.openxmlformats.org/drawingml/2006/table">
            <a:tbl>
              <a:tblPr/>
              <a:tblGrid>
                <a:gridCol w="1097280"/>
                <a:gridCol w="1097280"/>
                <a:gridCol w="1097280"/>
              </a:tblGrid>
              <a:tr h="365760">
                <a:tc>
                  <a:txBody>
                    <a:bodyPr/>
                    <a:lstStyle/>
                    <a:p>
                      <a:pPr algn="l" indent="0" marL="0">
                        <a:buNone/>
                      </a:pPr>
                      <a:r>
                        <a:rPr lang="en-US" sz="1000" dirty="0">
                          <a:solidFill>
                            <a:srgbClr val="4F6660"/>
                          </a:solidFill>
                          <a:latin typeface="Calibri" pitchFamily="34" charset="0"/>
                          <a:ea typeface="Calibri" pitchFamily="34" charset="-122"/>
                          <a:cs typeface="Calibri" pitchFamily="34" charset="-120"/>
                        </a:rPr>
                        <a:t>true ↓ called →</a:t>
                      </a:r>
                      <a:endParaRPr lang="en-US" sz="1000" dirty="0">
                        <a:latin typeface="Calibri" charset="0"/>
                        <a:ea typeface="Calibri" charset="0"/>
                        <a:cs typeface="Calibri" charset="0"/>
                      </a:endParaRPr>
                    </a:p>
                  </a:txBody>
                  <a:tcPr marL="45720" marR="45720" marT="27432" marB="27432" anchor="b">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tcPr>
                </a:tc>
                <a:tc>
                  <a:txBody>
                    <a:bodyPr/>
                    <a:lstStyle/>
                    <a:p>
                      <a:pPr algn="ctr" indent="0" marL="0">
                        <a:buNone/>
                      </a:pPr>
                      <a:r>
                        <a:rPr lang="en-US" sz="1100" b="1" dirty="0">
                          <a:solidFill>
                            <a:srgbClr val="16302A"/>
                          </a:solidFill>
                          <a:latin typeface="Calibri" pitchFamily="34" charset="0"/>
                          <a:ea typeface="Calibri" pitchFamily="34" charset="-122"/>
                          <a:cs typeface="Calibri" pitchFamily="34" charset="-120"/>
                        </a:rPr>
                        <a:t>Called keeper</a:t>
                      </a:r>
                      <a:endParaRPr lang="en-US" sz="1100" dirty="0">
                        <a:latin typeface="Calibri" charset="0"/>
                        <a:ea typeface="Calibri" charset="0"/>
                        <a:cs typeface="Calibri" charset="0"/>
                      </a:endParaRPr>
                    </a:p>
                  </a:txBody>
                  <a:tcPr marL="45720" marR="45720" marT="27432" marB="27432" anchor="b">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tcPr>
                </a:tc>
                <a:tc>
                  <a:txBody>
                    <a:bodyPr/>
                    <a:lstStyle/>
                    <a:p>
                      <a:pPr algn="ctr" indent="0" marL="0">
                        <a:buNone/>
                      </a:pPr>
                      <a:r>
                        <a:rPr lang="en-US" sz="1100" b="1" dirty="0">
                          <a:solidFill>
                            <a:srgbClr val="16302A"/>
                          </a:solidFill>
                          <a:latin typeface="Calibri" pitchFamily="34" charset="0"/>
                          <a:ea typeface="Calibri" pitchFamily="34" charset="-122"/>
                          <a:cs typeface="Calibri" pitchFamily="34" charset="-120"/>
                        </a:rPr>
                        <a:t>Called outfield</a:t>
                      </a:r>
                      <a:endParaRPr lang="en-US" sz="1100" dirty="0">
                        <a:latin typeface="Calibri" charset="0"/>
                        <a:ea typeface="Calibri" charset="0"/>
                        <a:cs typeface="Calibri" charset="0"/>
                      </a:endParaRPr>
                    </a:p>
                  </a:txBody>
                  <a:tcPr marL="45720" marR="45720" marT="27432" marB="27432" anchor="b">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tcPr>
                </a:tc>
              </a:tr>
              <a:tr h="713232">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Goalkeeper (685)</a:t>
                      </a:r>
                      <a:endParaRPr lang="en-US" sz="11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616</a:t>
                      </a:r>
                      <a:endParaRPr lang="en-US" sz="12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89.9%</a:t>
                      </a:r>
                      <a:endParaRPr lang="en-US" sz="12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solidFill>
                      <a:srgbClr val="318F75"/>
                    </a:solidFill>
                  </a:tcPr>
                </a:tc>
                <a:tc>
                  <a:txBody>
                    <a:bodyPr/>
                    <a:lstStyle/>
                    <a:p>
                      <a:pPr algn="ctr" indent="0" marL="0">
                        <a:buNone/>
                      </a:pPr>
                      <a:r>
                        <a:rPr lang="en-US" sz="2000" b="1" dirty="0">
                          <a:solidFill>
                            <a:srgbClr val="16302A"/>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p>
                      <a:pPr algn="ctr" indent="0" marL="0">
                        <a:buNone/>
                      </a:pPr>
                      <a:r>
                        <a:rPr lang="en-US" sz="1100" dirty="0">
                          <a:solidFill>
                            <a:srgbClr val="16302A"/>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solidFill>
                      <a:srgbClr val="E2C59E"/>
                    </a:solidFill>
                  </a:tcPr>
                </a:tc>
              </a:tr>
              <a:tr h="713232">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Outfield (12,925)</a:t>
                      </a:r>
                      <a:endParaRPr lang="en-US" sz="11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tcPr>
                </a:tc>
                <a:tc>
                  <a:txBody>
                    <a:bodyPr/>
                    <a:lstStyle/>
                    <a:p>
                      <a:pPr algn="ctr" indent="0" marL="0">
                        <a:buNone/>
                      </a:pPr>
                      <a:r>
                        <a:rPr lang="en-US" sz="2000" b="1" dirty="0">
                          <a:solidFill>
                            <a:srgbClr val="1630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p>
                      <a:pPr algn="ctr" indent="0" marL="0">
                        <a:buNone/>
                      </a:pPr>
                      <a:r>
                        <a:rPr lang="en-US" sz="1100" dirty="0">
                          <a:solidFill>
                            <a:srgbClr val="16302A"/>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solidFill>
                      <a:srgbClr val="E5E2D4"/>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12,919</a:t>
                      </a:r>
                      <a:endParaRPr lang="en-US" sz="12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45720" marR="45720" marT="27432" marB="27432" anchor="ctr">
                    <a:lnL w="38100" cap="flat" cmpd="sng" algn="ctr">
                      <a:solidFill>
                        <a:srgbClr val="E6EFEA"/>
                      </a:solidFill>
                      <a:prstDash val="solid"/>
                      <a:round/>
                      <a:headEnd type="none" w="med" len="med"/>
                      <a:tailEnd type="none" w="med" len="med"/>
                    </a:lnL>
                    <a:lnR w="38100" cap="flat" cmpd="sng" algn="ctr">
                      <a:solidFill>
                        <a:srgbClr val="E6EFEA"/>
                      </a:solidFill>
                      <a:prstDash val="solid"/>
                      <a:round/>
                      <a:headEnd type="none" w="med" len="med"/>
                      <a:tailEnd type="none" w="med" len="med"/>
                    </a:lnR>
                    <a:lnT w="38100" cap="flat" cmpd="sng" algn="ctr">
                      <a:solidFill>
                        <a:srgbClr val="E6EFEA"/>
                      </a:solidFill>
                      <a:prstDash val="solid"/>
                      <a:round/>
                      <a:headEnd type="none" w="med" len="med"/>
                      <a:tailEnd type="none" w="med" len="med"/>
                    </a:lnT>
                    <a:lnB w="38100" cap="flat" cmpd="sng" algn="ctr">
                      <a:solidFill>
                        <a:srgbClr val="E6EFEA"/>
                      </a:solidFill>
                      <a:prstDash val="solid"/>
                      <a:round/>
                      <a:headEnd type="none" w="med" len="med"/>
                      <a:tailEnd type="none" w="med" len="med"/>
                    </a:lnB>
                    <a:solidFill>
                      <a:srgbClr val="20866A"/>
                    </a:solidFill>
                  </a:tcPr>
                </a:tc>
              </a:tr>
            </a:tbl>
          </a:graphicData>
        </a:graphic>
      </p:graphicFrame>
      <p:sp>
        <p:nvSpPr>
          <p:cNvPr id="22" name="Meaning card"/>
          <p:cNvSpPr/>
          <p:nvPr/>
        </p:nvSpPr>
        <p:spPr>
          <a:xfrm>
            <a:off x="822960" y="5486400"/>
            <a:ext cx="10543032" cy="658368"/>
          </a:xfrm>
          <a:prstGeom prst="roundRect">
            <a:avLst>
              <a:gd name="adj" fmla="val 16667"/>
            </a:avLst>
          </a:prstGeom>
          <a:solidFill>
            <a:schemeClr val="bg1"/>
          </a:solidFill>
          <a:ln/>
        </p:spPr>
      </p:sp>
      <p:sp>
        <p:nvSpPr>
          <p:cNvPr id="23" name="Meaning accent"/>
          <p:cNvSpPr/>
          <p:nvPr/>
        </p:nvSpPr>
        <p:spPr>
          <a:xfrm>
            <a:off x="822960" y="5486400"/>
            <a:ext cx="73152" cy="658368"/>
          </a:xfrm>
          <a:prstGeom prst="rect">
            <a:avLst/>
          </a:prstGeom>
          <a:solidFill>
            <a:schemeClr val="accent1"/>
          </a:solidFill>
          <a:ln/>
        </p:spPr>
      </p:sp>
      <p:sp>
        <p:nvSpPr>
          <p:cNvPr id="24"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WHAT IT MEANS</a:t>
            </a:r>
            <a:endParaRPr lang="en-US" sz="1100" dirty="0"/>
          </a:p>
        </p:txBody>
      </p:sp>
      <p:sp>
        <p:nvSpPr>
          <p:cNvPr id="25"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Finding players, teams and tracks is dependable. Naming varies with the camera: game 24 is detected 96% of the time but named only 30%.</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NAMING PLAYERS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Shirt numbers are read right when they can be read</a:t>
            </a:r>
            <a:endParaRPr lang="en-US" sz="3600" dirty="0"/>
          </a:p>
        </p:txBody>
      </p:sp>
      <p:sp>
        <p:nvSpPr>
          <p:cNvPr id="5" name="Matrix card"/>
          <p:cNvSpPr/>
          <p:nvPr/>
        </p:nvSpPr>
        <p:spPr>
          <a:xfrm>
            <a:off x="822960" y="1645920"/>
            <a:ext cx="5577840" cy="3703320"/>
          </a:xfrm>
          <a:prstGeom prst="roundRect">
            <a:avLst>
              <a:gd name="adj" fmla="val 2963"/>
            </a:avLst>
          </a:prstGeom>
          <a:solidFill>
            <a:schemeClr val="bg1"/>
          </a:solidFill>
          <a:ln/>
        </p:spPr>
      </p:sp>
      <p:sp>
        <p:nvSpPr>
          <p:cNvPr id="6" name="Chart title"/>
          <p:cNvSpPr txBox="1"/>
          <p:nvPr/>
        </p:nvSpPr>
        <p:spPr>
          <a:xfrm>
            <a:off x="1051560" y="1737360"/>
            <a:ext cx="5212080" cy="274320"/>
          </a:xfrm>
          <a:prstGeom prst="rect">
            <a:avLst/>
          </a:prstGeom>
          <a:noFill/>
          <a:ln/>
        </p:spPr>
        <p:txBody>
          <a:bodyPr wrap="square" lIns="0" tIns="0" rIns="0" bIns="0" rtlCol="0" anchor="t"/>
          <a:lstStyle/>
          <a:p>
            <a:pPr indent="0" marL="0">
              <a:buNone/>
            </a:pPr>
            <a:r>
              <a:rPr lang="en-US" sz="1500" b="1" dirty="0">
                <a:solidFill>
                  <a:schemeClr val="tx1"/>
                </a:solidFill>
              </a:rPr>
              <a:t>Shirt-number reader: says versus truth</a:t>
            </a:r>
            <a:endParaRPr lang="en-US" sz="1500" dirty="0"/>
          </a:p>
        </p:txBody>
      </p:sp>
      <p:sp>
        <p:nvSpPr>
          <p:cNvPr id="7" name="Chart subtitle"/>
          <p:cNvSpPr txBox="1"/>
          <p:nvPr/>
        </p:nvSpPr>
        <p:spPr>
          <a:xfrm>
            <a:off x="1051560" y="2011680"/>
            <a:ext cx="5212080" cy="411480"/>
          </a:xfrm>
          <a:prstGeom prst="rect">
            <a:avLst/>
          </a:prstGeom>
          <a:noFill/>
          <a:ln/>
        </p:spPr>
        <p:txBody>
          <a:bodyPr wrap="square" lIns="0" tIns="0" rIns="0" bIns="0" rtlCol="0" anchor="t"/>
          <a:lstStyle/>
          <a:p>
            <a:pPr indent="0" marL="0">
              <a:buNone/>
            </a:pPr>
            <a:r>
              <a:rPr lang="en-US" sz="1100" dirty="0">
                <a:solidFill>
                  <a:schemeClr val="tx2"/>
                </a:solidFill>
              </a:rPr>
              <a:t>Models: ResNet-34 legibility check + PARSeq reader. SoccerNet Jersey test, 1,211 tracklets</a:t>
            </a:r>
            <a:endParaRPr lang="en-US" sz="1100" dirty="0"/>
          </a:p>
        </p:txBody>
      </p:sp>
      <p:graphicFrame>
        <p:nvGraphicFramePr>
          <p:cNvPr id="29" name="Number matrix"/>
          <p:cNvGraphicFramePr>
            <a:graphicFrameLocks noGrp="1"/>
          </p:cNvGraphicFramePr>
          <p:nvPr>
            <p:extLst>
              <p:ext uri="{D42A27DB-BD31-4B8C-83A1-F6EECF244321}">
                <p14:modId xmlns:p14="http://schemas.microsoft.com/office/powerpoint/2010/main" val="1579011935"/>
              </p:ext>
            </p:extLst>
          </p:nvPr>
        </p:nvGraphicFramePr>
        <p:xfrm>
          <a:off x="1005840" y="2331720"/>
          <a:ext cx="5029200" cy="914400"/>
        </p:xfrm>
        <a:graphic>
          <a:graphicData uri="http://schemas.openxmlformats.org/drawingml/2006/table">
            <a:tbl>
              <a:tblPr/>
              <a:tblGrid>
                <a:gridCol w="1188720"/>
                <a:gridCol w="1280160"/>
                <a:gridCol w="1280160"/>
                <a:gridCol w="1280160"/>
              </a:tblGrid>
              <a:tr h="411480">
                <a:tc>
                  <a:txBody>
                    <a:bodyPr/>
                    <a:lstStyle/>
                    <a:p>
                      <a:pPr algn="l" indent="0" marL="0">
                        <a:buNone/>
                      </a:pPr>
                      <a:r>
                        <a:rPr lang="en-US" sz="1000" dirty="0">
                          <a:solidFill>
                            <a:srgbClr val="4F6660"/>
                          </a:solidFill>
                          <a:latin typeface="Calibri" pitchFamily="34" charset="0"/>
                          <a:ea typeface="Calibri" pitchFamily="34" charset="-122"/>
                          <a:cs typeface="Calibri" pitchFamily="34" charset="-120"/>
                        </a:rPr>
                        <a:t>true ↓ reader says →</a:t>
                      </a:r>
                      <a:endParaRPr lang="en-US" sz="1000" dirty="0">
                        <a:latin typeface="Calibri" charset="0"/>
                        <a:ea typeface="Calibri" charset="0"/>
                        <a:cs typeface="Calibri" charset="0"/>
                      </a:endParaRPr>
                    </a:p>
                  </a:txBody>
                  <a:tcPr marL="45720" marR="45720" marT="27432" marB="27432" anchor="b">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c>
                  <a:txBody>
                    <a:bodyPr/>
                    <a:lstStyle/>
                    <a:p>
                      <a:pPr algn="ctr" indent="0" marL="0">
                        <a:buNone/>
                      </a:pPr>
                      <a:r>
                        <a:rPr lang="en-US" sz="1100" b="1" dirty="0">
                          <a:solidFill>
                            <a:srgbClr val="16302A"/>
                          </a:solidFill>
                          <a:latin typeface="Calibri" pitchFamily="34" charset="0"/>
                          <a:ea typeface="Calibri" pitchFamily="34" charset="-122"/>
                          <a:cs typeface="Calibri" pitchFamily="34" charset="-120"/>
                        </a:rPr>
                        <a:t>Right number</a:t>
                      </a:r>
                      <a:endParaRPr lang="en-US" sz="1100" dirty="0">
                        <a:latin typeface="Calibri" charset="0"/>
                        <a:ea typeface="Calibri" charset="0"/>
                        <a:cs typeface="Calibri" charset="0"/>
                      </a:endParaRPr>
                    </a:p>
                  </a:txBody>
                  <a:tcPr marL="45720" marR="45720" marT="27432" marB="27432" anchor="b">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c>
                  <a:txBody>
                    <a:bodyPr/>
                    <a:lstStyle/>
                    <a:p>
                      <a:pPr algn="ctr" indent="0" marL="0">
                        <a:buNone/>
                      </a:pPr>
                      <a:r>
                        <a:rPr lang="en-US" sz="1100" b="1" dirty="0">
                          <a:solidFill>
                            <a:srgbClr val="16302A"/>
                          </a:solidFill>
                          <a:latin typeface="Calibri" pitchFamily="34" charset="0"/>
                          <a:ea typeface="Calibri" pitchFamily="34" charset="-122"/>
                          <a:cs typeface="Calibri" pitchFamily="34" charset="-120"/>
                        </a:rPr>
                        <a:t>Different number</a:t>
                      </a:r>
                      <a:endParaRPr lang="en-US" sz="1100" dirty="0">
                        <a:latin typeface="Calibri" charset="0"/>
                        <a:ea typeface="Calibri" charset="0"/>
                        <a:cs typeface="Calibri" charset="0"/>
                      </a:endParaRPr>
                    </a:p>
                  </a:txBody>
                  <a:tcPr marL="45720" marR="45720" marT="27432" marB="27432" anchor="b">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c>
                  <a:txBody>
                    <a:bodyPr/>
                    <a:lstStyle/>
                    <a:p>
                      <a:pPr algn="ctr" indent="0" marL="0">
                        <a:buNone/>
                      </a:pPr>
                      <a:r>
                        <a:rPr lang="en-US" sz="1100" b="1" dirty="0">
                          <a:solidFill>
                            <a:srgbClr val="16302A"/>
                          </a:solidFill>
                          <a:latin typeface="Calibri" pitchFamily="34" charset="0"/>
                          <a:ea typeface="Calibri" pitchFamily="34" charset="-122"/>
                          <a:cs typeface="Calibri" pitchFamily="34" charset="-120"/>
                        </a:rPr>
                        <a:t>"Not visible"</a:t>
                      </a:r>
                      <a:endParaRPr lang="en-US" sz="1100" dirty="0">
                        <a:latin typeface="Calibri" charset="0"/>
                        <a:ea typeface="Calibri" charset="0"/>
                        <a:cs typeface="Calibri" charset="0"/>
                      </a:endParaRPr>
                    </a:p>
                  </a:txBody>
                  <a:tcPr marL="45720" marR="45720" marT="27432" marB="27432" anchor="b">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r>
              <a:tr h="731520">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Number visible (856)</a:t>
                      </a:r>
                      <a:endParaRPr lang="en-US" sz="11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629</a:t>
                      </a:r>
                      <a:endParaRPr lang="en-US" sz="12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73.5%</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54A28C"/>
                    </a:solidFill>
                  </a:tcPr>
                </a:tc>
                <a:tc>
                  <a:txBody>
                    <a:bodyPr/>
                    <a:lstStyle/>
                    <a:p>
                      <a:pPr algn="ctr" indent="0" marL="0">
                        <a:buNone/>
                      </a:pPr>
                      <a:r>
                        <a:rPr lang="en-US" sz="2000" b="1" dirty="0">
                          <a:solidFill>
                            <a:srgbClr val="16302A"/>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p>
                      <a:pPr algn="ctr" indent="0" marL="0">
                        <a:buNone/>
                      </a:pPr>
                      <a:r>
                        <a:rPr lang="en-US" sz="1100" dirty="0">
                          <a:solidFill>
                            <a:srgbClr val="16302A"/>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F2D9BD"/>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E7AD71"/>
                    </a:solidFill>
                  </a:tcPr>
                </a:tc>
              </a:tr>
              <a:tr h="731520">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No number visible (355)</a:t>
                      </a:r>
                      <a:endParaRPr lang="en-US" sz="11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tcPr>
                </a:tc>
                <a:tc>
                  <a:txBody>
                    <a:bodyPr/>
                    <a:lstStyle/>
                    <a:p>
                      <a:pPr algn="ctr" indent="0" marL="0">
                        <a:buNone/>
                      </a:pPr>
                      <a:r>
                        <a:rPr lang="en-US" sz="1400" dirty="0">
                          <a:solidFill>
                            <a:srgbClr val="4F666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FBFCFA"/>
                    </a:solidFill>
                  </a:tcPr>
                </a:tc>
                <a:tc>
                  <a:txBody>
                    <a:bodyPr/>
                    <a:lstStyle/>
                    <a:p>
                      <a:pPr algn="ctr" indent="0" marL="0">
                        <a:buNone/>
                      </a:pPr>
                      <a:r>
                        <a:rPr lang="en-US" sz="2000" b="1" dirty="0">
                          <a:solidFill>
                            <a:srgbClr val="16302A"/>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p>
                      <a:pPr algn="ctr" indent="0" marL="0">
                        <a:buNone/>
                      </a:pPr>
                      <a:r>
                        <a:rPr lang="en-US" sz="1100" dirty="0">
                          <a:solidFill>
                            <a:srgbClr val="16302A"/>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EEC8A1"/>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314</a:t>
                      </a:r>
                      <a:endParaRPr lang="en-US" sz="12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88.5%</a:t>
                      </a:r>
                      <a:endParaRPr lang="en-US" sz="1200" dirty="0">
                        <a:latin typeface="Calibri" charset="0"/>
                        <a:ea typeface="Calibri" charset="0"/>
                        <a:cs typeface="Calibri" charset="0"/>
                      </a:endParaRPr>
                    </a:p>
                  </a:txBody>
                  <a:tcPr marL="45720" marR="45720" marT="27432" marB="27432" anchor="ctr">
                    <a:lnL w="38100" cap="flat" cmpd="sng" algn="ctr">
                      <a:solidFill>
                        <a:srgbClr val="FBFCFA"/>
                      </a:solidFill>
                      <a:prstDash val="solid"/>
                      <a:round/>
                      <a:headEnd type="none" w="med" len="med"/>
                      <a:tailEnd type="none" w="med" len="med"/>
                    </a:lnL>
                    <a:lnR w="38100" cap="flat" cmpd="sng" algn="ctr">
                      <a:solidFill>
                        <a:srgbClr val="FBFCFA"/>
                      </a:solidFill>
                      <a:prstDash val="solid"/>
                      <a:round/>
                      <a:headEnd type="none" w="med" len="med"/>
                      <a:tailEnd type="none" w="med" len="med"/>
                    </a:lnR>
                    <a:lnT w="38100" cap="flat" cmpd="sng" algn="ctr">
                      <a:solidFill>
                        <a:srgbClr val="FBFCFA"/>
                      </a:solidFill>
                      <a:prstDash val="solid"/>
                      <a:round/>
                      <a:headEnd type="none" w="med" len="med"/>
                      <a:tailEnd type="none" w="med" len="med"/>
                    </a:lnT>
                    <a:lnB w="38100" cap="flat" cmpd="sng" algn="ctr">
                      <a:solidFill>
                        <a:srgbClr val="FBFCFA"/>
                      </a:solidFill>
                      <a:prstDash val="solid"/>
                      <a:round/>
                      <a:headEnd type="none" w="med" len="med"/>
                      <a:tailEnd type="none" w="med" len="med"/>
                    </a:lnB>
                    <a:solidFill>
                      <a:srgbClr val="38937A"/>
                    </a:solidFill>
                  </a:tcPr>
                </a:tc>
              </a:tr>
            </a:tbl>
          </a:graphicData>
        </a:graphic>
      </p:graphicFrame>
      <p:sp>
        <p:nvSpPr>
          <p:cNvPr id="9" name="Matrix note"/>
          <p:cNvSpPr txBox="1"/>
          <p:nvPr/>
        </p:nvSpPr>
        <p:spPr>
          <a:xfrm>
            <a:off x="1051560" y="4526280"/>
            <a:ext cx="5120640" cy="731520"/>
          </a:xfrm>
          <a:prstGeom prst="rect">
            <a:avLst/>
          </a:prstGeom>
          <a:noFill/>
          <a:ln/>
        </p:spPr>
        <p:txBody>
          <a:bodyPr wrap="square" lIns="0" tIns="0" rIns="0" bIns="0" rtlCol="0" anchor="t"/>
          <a:lstStyle/>
          <a:p>
            <a:pPr indent="0" marL="0">
              <a:buNone/>
            </a:pPr>
            <a:r>
              <a:rPr lang="en-US" sz="1200" dirty="0">
                <a:solidFill>
                  <a:schemeClr val="tx2"/>
                </a:solidFill>
              </a:rPr>
              <a:t>Most misses are "not visible", not wrong numbers: only 56 of 856 readable tracklets get a wrong one. One-digit numbers are read right 60% of the time, two-digit numbers 79%.</a:t>
            </a:r>
            <a:endParaRPr lang="en-US" sz="1200" dirty="0"/>
          </a:p>
        </p:txBody>
      </p:sp>
      <p:sp>
        <p:nvSpPr>
          <p:cNvPr id="10" name="Curve card"/>
          <p:cNvSpPr/>
          <p:nvPr/>
        </p:nvSpPr>
        <p:spPr>
          <a:xfrm>
            <a:off x="6583680" y="1645920"/>
            <a:ext cx="4782312" cy="3703320"/>
          </a:xfrm>
          <a:prstGeom prst="roundRect">
            <a:avLst>
              <a:gd name="adj" fmla="val 2963"/>
            </a:avLst>
          </a:prstGeom>
          <a:solidFill>
            <a:schemeClr val="bg1"/>
          </a:solidFill>
          <a:ln/>
        </p:spPr>
      </p:sp>
      <p:sp>
        <p:nvSpPr>
          <p:cNvPr id="11" name="Chart title"/>
          <p:cNvSpPr txBox="1"/>
          <p:nvPr/>
        </p:nvSpPr>
        <p:spPr>
          <a:xfrm>
            <a:off x="6812280" y="1737360"/>
            <a:ext cx="4325112" cy="274320"/>
          </a:xfrm>
          <a:prstGeom prst="rect">
            <a:avLst/>
          </a:prstGeom>
          <a:noFill/>
          <a:ln/>
        </p:spPr>
        <p:txBody>
          <a:bodyPr wrap="square" lIns="0" tIns="0" rIns="0" bIns="0" rtlCol="0" anchor="t"/>
          <a:lstStyle/>
          <a:p>
            <a:pPr indent="0" marL="0">
              <a:buNone/>
            </a:pPr>
            <a:r>
              <a:rPr lang="en-US" sz="1500" b="1" dirty="0">
                <a:solidFill>
                  <a:schemeClr val="tx1"/>
                </a:solidFill>
              </a:rPr>
              <a:t>Accuracy against coverage</a:t>
            </a:r>
            <a:endParaRPr lang="en-US" sz="1500" dirty="0"/>
          </a:p>
        </p:txBody>
      </p:sp>
      <p:sp>
        <p:nvSpPr>
          <p:cNvPr id="12" name="Chart subtitle"/>
          <p:cNvSpPr txBox="1"/>
          <p:nvPr/>
        </p:nvSpPr>
        <p:spPr>
          <a:xfrm>
            <a:off x="6812280" y="2011680"/>
            <a:ext cx="4325112" cy="411480"/>
          </a:xfrm>
          <a:prstGeom prst="rect">
            <a:avLst/>
          </a:prstGeom>
          <a:noFill/>
          <a:ln/>
        </p:spPr>
        <p:txBody>
          <a:bodyPr wrap="square" lIns="0" tIns="0" rIns="0" bIns="0" rtlCol="0" anchor="t"/>
          <a:lstStyle/>
          <a:p>
            <a:pPr indent="0" marL="0">
              <a:buNone/>
            </a:pPr>
            <a:r>
              <a:rPr lang="en-US" sz="1100" dirty="0">
                <a:solidFill>
                  <a:schemeClr val="tx2"/>
                </a:solidFill>
              </a:rPr>
              <a:t>Model: fine-tuned CLIP ViT-B/16 identity model, 13,610 tracklets from 3 unseen games</a:t>
            </a:r>
            <a:endParaRPr lang="en-US" sz="1100" dirty="0"/>
          </a:p>
        </p:txBody>
      </p:sp>
      <p:graphicFrame>
        <p:nvGraphicFramePr>
          <p:cNvPr id="13" name="Chart 0" descr=""/>
          <p:cNvGraphicFramePr/>
          <p:nvPr/>
        </p:nvGraphicFramePr>
        <p:xfrm>
          <a:off x="6675120" y="2514600"/>
          <a:ext cx="4599432" cy="2788920"/>
        </p:xfrm>
        <a:graphic xmlns:a="http://schemas.openxmlformats.org/drawingml/2006/main">
          <a:graphicData uri="http://schemas.openxmlformats.org/drawingml/2006/chart">
            <c:chart xmlns:c="http://schemas.openxmlformats.org/drawingml/2006/chart" r:id="rId1"/>
          </a:graphicData>
        </a:graphic>
      </p:graphicFrame>
      <p:sp>
        <p:nvSpPr>
          <p:cNvPr id="14" name="Meaning card"/>
          <p:cNvSpPr/>
          <p:nvPr/>
        </p:nvSpPr>
        <p:spPr>
          <a:xfrm>
            <a:off x="822960" y="5486400"/>
            <a:ext cx="10543032" cy="658368"/>
          </a:xfrm>
          <a:prstGeom prst="roundRect">
            <a:avLst>
              <a:gd name="adj" fmla="val 16667"/>
            </a:avLst>
          </a:prstGeom>
          <a:solidFill>
            <a:schemeClr val="bg1"/>
          </a:solidFill>
          <a:ln/>
        </p:spPr>
      </p:sp>
      <p:sp>
        <p:nvSpPr>
          <p:cNvPr id="15" name="Meaning accent"/>
          <p:cNvSpPr/>
          <p:nvPr/>
        </p:nvSpPr>
        <p:spPr>
          <a:xfrm>
            <a:off x="822960" y="5486400"/>
            <a:ext cx="73152" cy="658368"/>
          </a:xfrm>
          <a:prstGeom prst="rect">
            <a:avLst/>
          </a:prstGeom>
          <a:solidFill>
            <a:schemeClr val="accent1"/>
          </a:solidFill>
          <a:ln/>
        </p:spPr>
      </p:sp>
      <p:sp>
        <p:nvSpPr>
          <p:cNvPr id="16"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WHAT IT MEANS</a:t>
            </a:r>
            <a:endParaRPr lang="en-US" sz="1100" dirty="0"/>
          </a:p>
        </p:txBody>
      </p:sp>
      <p:sp>
        <p:nvSpPr>
          <p:cNvPr id="17"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A higher confidence bar trades coverage for accuracy: a number is read confidently for about 4 in 10 tracklets (94% right). Appearance matching (98% right) names the rest.</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FINDING EVENTS FROM VIDEO</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Passes and carries are found well; tackles are not</a:t>
            </a:r>
            <a:endParaRPr lang="en-US" sz="3600" dirty="0"/>
          </a:p>
        </p:txBody>
      </p:sp>
      <p:sp>
        <p:nvSpPr>
          <p:cNvPr id="5" name="Chart card"/>
          <p:cNvSpPr/>
          <p:nvPr/>
        </p:nvSpPr>
        <p:spPr>
          <a:xfrm>
            <a:off x="822960" y="1645920"/>
            <a:ext cx="5852160" cy="3703320"/>
          </a:xfrm>
          <a:prstGeom prst="roundRect">
            <a:avLst>
              <a:gd name="adj" fmla="val 2963"/>
            </a:avLst>
          </a:prstGeom>
          <a:solidFill>
            <a:schemeClr val="bg1"/>
          </a:solidFill>
          <a:ln/>
        </p:spPr>
      </p:sp>
      <p:sp>
        <p:nvSpPr>
          <p:cNvPr id="6" name="Chart title"/>
          <p:cNvSpPr txBox="1"/>
          <p:nvPr/>
        </p:nvSpPr>
        <p:spPr>
          <a:xfrm>
            <a:off x="1051560" y="1737360"/>
            <a:ext cx="5486400" cy="274320"/>
          </a:xfrm>
          <a:prstGeom prst="rect">
            <a:avLst/>
          </a:prstGeom>
          <a:noFill/>
          <a:ln/>
        </p:spPr>
        <p:txBody>
          <a:bodyPr wrap="square" lIns="0" tIns="0" rIns="0" bIns="0" rtlCol="0" anchor="t"/>
          <a:lstStyle/>
          <a:p>
            <a:pPr indent="0" marL="0">
              <a:buNone/>
            </a:pPr>
            <a:r>
              <a:rPr lang="en-US" sz="1500" b="1" dirty="0">
                <a:solidFill>
                  <a:schemeClr val="tx1"/>
                </a:solidFill>
              </a:rPr>
              <a:t>Precision and recall by event type</a:t>
            </a:r>
            <a:endParaRPr lang="en-US" sz="1500" dirty="0"/>
          </a:p>
        </p:txBody>
      </p:sp>
      <p:sp>
        <p:nvSpPr>
          <p:cNvPr id="7" name="Chart subtitle"/>
          <p:cNvSpPr txBox="1"/>
          <p:nvPr/>
        </p:nvSpPr>
        <p:spPr>
          <a:xfrm>
            <a:off x="1051560" y="2011680"/>
            <a:ext cx="5486400" cy="411480"/>
          </a:xfrm>
          <a:prstGeom prst="rect">
            <a:avLst/>
          </a:prstGeom>
          <a:noFill/>
          <a:ln/>
        </p:spPr>
        <p:txBody>
          <a:bodyPr wrap="square" lIns="0" tIns="0" rIns="0" bIns="0" rtlCol="0" anchor="t"/>
          <a:lstStyle/>
          <a:p>
            <a:pPr indent="0" marL="0">
              <a:buNone/>
            </a:pPr>
            <a:r>
              <a:rPr lang="en-US" sz="1100" dirty="0">
                <a:solidFill>
                  <a:schemeClr val="tx2"/>
                </a:solidFill>
              </a:rPr>
              <a:t>Model: T-DEED action spotter, fine-tuned. 2 unseen games, best-F1 threshold per type</a:t>
            </a:r>
            <a:endParaRPr lang="en-US" sz="1100" dirty="0"/>
          </a:p>
        </p:txBody>
      </p:sp>
      <p:graphicFrame>
        <p:nvGraphicFramePr>
          <p:cNvPr id="8" name="Chart 0" descr=""/>
          <p:cNvGraphicFramePr/>
          <p:nvPr/>
        </p:nvGraphicFramePr>
        <p:xfrm>
          <a:off x="914400" y="2286000"/>
          <a:ext cx="5669280" cy="3017520"/>
        </p:xfrm>
        <a:graphic xmlns:a="http://schemas.openxmlformats.org/drawingml/2006/main">
          <a:graphicData uri="http://schemas.openxmlformats.org/drawingml/2006/chart">
            <c:chart xmlns:c="http://schemas.openxmlformats.org/drawingml/2006/chart" r:id="rId1"/>
          </a:graphicData>
        </a:graphic>
      </p:graphicFrame>
      <p:sp>
        <p:nvSpPr>
          <p:cNvPr id="9" name="Counts card"/>
          <p:cNvSpPr/>
          <p:nvPr/>
        </p:nvSpPr>
        <p:spPr>
          <a:xfrm>
            <a:off x="6858000" y="1645920"/>
            <a:ext cx="4507992" cy="3703320"/>
          </a:xfrm>
          <a:prstGeom prst="roundRect">
            <a:avLst>
              <a:gd name="adj" fmla="val 2963"/>
            </a:avLst>
          </a:prstGeom>
          <a:solidFill>
            <a:schemeClr val="bg1"/>
          </a:solidFill>
          <a:ln/>
        </p:spPr>
      </p:sp>
      <p:sp>
        <p:nvSpPr>
          <p:cNvPr id="10" name="Chart title"/>
          <p:cNvSpPr txBox="1"/>
          <p:nvPr/>
        </p:nvSpPr>
        <p:spPr>
          <a:xfrm>
            <a:off x="7086600" y="1737360"/>
            <a:ext cx="4050792" cy="274320"/>
          </a:xfrm>
          <a:prstGeom prst="rect">
            <a:avLst/>
          </a:prstGeom>
          <a:noFill/>
          <a:ln/>
        </p:spPr>
        <p:txBody>
          <a:bodyPr wrap="square" lIns="0" tIns="0" rIns="0" bIns="0" rtlCol="0" anchor="t"/>
          <a:lstStyle/>
          <a:p>
            <a:pPr indent="0" marL="0">
              <a:buNone/>
            </a:pPr>
            <a:r>
              <a:rPr lang="en-US" sz="1500" b="1" dirty="0">
                <a:solidFill>
                  <a:schemeClr val="tx1"/>
                </a:solidFill>
              </a:rPr>
              <a:t>The same results as counts</a:t>
            </a:r>
            <a:endParaRPr lang="en-US" sz="1500" dirty="0"/>
          </a:p>
        </p:txBody>
      </p:sp>
      <p:sp>
        <p:nvSpPr>
          <p:cNvPr id="11" name="Chart subtitle"/>
          <p:cNvSpPr txBox="1"/>
          <p:nvPr/>
        </p:nvSpPr>
        <p:spPr>
          <a:xfrm>
            <a:off x="7086600" y="2011680"/>
            <a:ext cx="4050792" cy="411480"/>
          </a:xfrm>
          <a:prstGeom prst="rect">
            <a:avLst/>
          </a:prstGeom>
          <a:noFill/>
          <a:ln/>
        </p:spPr>
        <p:txBody>
          <a:bodyPr wrap="square" lIns="0" tIns="0" rIns="0" bIns="0" rtlCol="0" anchor="t"/>
          <a:lstStyle/>
          <a:p>
            <a:pPr indent="0" marL="0">
              <a:buNone/>
            </a:pPr>
            <a:r>
              <a:rPr lang="en-US" sz="1100" dirty="0">
                <a:solidFill>
                  <a:schemeClr val="tx2"/>
                </a:solidFill>
              </a:rPr>
              <a:t>Found = TP, invented = FP, missed = FN</a:t>
            </a:r>
            <a:endParaRPr lang="en-US" sz="1100" dirty="0"/>
          </a:p>
        </p:txBody>
      </p:sp>
      <p:graphicFrame>
        <p:nvGraphicFramePr>
          <p:cNvPr id="30" name="Event counts"/>
          <p:cNvGraphicFramePr>
            <a:graphicFrameLocks noGrp="1"/>
          </p:cNvGraphicFramePr>
          <p:nvPr>
            <p:extLst>
              <p:ext uri="{D42A27DB-BD31-4B8C-83A1-F6EECF244321}">
                <p14:modId xmlns:p14="http://schemas.microsoft.com/office/powerpoint/2010/main" val="1579011935"/>
              </p:ext>
            </p:extLst>
          </p:nvPr>
        </p:nvGraphicFramePr>
        <p:xfrm>
          <a:off x="7040880" y="2377440"/>
          <a:ext cx="4297680" cy="914400"/>
        </p:xfrm>
        <a:graphic>
          <a:graphicData uri="http://schemas.openxmlformats.org/drawingml/2006/table">
            <a:tbl>
              <a:tblPr/>
              <a:tblGrid>
                <a:gridCol w="914400"/>
                <a:gridCol w="640080"/>
                <a:gridCol w="685800"/>
                <a:gridCol w="822960"/>
                <a:gridCol w="685800"/>
                <a:gridCol w="548640"/>
              </a:tblGrid>
              <a:tr h="310896">
                <a:tc>
                  <a:txBody>
                    <a:bodyPr/>
                    <a:lstStyle/>
                    <a:p>
                      <a:pPr algn="l" indent="0" marL="0">
                        <a:buNone/>
                      </a:pPr>
                      <a:r>
                        <a:rPr lang="en-US" sz="1000" b="1" spc="100" kern="0" dirty="0">
                          <a:solidFill>
                            <a:srgbClr val="0A7A5C"/>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000" b="1" spc="100" kern="0" dirty="0">
                          <a:solidFill>
                            <a:srgbClr val="0A7A5C"/>
                          </a:solidFill>
                          <a:latin typeface="Calibri" pitchFamily="34" charset="0"/>
                          <a:ea typeface="Calibri" pitchFamily="34" charset="-122"/>
                          <a:cs typeface="Calibri" pitchFamily="34" charset="-120"/>
                        </a:rPr>
                        <a:t>REAL</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000" b="1" spc="100" kern="0" dirty="0">
                          <a:solidFill>
                            <a:srgbClr val="0A7A5C"/>
                          </a:solidFill>
                          <a:latin typeface="Calibri" pitchFamily="34" charset="0"/>
                          <a:ea typeface="Calibri" pitchFamily="34" charset="-122"/>
                          <a:cs typeface="Calibri" pitchFamily="34" charset="-120"/>
                        </a:rPr>
                        <a:t>FOUND</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000" b="1" spc="100" kern="0" dirty="0">
                          <a:solidFill>
                            <a:srgbClr val="0A7A5C"/>
                          </a:solidFill>
                          <a:latin typeface="Calibri" pitchFamily="34" charset="0"/>
                          <a:ea typeface="Calibri" pitchFamily="34" charset="-122"/>
                          <a:cs typeface="Calibri" pitchFamily="34" charset="-120"/>
                        </a:rPr>
                        <a:t>INVENTED</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000" b="1" spc="100" kern="0" dirty="0">
                          <a:solidFill>
                            <a:srgbClr val="0A7A5C"/>
                          </a:solidFill>
                          <a:latin typeface="Calibri" pitchFamily="34" charset="0"/>
                          <a:ea typeface="Calibri" pitchFamily="34" charset="-122"/>
                          <a:cs typeface="Calibri" pitchFamily="34" charset="-120"/>
                        </a:rPr>
                        <a:t>MISSED</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000" b="1" spc="100" kern="0" dirty="0">
                          <a:solidFill>
                            <a:srgbClr val="0A7A5C"/>
                          </a:solidFill>
                          <a:latin typeface="Calibri" pitchFamily="34" charset="0"/>
                          <a:ea typeface="Calibri" pitchFamily="34" charset="-122"/>
                          <a:cs typeface="Calibri" pitchFamily="34" charset="-120"/>
                        </a:rPr>
                        <a:t>AP</a:t>
                      </a:r>
                      <a:endParaRPr lang="en-US" sz="10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8404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1,721</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1,509</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8404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Carry</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1,449</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1,247</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8404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Shot</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8404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Block</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8404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Tackle</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200" dirty="0">
                          <a:solidFill>
                            <a:srgbClr val="16302A"/>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13" name="MAP note"/>
          <p:cNvSpPr txBox="1"/>
          <p:nvPr/>
        </p:nvSpPr>
        <p:spPr>
          <a:xfrm>
            <a:off x="7086600" y="4754880"/>
            <a:ext cx="4050792" cy="502920"/>
          </a:xfrm>
          <a:prstGeom prst="rect">
            <a:avLst/>
          </a:prstGeom>
          <a:noFill/>
          <a:ln/>
        </p:spPr>
        <p:txBody>
          <a:bodyPr wrap="square" lIns="0" tIns="0" rIns="0" bIns="0" rtlCol="0" anchor="t"/>
          <a:lstStyle/>
          <a:p>
            <a:pPr indent="0" marL="0">
              <a:buNone/>
            </a:pPr>
            <a:r>
              <a:rPr lang="en-US" sz="1200" dirty="0">
                <a:solidFill>
                  <a:schemeClr val="tx2"/>
                </a:solidFill>
              </a:rPr>
              <a:t>Mean average precision over all 12 event types: 0.628 (published weights: 0.606).</a:t>
            </a:r>
            <a:endParaRPr lang="en-US" sz="1200" dirty="0"/>
          </a:p>
        </p:txBody>
      </p:sp>
      <p:sp>
        <p:nvSpPr>
          <p:cNvPr id="14" name="Meaning card"/>
          <p:cNvSpPr/>
          <p:nvPr/>
        </p:nvSpPr>
        <p:spPr>
          <a:xfrm>
            <a:off x="822960" y="5486400"/>
            <a:ext cx="10543032" cy="658368"/>
          </a:xfrm>
          <a:prstGeom prst="roundRect">
            <a:avLst>
              <a:gd name="adj" fmla="val 16667"/>
            </a:avLst>
          </a:prstGeom>
          <a:solidFill>
            <a:schemeClr val="bg1"/>
          </a:solidFill>
          <a:ln/>
        </p:spPr>
      </p:sp>
      <p:sp>
        <p:nvSpPr>
          <p:cNvPr id="15" name="Meaning accent"/>
          <p:cNvSpPr/>
          <p:nvPr/>
        </p:nvSpPr>
        <p:spPr>
          <a:xfrm>
            <a:off x="822960" y="5486400"/>
            <a:ext cx="73152" cy="658368"/>
          </a:xfrm>
          <a:prstGeom prst="rect">
            <a:avLst/>
          </a:prstGeom>
          <a:solidFill>
            <a:schemeClr val="accent1"/>
          </a:solidFill>
          <a:ln/>
        </p:spPr>
      </p:sp>
      <p:sp>
        <p:nvSpPr>
          <p:cNvPr id="16"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WHAT IT MEANS</a:t>
            </a:r>
            <a:endParaRPr lang="en-US" sz="1100" dirty="0"/>
          </a:p>
        </p:txBody>
      </p:sp>
      <p:sp>
        <p:nvSpPr>
          <p:cNvPr id="17"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For passes, about 9 in 10 are found and about 9 in 10 of the calls are real. Tackles are mostly missed (7 of 28) and mostly invented (24 of 31 calls), so they are shown as expected counts.</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TURNING POSITIONS INTO EVENTS</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The rules find passes well, rare events poorly</a:t>
            </a:r>
            <a:endParaRPr lang="en-US" sz="3600" dirty="0"/>
          </a:p>
        </p:txBody>
      </p:sp>
      <p:sp>
        <p:nvSpPr>
          <p:cNvPr id="5" name="Chip 1"/>
          <p:cNvSpPr/>
          <p:nvPr/>
        </p:nvSpPr>
        <p:spPr>
          <a:xfrm>
            <a:off x="822960" y="1600200"/>
            <a:ext cx="3392424" cy="713232"/>
          </a:xfrm>
          <a:prstGeom prst="roundRect">
            <a:avLst>
              <a:gd name="adj" fmla="val 15385"/>
            </a:avLst>
          </a:prstGeom>
          <a:solidFill>
            <a:schemeClr val="bg1"/>
          </a:solidFill>
          <a:ln/>
        </p:spPr>
      </p:sp>
      <p:sp>
        <p:nvSpPr>
          <p:cNvPr id="6" name="Chip number 1"/>
          <p:cNvSpPr txBox="1"/>
          <p:nvPr/>
        </p:nvSpPr>
        <p:spPr>
          <a:xfrm>
            <a:off x="1005840"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0.89</a:t>
            </a:r>
            <a:endParaRPr lang="en-US" sz="2400" dirty="0"/>
          </a:p>
        </p:txBody>
      </p:sp>
      <p:sp>
        <p:nvSpPr>
          <p:cNvPr id="7" name="Chip label 1"/>
          <p:cNvSpPr txBox="1"/>
          <p:nvPr/>
        </p:nvSpPr>
        <p:spPr>
          <a:xfrm>
            <a:off x="2560320"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correlation of per-player pass counts with the real counts</a:t>
            </a:r>
            <a:endParaRPr lang="en-US" sz="1200" dirty="0"/>
          </a:p>
        </p:txBody>
      </p:sp>
      <p:sp>
        <p:nvSpPr>
          <p:cNvPr id="8" name="Chip 2"/>
          <p:cNvSpPr/>
          <p:nvPr/>
        </p:nvSpPr>
        <p:spPr>
          <a:xfrm>
            <a:off x="4398264" y="1600200"/>
            <a:ext cx="3392424" cy="713232"/>
          </a:xfrm>
          <a:prstGeom prst="roundRect">
            <a:avLst>
              <a:gd name="adj" fmla="val 15385"/>
            </a:avLst>
          </a:prstGeom>
          <a:solidFill>
            <a:schemeClr val="bg1"/>
          </a:solidFill>
          <a:ln/>
        </p:spPr>
      </p:sp>
      <p:sp>
        <p:nvSpPr>
          <p:cNvPr id="9" name="Chip number 2"/>
          <p:cNvSpPr txBox="1"/>
          <p:nvPr/>
        </p:nvSpPr>
        <p:spPr>
          <a:xfrm>
            <a:off x="4581144"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68% / 70%</a:t>
            </a:r>
            <a:endParaRPr lang="en-US" sz="2400" dirty="0"/>
          </a:p>
        </p:txBody>
      </p:sp>
      <p:sp>
        <p:nvSpPr>
          <p:cNvPr id="10" name="Chip label 2"/>
          <p:cNvSpPr txBox="1"/>
          <p:nvPr/>
        </p:nvSpPr>
        <p:spPr>
          <a:xfrm>
            <a:off x="6135624"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pass precision and recall</a:t>
            </a:r>
            <a:endParaRPr lang="en-US" sz="1200" dirty="0"/>
          </a:p>
        </p:txBody>
      </p:sp>
      <p:sp>
        <p:nvSpPr>
          <p:cNvPr id="11" name="Chip 3"/>
          <p:cNvSpPr/>
          <p:nvPr/>
        </p:nvSpPr>
        <p:spPr>
          <a:xfrm>
            <a:off x="7973568" y="1600200"/>
            <a:ext cx="3392424" cy="713232"/>
          </a:xfrm>
          <a:prstGeom prst="roundRect">
            <a:avLst>
              <a:gd name="adj" fmla="val 15385"/>
            </a:avLst>
          </a:prstGeom>
          <a:solidFill>
            <a:schemeClr val="bg1"/>
          </a:solidFill>
          <a:ln/>
        </p:spPr>
      </p:sp>
      <p:sp>
        <p:nvSpPr>
          <p:cNvPr id="12" name="Chip number 3"/>
          <p:cNvSpPr txBox="1"/>
          <p:nvPr/>
        </p:nvSpPr>
        <p:spPr>
          <a:xfrm>
            <a:off x="8156448" y="1645920"/>
            <a:ext cx="1600200" cy="621792"/>
          </a:xfrm>
          <a:prstGeom prst="rect">
            <a:avLst/>
          </a:prstGeom>
          <a:noFill/>
          <a:ln/>
        </p:spPr>
        <p:txBody>
          <a:bodyPr wrap="square" lIns="0" tIns="0" rIns="0" bIns="0" rtlCol="0" anchor="ctr"/>
          <a:lstStyle/>
          <a:p>
            <a:pPr indent="0" marL="0">
              <a:buNone/>
            </a:pPr>
            <a:r>
              <a:rPr lang="en-US" sz="2400" b="1" dirty="0">
                <a:solidFill>
                  <a:schemeClr val="accent1"/>
                </a:solidFill>
              </a:rPr>
              <a:t>64% / 56%</a:t>
            </a:r>
            <a:endParaRPr lang="en-US" sz="2400" dirty="0"/>
          </a:p>
        </p:txBody>
      </p:sp>
      <p:sp>
        <p:nvSpPr>
          <p:cNvPr id="13" name="Chip label 3"/>
          <p:cNvSpPr txBox="1"/>
          <p:nvPr/>
        </p:nvSpPr>
        <p:spPr>
          <a:xfrm>
            <a:off x="9710928" y="1645920"/>
            <a:ext cx="1517904" cy="621792"/>
          </a:xfrm>
          <a:prstGeom prst="rect">
            <a:avLst/>
          </a:prstGeom>
          <a:noFill/>
          <a:ln/>
        </p:spPr>
        <p:txBody>
          <a:bodyPr wrap="square" lIns="0" tIns="0" rIns="0" bIns="0" rtlCol="0" anchor="ctr"/>
          <a:lstStyle/>
          <a:p>
            <a:pPr indent="0" marL="0">
              <a:buNone/>
            </a:pPr>
            <a:r>
              <a:rPr lang="en-US" sz="1200" dirty="0">
                <a:solidFill>
                  <a:schemeClr val="tx2"/>
                </a:solidFill>
              </a:rPr>
              <a:t>carry precision and recall</a:t>
            </a:r>
            <a:endParaRPr lang="en-US" sz="1200" dirty="0"/>
          </a:p>
        </p:txBody>
      </p:sp>
      <p:sp>
        <p:nvSpPr>
          <p:cNvPr id="14" name="Chart card"/>
          <p:cNvSpPr/>
          <p:nvPr/>
        </p:nvSpPr>
        <p:spPr>
          <a:xfrm>
            <a:off x="822960" y="2468880"/>
            <a:ext cx="6400800" cy="2880360"/>
          </a:xfrm>
          <a:prstGeom prst="roundRect">
            <a:avLst>
              <a:gd name="adj" fmla="val 3810"/>
            </a:avLst>
          </a:prstGeom>
          <a:solidFill>
            <a:schemeClr val="bg1"/>
          </a:solidFill>
          <a:ln/>
        </p:spPr>
      </p:sp>
      <p:sp>
        <p:nvSpPr>
          <p:cNvPr id="15" name="Chart title"/>
          <p:cNvSpPr txBox="1"/>
          <p:nvPr/>
        </p:nvSpPr>
        <p:spPr>
          <a:xfrm>
            <a:off x="1051560" y="2560320"/>
            <a:ext cx="5943600" cy="274320"/>
          </a:xfrm>
          <a:prstGeom prst="rect">
            <a:avLst/>
          </a:prstGeom>
          <a:noFill/>
          <a:ln/>
        </p:spPr>
        <p:txBody>
          <a:bodyPr wrap="square" lIns="0" tIns="0" rIns="0" bIns="0" rtlCol="0" anchor="t"/>
          <a:lstStyle/>
          <a:p>
            <a:pPr indent="0" marL="0">
              <a:buNone/>
            </a:pPr>
            <a:r>
              <a:rPr lang="en-US" sz="1500" b="1" dirty="0">
                <a:solidFill>
                  <a:schemeClr val="tx1"/>
                </a:solidFill>
              </a:rPr>
              <a:t>Real events found, missed, or matched by an invented call</a:t>
            </a:r>
            <a:endParaRPr lang="en-US" sz="1500" dirty="0"/>
          </a:p>
        </p:txBody>
      </p:sp>
      <p:sp>
        <p:nvSpPr>
          <p:cNvPr id="16" name="Chart subtitle"/>
          <p:cNvSpPr txBox="1"/>
          <p:nvPr/>
        </p:nvSpPr>
        <p:spPr>
          <a:xfrm>
            <a:off x="1051560" y="2834640"/>
            <a:ext cx="5943600" cy="411480"/>
          </a:xfrm>
          <a:prstGeom prst="rect">
            <a:avLst/>
          </a:prstGeom>
          <a:noFill/>
          <a:ln/>
        </p:spPr>
        <p:txBody>
          <a:bodyPr wrap="square" lIns="0" tIns="0" rIns="0" bIns="0" rtlCol="0" anchor="t"/>
          <a:lstStyle/>
          <a:p>
            <a:pPr indent="0" marL="0">
              <a:buNone/>
            </a:pPr>
            <a:r>
              <a:rPr lang="en-US" sz="1100" dirty="0">
                <a:solidFill>
                  <a:schemeClr val="tx2"/>
                </a:solidFill>
              </a:rPr>
              <a:t>Model: rule-based event logic, no learning. Counts per row; brackets = real events</a:t>
            </a:r>
            <a:endParaRPr lang="en-US" sz="1100" dirty="0"/>
          </a:p>
        </p:txBody>
      </p:sp>
      <p:graphicFrame>
        <p:nvGraphicFramePr>
          <p:cNvPr id="17" name="Chart 0" descr=""/>
          <p:cNvGraphicFramePr/>
          <p:nvPr/>
        </p:nvGraphicFramePr>
        <p:xfrm>
          <a:off x="914400" y="3200400"/>
          <a:ext cx="6217920" cy="2103120"/>
        </p:xfrm>
        <a:graphic xmlns:a="http://schemas.openxmlformats.org/drawingml/2006/main">
          <a:graphicData uri="http://schemas.openxmlformats.org/drawingml/2006/chart">
            <c:chart xmlns:c="http://schemas.openxmlformats.org/drawingml/2006/chart" r:id="rId1"/>
          </a:graphicData>
        </a:graphic>
      </p:graphicFrame>
      <p:sp>
        <p:nvSpPr>
          <p:cNvPr id="18" name="Shot card"/>
          <p:cNvSpPr/>
          <p:nvPr/>
        </p:nvSpPr>
        <p:spPr>
          <a:xfrm>
            <a:off x="7406640" y="2468880"/>
            <a:ext cx="3959352" cy="2880360"/>
          </a:xfrm>
          <a:prstGeom prst="roundRect">
            <a:avLst>
              <a:gd name="adj" fmla="val 3810"/>
            </a:avLst>
          </a:prstGeom>
          <a:solidFill>
            <a:schemeClr val="bg1"/>
          </a:solidFill>
          <a:ln/>
        </p:spPr>
      </p:sp>
      <p:sp>
        <p:nvSpPr>
          <p:cNvPr id="19" name="Chart title"/>
          <p:cNvSpPr txBox="1"/>
          <p:nvPr/>
        </p:nvSpPr>
        <p:spPr>
          <a:xfrm>
            <a:off x="7635240" y="2560320"/>
            <a:ext cx="3502152" cy="274320"/>
          </a:xfrm>
          <a:prstGeom prst="rect">
            <a:avLst/>
          </a:prstGeom>
          <a:noFill/>
          <a:ln/>
        </p:spPr>
        <p:txBody>
          <a:bodyPr wrap="square" lIns="0" tIns="0" rIns="0" bIns="0" rtlCol="0" anchor="t"/>
          <a:lstStyle/>
          <a:p>
            <a:pPr indent="0" marL="0">
              <a:buNone/>
            </a:pPr>
            <a:r>
              <a:rPr lang="en-US" sz="1500" b="1" dirty="0">
                <a:solidFill>
                  <a:schemeClr val="tx1"/>
                </a:solidFill>
              </a:rPr>
              <a:t>Shots: found by the video spotter</a:t>
            </a:r>
            <a:endParaRPr lang="en-US" sz="1500" dirty="0"/>
          </a:p>
        </p:txBody>
      </p:sp>
      <p:sp>
        <p:nvSpPr>
          <p:cNvPr id="20" name="Chart subtitle"/>
          <p:cNvSpPr txBox="1"/>
          <p:nvPr/>
        </p:nvSpPr>
        <p:spPr>
          <a:xfrm>
            <a:off x="7635240" y="2834640"/>
            <a:ext cx="3502152" cy="411480"/>
          </a:xfrm>
          <a:prstGeom prst="rect">
            <a:avLst/>
          </a:prstGeom>
          <a:noFill/>
          <a:ln/>
        </p:spPr>
        <p:txBody>
          <a:bodyPr wrap="square" lIns="0" tIns="0" rIns="0" bIns="0" rtlCol="0" anchor="t"/>
          <a:lstStyle/>
          <a:p>
            <a:pPr indent="0" marL="0">
              <a:buNone/>
            </a:pPr>
            <a:r>
              <a:rPr lang="en-US" sz="1100" dirty="0">
                <a:solidFill>
                  <a:schemeClr val="tx2"/>
                </a:solidFill>
              </a:rPr>
              <a:t>Model: T-DEED spotter. 4 unseen halves, 58 labelled shots</a:t>
            </a:r>
            <a:endParaRPr lang="en-US" sz="1100" dirty="0"/>
          </a:p>
        </p:txBody>
      </p:sp>
      <p:graphicFrame>
        <p:nvGraphicFramePr>
          <p:cNvPr id="31" name="Shot table"/>
          <p:cNvGraphicFramePr>
            <a:graphicFrameLocks noGrp="1"/>
          </p:cNvGraphicFramePr>
          <p:nvPr>
            <p:extLst>
              <p:ext uri="{D42A27DB-BD31-4B8C-83A1-F6EECF244321}">
                <p14:modId xmlns:p14="http://schemas.microsoft.com/office/powerpoint/2010/main" val="1579011935"/>
              </p:ext>
            </p:extLst>
          </p:nvPr>
        </p:nvGraphicFramePr>
        <p:xfrm>
          <a:off x="7589520" y="3291840"/>
          <a:ext cx="3703320" cy="914400"/>
        </p:xfrm>
        <a:graphic>
          <a:graphicData uri="http://schemas.openxmlformats.org/drawingml/2006/table">
            <a:tbl>
              <a:tblPr/>
              <a:tblGrid>
                <a:gridCol w="1051560"/>
                <a:gridCol w="502920"/>
                <a:gridCol w="685800"/>
                <a:gridCol w="548640"/>
                <a:gridCol w="457200"/>
                <a:gridCol w="457200"/>
              </a:tblGrid>
              <a:tr h="310896">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FOUND</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INVENTED</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MISSED</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PREC.</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900" b="1" dirty="0">
                          <a:solidFill>
                            <a:srgbClr val="0A7A5C"/>
                          </a:solidFill>
                          <a:latin typeface="Calibri" pitchFamily="34" charset="0"/>
                          <a:ea typeface="Calibri" pitchFamily="34" charset="-122"/>
                          <a:cs typeface="Calibri" pitchFamily="34" charset="-120"/>
                        </a:rPr>
                        <a:t>REC.</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365760">
                <a:tc>
                  <a:txBody>
                    <a:bodyPr/>
                    <a:lstStyle/>
                    <a:p>
                      <a:pPr algn="l" indent="0" marL="0">
                        <a:buNone/>
                      </a:pPr>
                      <a:r>
                        <a:rPr lang="en-US" sz="1100" b="1" dirty="0">
                          <a:solidFill>
                            <a:srgbClr val="16302A"/>
                          </a:solidFill>
                          <a:latin typeface="Calibri" pitchFamily="34" charset="0"/>
                          <a:ea typeface="Calibri" pitchFamily="34" charset="-122"/>
                          <a:cs typeface="Calibri" pitchFamily="34" charset="-120"/>
                        </a:rPr>
                        <a:t>T-DEED spotter</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ctr" indent="0" marL="0">
                        <a:buNone/>
                      </a:pPr>
                      <a:r>
                        <a:rPr lang="en-US" sz="1100" dirty="0">
                          <a:solidFill>
                            <a:srgbClr val="16302A"/>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22" name="Shot note"/>
          <p:cNvSpPr txBox="1"/>
          <p:nvPr/>
        </p:nvSpPr>
        <p:spPr>
          <a:xfrm>
            <a:off x="7635240" y="4206240"/>
            <a:ext cx="3502152" cy="731520"/>
          </a:xfrm>
          <a:prstGeom prst="rect">
            <a:avLst/>
          </a:prstGeom>
          <a:noFill/>
          <a:ln/>
        </p:spPr>
        <p:txBody>
          <a:bodyPr wrap="square" lIns="0" tIns="0" rIns="0" bIns="0" rtlCol="0" anchor="t"/>
          <a:lstStyle/>
          <a:p>
            <a:pPr indent="0" marL="0">
              <a:buNone/>
            </a:pPr>
            <a:r>
              <a:rPr lang="en-US" sz="1200" dirty="0">
                <a:solidFill>
                  <a:schemeClr val="tx2"/>
                </a:solidFill>
              </a:rPr>
              <a:t>Shots are not found by rules: the video spotter finds them. It finds 42 of 58 labelled shots and calls 20 that were not real.</a:t>
            </a:r>
            <a:endParaRPr lang="en-US" sz="1200" dirty="0"/>
          </a:p>
        </p:txBody>
      </p:sp>
      <p:sp>
        <p:nvSpPr>
          <p:cNvPr id="23" name="Meaning card"/>
          <p:cNvSpPr/>
          <p:nvPr/>
        </p:nvSpPr>
        <p:spPr>
          <a:xfrm>
            <a:off x="822960" y="5486400"/>
            <a:ext cx="10543032" cy="658368"/>
          </a:xfrm>
          <a:prstGeom prst="roundRect">
            <a:avLst>
              <a:gd name="adj" fmla="val 16667"/>
            </a:avLst>
          </a:prstGeom>
          <a:solidFill>
            <a:schemeClr val="bg1"/>
          </a:solidFill>
          <a:ln/>
        </p:spPr>
      </p:sp>
      <p:sp>
        <p:nvSpPr>
          <p:cNvPr id="24" name="Meaning accent"/>
          <p:cNvSpPr/>
          <p:nvPr/>
        </p:nvSpPr>
        <p:spPr>
          <a:xfrm>
            <a:off x="822960" y="5486400"/>
            <a:ext cx="73152" cy="658368"/>
          </a:xfrm>
          <a:prstGeom prst="rect">
            <a:avLst/>
          </a:prstGeom>
          <a:solidFill>
            <a:schemeClr val="accent1"/>
          </a:solidFill>
          <a:ln/>
        </p:spPr>
      </p:sp>
      <p:sp>
        <p:nvSpPr>
          <p:cNvPr id="25"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WHAT IT MEANS</a:t>
            </a:r>
            <a:endParaRPr lang="en-US" sz="1100" dirty="0"/>
          </a:p>
        </p:txBody>
      </p:sp>
      <p:sp>
        <p:nvSpPr>
          <p:cNvPr id="26"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The rules rebuild passes and carries well from positions. Per-player pass totals stay close to the truth (r = 0.89) even though 3 in 10 single passes are missed.</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END TO END</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The loss happens when the event is credited to a player</a:t>
            </a:r>
            <a:endParaRPr lang="en-US" sz="3600" dirty="0"/>
          </a:p>
        </p:txBody>
      </p:sp>
      <p:sp>
        <p:nvSpPr>
          <p:cNvPr id="5" name="Chart card"/>
          <p:cNvSpPr/>
          <p:nvPr/>
        </p:nvSpPr>
        <p:spPr>
          <a:xfrm>
            <a:off x="822960" y="1645920"/>
            <a:ext cx="6766560" cy="3703320"/>
          </a:xfrm>
          <a:prstGeom prst="roundRect">
            <a:avLst>
              <a:gd name="adj" fmla="val 2963"/>
            </a:avLst>
          </a:prstGeom>
          <a:solidFill>
            <a:schemeClr val="bg2"/>
          </a:solidFill>
          <a:ln/>
        </p:spPr>
      </p:sp>
      <p:sp>
        <p:nvSpPr>
          <p:cNvPr id="6" name="Chart title"/>
          <p:cNvSpPr txBox="1"/>
          <p:nvPr/>
        </p:nvSpPr>
        <p:spPr>
          <a:xfrm>
            <a:off x="1051560" y="1737360"/>
            <a:ext cx="6400800" cy="274320"/>
          </a:xfrm>
          <a:prstGeom prst="rect">
            <a:avLst/>
          </a:prstGeom>
          <a:noFill/>
          <a:ln/>
        </p:spPr>
        <p:txBody>
          <a:bodyPr wrap="square" lIns="0" tIns="0" rIns="0" bIns="0" rtlCol="0" anchor="t"/>
          <a:lstStyle/>
          <a:p>
            <a:pPr indent="0" marL="0">
              <a:buNone/>
            </a:pPr>
            <a:r>
              <a:rPr lang="en-US" sz="1500" b="1" dirty="0">
                <a:solidFill>
                  <a:schemeClr val="tx1"/>
                </a:solidFill>
              </a:rPr>
              <a:t>From video to a credited player, per event type</a:t>
            </a:r>
            <a:endParaRPr lang="en-US" sz="1500" dirty="0"/>
          </a:p>
        </p:txBody>
      </p:sp>
      <p:sp>
        <p:nvSpPr>
          <p:cNvPr id="7" name="Chart subtitle"/>
          <p:cNvSpPr txBox="1"/>
          <p:nvPr/>
        </p:nvSpPr>
        <p:spPr>
          <a:xfrm>
            <a:off x="1051560" y="2011680"/>
            <a:ext cx="6400800" cy="411480"/>
          </a:xfrm>
          <a:prstGeom prst="rect">
            <a:avLst/>
          </a:prstGeom>
          <a:noFill/>
          <a:ln/>
        </p:spPr>
        <p:txBody>
          <a:bodyPr wrap="square" lIns="0" tIns="0" rIns="0" bIns="0" rtlCol="0" anchor="t"/>
          <a:lstStyle/>
          <a:p>
            <a:pPr indent="0" marL="0">
              <a:buNone/>
            </a:pPr>
            <a:r>
              <a:rPr lang="en-US" sz="1100" dirty="0">
                <a:solidFill>
                  <a:schemeClr val="tx2"/>
                </a:solidFill>
              </a:rPr>
              <a:t>Models: the whole chain (detector, tracker, identity model, T-DEED spotter). 3 unseen FOOTPASS games, 3,059 passes, 2,470 carries</a:t>
            </a:r>
            <a:endParaRPr lang="en-US" sz="1100" dirty="0"/>
          </a:p>
        </p:txBody>
      </p:sp>
      <p:graphicFrame>
        <p:nvGraphicFramePr>
          <p:cNvPr id="8" name="Chart 0" descr=""/>
          <p:cNvGraphicFramePr/>
          <p:nvPr/>
        </p:nvGraphicFramePr>
        <p:xfrm>
          <a:off x="914400" y="2514600"/>
          <a:ext cx="6583680" cy="2788920"/>
        </p:xfrm>
        <a:graphic xmlns:a="http://schemas.openxmlformats.org/drawingml/2006/main">
          <a:graphicData uri="http://schemas.openxmlformats.org/drawingml/2006/chart">
            <c:chart xmlns:c="http://schemas.openxmlformats.org/drawingml/2006/chart" r:id="rId1"/>
          </a:graphicData>
        </a:graphic>
      </p:graphicFrame>
      <p:sp>
        <p:nvSpPr>
          <p:cNvPr id="9" name="Pass card"/>
          <p:cNvSpPr/>
          <p:nvPr/>
        </p:nvSpPr>
        <p:spPr>
          <a:xfrm>
            <a:off x="7772400" y="1645920"/>
            <a:ext cx="3593592" cy="3703320"/>
          </a:xfrm>
          <a:prstGeom prst="roundRect">
            <a:avLst>
              <a:gd name="adj" fmla="val 3053"/>
            </a:avLst>
          </a:prstGeom>
          <a:solidFill>
            <a:schemeClr val="bg2"/>
          </a:solidFill>
          <a:ln/>
        </p:spPr>
      </p:sp>
      <p:sp>
        <p:nvSpPr>
          <p:cNvPr id="10" name="Chart title"/>
          <p:cNvSpPr txBox="1"/>
          <p:nvPr/>
        </p:nvSpPr>
        <p:spPr>
          <a:xfrm>
            <a:off x="8001000" y="1737360"/>
            <a:ext cx="3136392" cy="274320"/>
          </a:xfrm>
          <a:prstGeom prst="rect">
            <a:avLst/>
          </a:prstGeom>
          <a:noFill/>
          <a:ln/>
        </p:spPr>
        <p:txBody>
          <a:bodyPr wrap="square" lIns="0" tIns="0" rIns="0" bIns="0" rtlCol="0" anchor="t"/>
          <a:lstStyle/>
          <a:p>
            <a:pPr indent="0" marL="0">
              <a:buNone/>
            </a:pPr>
            <a:r>
              <a:rPr lang="en-US" sz="1500" b="1" dirty="0">
                <a:solidFill>
                  <a:schemeClr val="tx1"/>
                </a:solidFill>
              </a:rPr>
              <a:t>Following the pass</a:t>
            </a:r>
            <a:endParaRPr lang="en-US" sz="1500" dirty="0"/>
          </a:p>
        </p:txBody>
      </p:sp>
      <p:sp>
        <p:nvSpPr>
          <p:cNvPr id="11" name="Pass number 1"/>
          <p:cNvSpPr txBox="1"/>
          <p:nvPr/>
        </p:nvSpPr>
        <p:spPr>
          <a:xfrm>
            <a:off x="8001000" y="2148840"/>
            <a:ext cx="1097280" cy="548640"/>
          </a:xfrm>
          <a:prstGeom prst="rect">
            <a:avLst/>
          </a:prstGeom>
          <a:noFill/>
          <a:ln/>
        </p:spPr>
        <p:txBody>
          <a:bodyPr wrap="square" lIns="0" tIns="0" rIns="0" bIns="0" rtlCol="0" anchor="ctr"/>
          <a:lstStyle/>
          <a:p>
            <a:pPr indent="0" marL="0">
              <a:buNone/>
            </a:pPr>
            <a:r>
              <a:rPr lang="en-US" sz="2800" b="1" dirty="0">
                <a:solidFill>
                  <a:schemeClr val="accent1"/>
                </a:solidFill>
              </a:rPr>
              <a:t>90%</a:t>
            </a:r>
            <a:endParaRPr lang="en-US" sz="2800" dirty="0"/>
          </a:p>
        </p:txBody>
      </p:sp>
      <p:sp>
        <p:nvSpPr>
          <p:cNvPr id="12" name="Pass label 1"/>
          <p:cNvSpPr txBox="1"/>
          <p:nvPr/>
        </p:nvSpPr>
        <p:spPr>
          <a:xfrm>
            <a:off x="9144000" y="2148840"/>
            <a:ext cx="2039112" cy="548640"/>
          </a:xfrm>
          <a:prstGeom prst="rect">
            <a:avLst/>
          </a:prstGeom>
          <a:noFill/>
          <a:ln/>
        </p:spPr>
        <p:txBody>
          <a:bodyPr wrap="square" lIns="0" tIns="0" rIns="0" bIns="0" rtlCol="0" anchor="ctr"/>
          <a:lstStyle/>
          <a:p>
            <a:pPr indent="0" marL="0">
              <a:buNone/>
            </a:pPr>
            <a:r>
              <a:rPr lang="en-US" sz="1200" dirty="0">
                <a:solidFill>
                  <a:schemeClr val="tx2"/>
                </a:solidFill>
              </a:rPr>
              <a:t>of real passes are found</a:t>
            </a:r>
            <a:endParaRPr lang="en-US" sz="1200" dirty="0"/>
          </a:p>
        </p:txBody>
      </p:sp>
      <p:sp>
        <p:nvSpPr>
          <p:cNvPr id="13" name="Pass number 2"/>
          <p:cNvSpPr txBox="1"/>
          <p:nvPr/>
        </p:nvSpPr>
        <p:spPr>
          <a:xfrm>
            <a:off x="8001000" y="2788920"/>
            <a:ext cx="1097280" cy="548640"/>
          </a:xfrm>
          <a:prstGeom prst="rect">
            <a:avLst/>
          </a:prstGeom>
          <a:noFill/>
          <a:ln/>
        </p:spPr>
        <p:txBody>
          <a:bodyPr wrap="square" lIns="0" tIns="0" rIns="0" bIns="0" rtlCol="0" anchor="ctr"/>
          <a:lstStyle/>
          <a:p>
            <a:pPr indent="0" marL="0">
              <a:buNone/>
            </a:pPr>
            <a:r>
              <a:rPr lang="en-US" sz="2800" b="1" dirty="0">
                <a:solidFill>
                  <a:schemeClr val="accent1"/>
                </a:solidFill>
              </a:rPr>
              <a:t>89%</a:t>
            </a:r>
            <a:endParaRPr lang="en-US" sz="2800" dirty="0"/>
          </a:p>
        </p:txBody>
      </p:sp>
      <p:sp>
        <p:nvSpPr>
          <p:cNvPr id="14" name="Pass label 2"/>
          <p:cNvSpPr txBox="1"/>
          <p:nvPr/>
        </p:nvSpPr>
        <p:spPr>
          <a:xfrm>
            <a:off x="9144000" y="2788920"/>
            <a:ext cx="2039112" cy="548640"/>
          </a:xfrm>
          <a:prstGeom prst="rect">
            <a:avLst/>
          </a:prstGeom>
          <a:noFill/>
          <a:ln/>
        </p:spPr>
        <p:txBody>
          <a:bodyPr wrap="square" lIns="0" tIns="0" rIns="0" bIns="0" rtlCol="0" anchor="ctr"/>
          <a:lstStyle/>
          <a:p>
            <a:pPr indent="0" marL="0">
              <a:buNone/>
            </a:pPr>
            <a:r>
              <a:rPr lang="en-US" sz="1200" dirty="0">
                <a:solidFill>
                  <a:schemeClr val="tx2"/>
                </a:solidFill>
              </a:rPr>
              <a:t>of found passes go to the right team</a:t>
            </a:r>
            <a:endParaRPr lang="en-US" sz="1200" dirty="0"/>
          </a:p>
        </p:txBody>
      </p:sp>
      <p:sp>
        <p:nvSpPr>
          <p:cNvPr id="15" name="Pass number 3"/>
          <p:cNvSpPr txBox="1"/>
          <p:nvPr/>
        </p:nvSpPr>
        <p:spPr>
          <a:xfrm>
            <a:off x="8001000" y="3429000"/>
            <a:ext cx="1097280" cy="548640"/>
          </a:xfrm>
          <a:prstGeom prst="rect">
            <a:avLst/>
          </a:prstGeom>
          <a:noFill/>
          <a:ln/>
        </p:spPr>
        <p:txBody>
          <a:bodyPr wrap="square" lIns="0" tIns="0" rIns="0" bIns="0" rtlCol="0" anchor="ctr"/>
          <a:lstStyle/>
          <a:p>
            <a:pPr indent="0" marL="0">
              <a:buNone/>
            </a:pPr>
            <a:r>
              <a:rPr lang="en-US" sz="2800" b="1" dirty="0">
                <a:solidFill>
                  <a:schemeClr val="accent1"/>
                </a:solidFill>
              </a:rPr>
              <a:t>41%</a:t>
            </a:r>
            <a:endParaRPr lang="en-US" sz="2800" dirty="0"/>
          </a:p>
        </p:txBody>
      </p:sp>
      <p:sp>
        <p:nvSpPr>
          <p:cNvPr id="16" name="Pass label 3"/>
          <p:cNvSpPr txBox="1"/>
          <p:nvPr/>
        </p:nvSpPr>
        <p:spPr>
          <a:xfrm>
            <a:off x="9144000" y="3429000"/>
            <a:ext cx="2039112" cy="548640"/>
          </a:xfrm>
          <a:prstGeom prst="rect">
            <a:avLst/>
          </a:prstGeom>
          <a:noFill/>
          <a:ln/>
        </p:spPr>
        <p:txBody>
          <a:bodyPr wrap="square" lIns="0" tIns="0" rIns="0" bIns="0" rtlCol="0" anchor="ctr"/>
          <a:lstStyle/>
          <a:p>
            <a:pPr indent="0" marL="0">
              <a:buNone/>
            </a:pPr>
            <a:r>
              <a:rPr lang="en-US" sz="1200" dirty="0">
                <a:solidFill>
                  <a:schemeClr val="tx2"/>
                </a:solidFill>
              </a:rPr>
              <a:t>are credited to a named player</a:t>
            </a:r>
            <a:endParaRPr lang="en-US" sz="1200" dirty="0"/>
          </a:p>
        </p:txBody>
      </p:sp>
      <p:sp>
        <p:nvSpPr>
          <p:cNvPr id="17" name="Pass number 4"/>
          <p:cNvSpPr txBox="1"/>
          <p:nvPr/>
        </p:nvSpPr>
        <p:spPr>
          <a:xfrm>
            <a:off x="8001000" y="4069080"/>
            <a:ext cx="1097280" cy="548640"/>
          </a:xfrm>
          <a:prstGeom prst="rect">
            <a:avLst/>
          </a:prstGeom>
          <a:noFill/>
          <a:ln/>
        </p:spPr>
        <p:txBody>
          <a:bodyPr wrap="square" lIns="0" tIns="0" rIns="0" bIns="0" rtlCol="0" anchor="ctr"/>
          <a:lstStyle/>
          <a:p>
            <a:pPr indent="0" marL="0">
              <a:buNone/>
            </a:pPr>
            <a:r>
              <a:rPr lang="en-US" sz="2800" b="1" dirty="0">
                <a:solidFill>
                  <a:schemeClr val="accent1"/>
                </a:solidFill>
              </a:rPr>
              <a:t>34%</a:t>
            </a:r>
            <a:endParaRPr lang="en-US" sz="2800" dirty="0"/>
          </a:p>
        </p:txBody>
      </p:sp>
      <p:sp>
        <p:nvSpPr>
          <p:cNvPr id="18" name="Pass label 4"/>
          <p:cNvSpPr txBox="1"/>
          <p:nvPr/>
        </p:nvSpPr>
        <p:spPr>
          <a:xfrm>
            <a:off x="9144000" y="4069080"/>
            <a:ext cx="2039112" cy="548640"/>
          </a:xfrm>
          <a:prstGeom prst="rect">
            <a:avLst/>
          </a:prstGeom>
          <a:noFill/>
          <a:ln/>
        </p:spPr>
        <p:txBody>
          <a:bodyPr wrap="square" lIns="0" tIns="0" rIns="0" bIns="0" rtlCol="0" anchor="ctr"/>
          <a:lstStyle/>
          <a:p>
            <a:pPr indent="0" marL="0">
              <a:buNone/>
            </a:pPr>
            <a:r>
              <a:rPr lang="en-US" sz="1200" dirty="0">
                <a:solidFill>
                  <a:schemeClr val="tx2"/>
                </a:solidFill>
              </a:rPr>
              <a:t>are credited to the right named player</a:t>
            </a:r>
            <a:endParaRPr lang="en-US" sz="1200" dirty="0"/>
          </a:p>
        </p:txBody>
      </p:sp>
      <p:sp>
        <p:nvSpPr>
          <p:cNvPr id="19" name="Pass note"/>
          <p:cNvSpPr txBox="1"/>
          <p:nvPr/>
        </p:nvSpPr>
        <p:spPr>
          <a:xfrm>
            <a:off x="8001000" y="4754880"/>
            <a:ext cx="3136392" cy="457200"/>
          </a:xfrm>
          <a:prstGeom prst="rect">
            <a:avLst/>
          </a:prstGeom>
          <a:noFill/>
          <a:ln/>
        </p:spPr>
        <p:txBody>
          <a:bodyPr wrap="square" lIns="0" tIns="0" rIns="0" bIns="0" rtlCol="0" anchor="t"/>
          <a:lstStyle/>
          <a:p>
            <a:pPr indent="0" marL="0">
              <a:buNone/>
            </a:pPr>
            <a:r>
              <a:rPr lang="en-US" sz="1200" dirty="0">
                <a:solidFill>
                  <a:schemeClr val="tx2"/>
                </a:solidFill>
              </a:rPr>
              <a:t>When a pass is credited, it is the right player 84% of the time.</a:t>
            </a:r>
            <a:endParaRPr lang="en-US" sz="1200" dirty="0"/>
          </a:p>
        </p:txBody>
      </p:sp>
      <p:sp>
        <p:nvSpPr>
          <p:cNvPr id="20" name="Meaning card"/>
          <p:cNvSpPr/>
          <p:nvPr/>
        </p:nvSpPr>
        <p:spPr>
          <a:xfrm>
            <a:off x="822960" y="5486400"/>
            <a:ext cx="10543032" cy="658368"/>
          </a:xfrm>
          <a:prstGeom prst="roundRect">
            <a:avLst>
              <a:gd name="adj" fmla="val 16667"/>
            </a:avLst>
          </a:prstGeom>
          <a:solidFill>
            <a:schemeClr val="bg1"/>
          </a:solidFill>
          <a:ln/>
        </p:spPr>
      </p:sp>
      <p:sp>
        <p:nvSpPr>
          <p:cNvPr id="21" name="Meaning accent"/>
          <p:cNvSpPr/>
          <p:nvPr/>
        </p:nvSpPr>
        <p:spPr>
          <a:xfrm>
            <a:off x="822960" y="5486400"/>
            <a:ext cx="73152" cy="658368"/>
          </a:xfrm>
          <a:prstGeom prst="rect">
            <a:avLst/>
          </a:prstGeom>
          <a:solidFill>
            <a:schemeClr val="accent1"/>
          </a:solidFill>
          <a:ln/>
        </p:spPr>
      </p:sp>
      <p:sp>
        <p:nvSpPr>
          <p:cNvPr id="22"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WHAT IT MEANS</a:t>
            </a:r>
            <a:endParaRPr lang="en-US" sz="1100" dirty="0"/>
          </a:p>
        </p:txBody>
      </p:sp>
      <p:sp>
        <p:nvSpPr>
          <p:cNvPr id="23"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Almost all the loss happens at naming the player, not at finding the event. Team totals need only the first bar; player totals need all three.</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BACKUP · WHERE IT IS WEAKEST</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bg1"/>
                </a:solidFill>
              </a:rPr>
              <a:t>The ball and the camera set the ceiling</a:t>
            </a:r>
            <a:endParaRPr lang="en-US" sz="3600" dirty="0"/>
          </a:p>
        </p:txBody>
      </p:sp>
      <p:sp>
        <p:nvSpPr>
          <p:cNvPr id="5" name="Chart card"/>
          <p:cNvSpPr/>
          <p:nvPr/>
        </p:nvSpPr>
        <p:spPr>
          <a:xfrm>
            <a:off x="822960" y="1645920"/>
            <a:ext cx="6583680" cy="3703320"/>
          </a:xfrm>
          <a:prstGeom prst="roundRect">
            <a:avLst>
              <a:gd name="adj" fmla="val 2963"/>
            </a:avLst>
          </a:prstGeom>
          <a:solidFill>
            <a:schemeClr val="tx2"/>
          </a:solidFill>
          <a:ln/>
        </p:spPr>
      </p:sp>
      <p:sp>
        <p:nvSpPr>
          <p:cNvPr id="6" name="Chart title"/>
          <p:cNvSpPr txBox="1"/>
          <p:nvPr/>
        </p:nvSpPr>
        <p:spPr>
          <a:xfrm>
            <a:off x="1051560" y="1737360"/>
            <a:ext cx="6217920" cy="274320"/>
          </a:xfrm>
          <a:prstGeom prst="rect">
            <a:avLst/>
          </a:prstGeom>
          <a:noFill/>
          <a:ln/>
        </p:spPr>
        <p:txBody>
          <a:bodyPr wrap="square" lIns="0" tIns="0" rIns="0" bIns="0" rtlCol="0" anchor="t"/>
          <a:lstStyle/>
          <a:p>
            <a:pPr indent="0" marL="0">
              <a:buNone/>
            </a:pPr>
            <a:r>
              <a:rPr lang="en-US" sz="1500" b="1" dirty="0">
                <a:solidFill>
                  <a:schemeClr val="bg1"/>
                </a:solidFill>
              </a:rPr>
              <a:t>Ball detection: precision against recall</a:t>
            </a:r>
            <a:endParaRPr lang="en-US" sz="1500" dirty="0"/>
          </a:p>
        </p:txBody>
      </p:sp>
      <p:sp>
        <p:nvSpPr>
          <p:cNvPr id="7" name="Chart subtitle"/>
          <p:cNvSpPr txBox="1"/>
          <p:nvPr/>
        </p:nvSpPr>
        <p:spPr>
          <a:xfrm>
            <a:off x="1051560" y="2011680"/>
            <a:ext cx="6217920" cy="411480"/>
          </a:xfrm>
          <a:prstGeom prst="rect">
            <a:avLst/>
          </a:prstGeom>
          <a:noFill/>
          <a:ln/>
        </p:spPr>
        <p:txBody>
          <a:bodyPr wrap="square" lIns="0" tIns="0" rIns="0" bIns="0" rtlCol="0" anchor="t"/>
          <a:lstStyle/>
          <a:p>
            <a:pPr indent="0" marL="0">
              <a:buNone/>
            </a:pPr>
            <a:r>
              <a:rPr lang="en-US" sz="1100" dirty="0">
                <a:solidFill>
                  <a:schemeClr val="bg2"/>
                </a:solidFill>
              </a:rPr>
              <a:t>Model: YOLOv8x ball detector. Threshold 0.05 at lower right to 0.7 at upper left. At 0.1: 47% recall, 72% precision.</a:t>
            </a:r>
            <a:endParaRPr lang="en-US" sz="1100" dirty="0"/>
          </a:p>
        </p:txBody>
      </p:sp>
      <p:graphicFrame>
        <p:nvGraphicFramePr>
          <p:cNvPr id="8" name="Chart 0" descr=""/>
          <p:cNvGraphicFramePr/>
          <p:nvPr/>
        </p:nvGraphicFramePr>
        <p:xfrm>
          <a:off x="914400" y="2423160"/>
          <a:ext cx="6400800" cy="2880360"/>
        </p:xfrm>
        <a:graphic xmlns:a="http://schemas.openxmlformats.org/drawingml/2006/main">
          <a:graphicData uri="http://schemas.openxmlformats.org/drawingml/2006/chart">
            <c:chart xmlns:c="http://schemas.openxmlformats.org/drawingml/2006/chart" r:id="rId1"/>
          </a:graphicData>
        </a:graphic>
      </p:graphicFrame>
      <p:sp>
        <p:nvSpPr>
          <p:cNvPr id="9" name="Stat card 1"/>
          <p:cNvSpPr/>
          <p:nvPr/>
        </p:nvSpPr>
        <p:spPr>
          <a:xfrm>
            <a:off x="7589520" y="1645920"/>
            <a:ext cx="1796796" cy="1783080"/>
          </a:xfrm>
          <a:prstGeom prst="roundRect">
            <a:avLst>
              <a:gd name="adj" fmla="val 6154"/>
            </a:avLst>
          </a:prstGeom>
          <a:solidFill>
            <a:schemeClr val="tx2"/>
          </a:solidFill>
          <a:ln/>
        </p:spPr>
      </p:sp>
      <p:sp>
        <p:nvSpPr>
          <p:cNvPr id="10" name="Stat 1"/>
          <p:cNvSpPr txBox="1"/>
          <p:nvPr/>
        </p:nvSpPr>
        <p:spPr>
          <a:xfrm>
            <a:off x="7772400" y="1783080"/>
            <a:ext cx="1431036" cy="548640"/>
          </a:xfrm>
          <a:prstGeom prst="rect">
            <a:avLst/>
          </a:prstGeom>
          <a:noFill/>
          <a:ln/>
        </p:spPr>
        <p:txBody>
          <a:bodyPr wrap="square" lIns="0" tIns="0" rIns="0" bIns="0" rtlCol="0" anchor="t"/>
          <a:lstStyle/>
          <a:p>
            <a:pPr indent="0" marL="0">
              <a:buNone/>
            </a:pPr>
            <a:r>
              <a:rPr lang="en-US" sz="2800" b="1" dirty="0">
                <a:solidFill>
                  <a:schemeClr val="accent6"/>
                </a:solidFill>
              </a:rPr>
              <a:t>60%</a:t>
            </a:r>
            <a:endParaRPr lang="en-US" sz="2800" dirty="0"/>
          </a:p>
        </p:txBody>
      </p:sp>
      <p:sp>
        <p:nvSpPr>
          <p:cNvPr id="11" name="Stat label 1"/>
          <p:cNvSpPr txBox="1"/>
          <p:nvPr/>
        </p:nvSpPr>
        <p:spPr>
          <a:xfrm>
            <a:off x="7772400" y="2423160"/>
            <a:ext cx="1431036" cy="914400"/>
          </a:xfrm>
          <a:prstGeom prst="rect">
            <a:avLst/>
          </a:prstGeom>
          <a:noFill/>
          <a:ln/>
        </p:spPr>
        <p:txBody>
          <a:bodyPr wrap="square" lIns="0" tIns="0" rIns="0" bIns="0" rtlCol="0" anchor="t"/>
          <a:lstStyle/>
          <a:p>
            <a:pPr indent="0" marL="0">
              <a:buNone/>
            </a:pPr>
            <a:r>
              <a:rPr lang="en-US" sz="1200" dirty="0">
                <a:solidFill>
                  <a:schemeClr val="bg1"/>
                </a:solidFill>
              </a:rPr>
              <a:t>of broadcast time shows a usable pitch view (22 halves, 47–70%)</a:t>
            </a:r>
            <a:endParaRPr lang="en-US" sz="1200" dirty="0"/>
          </a:p>
        </p:txBody>
      </p:sp>
      <p:sp>
        <p:nvSpPr>
          <p:cNvPr id="12" name="Stat card 2"/>
          <p:cNvSpPr/>
          <p:nvPr/>
        </p:nvSpPr>
        <p:spPr>
          <a:xfrm>
            <a:off x="9569196" y="1645920"/>
            <a:ext cx="1796796" cy="1783080"/>
          </a:xfrm>
          <a:prstGeom prst="roundRect">
            <a:avLst>
              <a:gd name="adj" fmla="val 6154"/>
            </a:avLst>
          </a:prstGeom>
          <a:solidFill>
            <a:schemeClr val="tx2"/>
          </a:solidFill>
          <a:ln/>
        </p:spPr>
      </p:sp>
      <p:sp>
        <p:nvSpPr>
          <p:cNvPr id="13" name="Stat 2"/>
          <p:cNvSpPr txBox="1"/>
          <p:nvPr/>
        </p:nvSpPr>
        <p:spPr>
          <a:xfrm>
            <a:off x="9752076" y="1783080"/>
            <a:ext cx="1431036" cy="548640"/>
          </a:xfrm>
          <a:prstGeom prst="rect">
            <a:avLst/>
          </a:prstGeom>
          <a:noFill/>
          <a:ln/>
        </p:spPr>
        <p:txBody>
          <a:bodyPr wrap="square" lIns="0" tIns="0" rIns="0" bIns="0" rtlCol="0" anchor="t"/>
          <a:lstStyle/>
          <a:p>
            <a:pPr indent="0" marL="0">
              <a:buNone/>
            </a:pPr>
            <a:r>
              <a:rPr lang="en-US" sz="2800" b="1" dirty="0">
                <a:solidFill>
                  <a:schemeClr val="accent6"/>
                </a:solidFill>
              </a:rPr>
              <a:t>64%</a:t>
            </a:r>
            <a:endParaRPr lang="en-US" sz="2800" dirty="0"/>
          </a:p>
        </p:txBody>
      </p:sp>
      <p:sp>
        <p:nvSpPr>
          <p:cNvPr id="14" name="Stat label 2"/>
          <p:cNvSpPr txBox="1"/>
          <p:nvPr/>
        </p:nvSpPr>
        <p:spPr>
          <a:xfrm>
            <a:off x="9752076" y="2423160"/>
            <a:ext cx="1431036" cy="914400"/>
          </a:xfrm>
          <a:prstGeom prst="rect">
            <a:avLst/>
          </a:prstGeom>
          <a:noFill/>
          <a:ln/>
        </p:spPr>
        <p:txBody>
          <a:bodyPr wrap="square" lIns="0" tIns="0" rIns="0" bIns="0" rtlCol="0" anchor="t"/>
          <a:lstStyle/>
          <a:p>
            <a:pPr indent="0" marL="0">
              <a:buNone/>
            </a:pPr>
            <a:r>
              <a:rPr lang="en-US" sz="1200" dirty="0">
                <a:solidFill>
                  <a:schemeClr val="bg1"/>
                </a:solidFill>
              </a:rPr>
              <a:t>of that time the ball is located (range 47–80%)</a:t>
            </a:r>
            <a:endParaRPr lang="en-US" sz="1200" dirty="0"/>
          </a:p>
        </p:txBody>
      </p:sp>
      <p:sp>
        <p:nvSpPr>
          <p:cNvPr id="15" name="Stat card 3"/>
          <p:cNvSpPr/>
          <p:nvPr/>
        </p:nvSpPr>
        <p:spPr>
          <a:xfrm>
            <a:off x="7589520" y="3566160"/>
            <a:ext cx="1796796" cy="1783080"/>
          </a:xfrm>
          <a:prstGeom prst="roundRect">
            <a:avLst>
              <a:gd name="adj" fmla="val 6154"/>
            </a:avLst>
          </a:prstGeom>
          <a:solidFill>
            <a:schemeClr val="tx2"/>
          </a:solidFill>
          <a:ln/>
        </p:spPr>
      </p:sp>
      <p:sp>
        <p:nvSpPr>
          <p:cNvPr id="16" name="Stat 3"/>
          <p:cNvSpPr txBox="1"/>
          <p:nvPr/>
        </p:nvSpPr>
        <p:spPr>
          <a:xfrm>
            <a:off x="7772400" y="3703320"/>
            <a:ext cx="1431036" cy="548640"/>
          </a:xfrm>
          <a:prstGeom prst="rect">
            <a:avLst/>
          </a:prstGeom>
          <a:noFill/>
          <a:ln/>
        </p:spPr>
        <p:txBody>
          <a:bodyPr wrap="square" lIns="0" tIns="0" rIns="0" bIns="0" rtlCol="0" anchor="t"/>
          <a:lstStyle/>
          <a:p>
            <a:pPr indent="0" marL="0">
              <a:buNone/>
            </a:pPr>
            <a:r>
              <a:rPr lang="en-US" sz="2800" b="1" dirty="0">
                <a:solidFill>
                  <a:schemeClr val="accent6"/>
                </a:solidFill>
              </a:rPr>
              <a:t>1 of 26</a:t>
            </a:r>
            <a:endParaRPr lang="en-US" sz="2800" dirty="0"/>
          </a:p>
        </p:txBody>
      </p:sp>
      <p:sp>
        <p:nvSpPr>
          <p:cNvPr id="17" name="Stat label 3"/>
          <p:cNvSpPr txBox="1"/>
          <p:nvPr/>
        </p:nvSpPr>
        <p:spPr>
          <a:xfrm>
            <a:off x="7772400" y="4343400"/>
            <a:ext cx="1431036" cy="914400"/>
          </a:xfrm>
          <a:prstGeom prst="rect">
            <a:avLst/>
          </a:prstGeom>
          <a:noFill/>
          <a:ln/>
        </p:spPr>
        <p:txBody>
          <a:bodyPr wrap="square" lIns="0" tIns="0" rIns="0" bIns="0" rtlCol="0" anchor="t"/>
          <a:lstStyle/>
          <a:p>
            <a:pPr indent="0" marL="0">
              <a:buNone/>
            </a:pPr>
            <a:r>
              <a:rPr lang="en-US" sz="1200" dirty="0">
                <a:solidFill>
                  <a:schemeClr val="bg1"/>
                </a:solidFill>
              </a:rPr>
              <a:t>tackles found end to end on unseen games</a:t>
            </a:r>
            <a:endParaRPr lang="en-US" sz="1200" dirty="0"/>
          </a:p>
        </p:txBody>
      </p:sp>
      <p:sp>
        <p:nvSpPr>
          <p:cNvPr id="18" name="Stat card 4"/>
          <p:cNvSpPr/>
          <p:nvPr/>
        </p:nvSpPr>
        <p:spPr>
          <a:xfrm>
            <a:off x="9569196" y="3566160"/>
            <a:ext cx="1796796" cy="1783080"/>
          </a:xfrm>
          <a:prstGeom prst="roundRect">
            <a:avLst>
              <a:gd name="adj" fmla="val 6154"/>
            </a:avLst>
          </a:prstGeom>
          <a:solidFill>
            <a:schemeClr val="tx2"/>
          </a:solidFill>
          <a:ln/>
        </p:spPr>
      </p:sp>
      <p:sp>
        <p:nvSpPr>
          <p:cNvPr id="19" name="Stat 4"/>
          <p:cNvSpPr txBox="1"/>
          <p:nvPr/>
        </p:nvSpPr>
        <p:spPr>
          <a:xfrm>
            <a:off x="9752076" y="3703320"/>
            <a:ext cx="1431036" cy="548640"/>
          </a:xfrm>
          <a:prstGeom prst="rect">
            <a:avLst/>
          </a:prstGeom>
          <a:noFill/>
          <a:ln/>
        </p:spPr>
        <p:txBody>
          <a:bodyPr wrap="square" lIns="0" tIns="0" rIns="0" bIns="0" rtlCol="0" anchor="t"/>
          <a:lstStyle/>
          <a:p>
            <a:pPr indent="0" marL="0">
              <a:buNone/>
            </a:pPr>
            <a:r>
              <a:rPr lang="en-US" sz="2800" b="1" dirty="0">
                <a:solidFill>
                  <a:schemeClr val="accent6"/>
                </a:solidFill>
              </a:rPr>
              <a:t>0.75×</a:t>
            </a:r>
            <a:endParaRPr lang="en-US" sz="2800" dirty="0"/>
          </a:p>
        </p:txBody>
      </p:sp>
      <p:sp>
        <p:nvSpPr>
          <p:cNvPr id="20" name="Stat label 4"/>
          <p:cNvSpPr txBox="1"/>
          <p:nvPr/>
        </p:nvSpPr>
        <p:spPr>
          <a:xfrm>
            <a:off x="9752076" y="4343400"/>
            <a:ext cx="1431036" cy="914400"/>
          </a:xfrm>
          <a:prstGeom prst="rect">
            <a:avLst/>
          </a:prstGeom>
          <a:noFill/>
          <a:ln/>
        </p:spPr>
        <p:txBody>
          <a:bodyPr wrap="square" lIns="0" tIns="0" rIns="0" bIns="0" rtlCol="0" anchor="t"/>
          <a:lstStyle/>
          <a:p>
            <a:pPr indent="0" marL="0">
              <a:buNone/>
            </a:pPr>
            <a:r>
              <a:rPr lang="en-US" sz="1200" dirty="0">
                <a:solidFill>
                  <a:schemeClr val="bg1"/>
                </a:solidFill>
              </a:rPr>
              <a:t>video length to run the whole pipeline, on one RTX 3090</a:t>
            </a:r>
            <a:endParaRPr lang="en-US" sz="1200" dirty="0"/>
          </a:p>
        </p:txBody>
      </p:sp>
      <p:sp>
        <p:nvSpPr>
          <p:cNvPr id="21" name="Meaning card"/>
          <p:cNvSpPr/>
          <p:nvPr/>
        </p:nvSpPr>
        <p:spPr>
          <a:xfrm>
            <a:off x="822960" y="5486400"/>
            <a:ext cx="10543032" cy="658368"/>
          </a:xfrm>
          <a:prstGeom prst="roundRect">
            <a:avLst>
              <a:gd name="adj" fmla="val 16667"/>
            </a:avLst>
          </a:prstGeom>
          <a:solidFill>
            <a:schemeClr val="tx2"/>
          </a:solidFill>
          <a:ln/>
        </p:spPr>
      </p:sp>
      <p:sp>
        <p:nvSpPr>
          <p:cNvPr id="22" name="Meaning accent"/>
          <p:cNvSpPr/>
          <p:nvPr/>
        </p:nvSpPr>
        <p:spPr>
          <a:xfrm>
            <a:off x="822960" y="5486400"/>
            <a:ext cx="73152" cy="658368"/>
          </a:xfrm>
          <a:prstGeom prst="rect">
            <a:avLst/>
          </a:prstGeom>
          <a:solidFill>
            <a:schemeClr val="accent3"/>
          </a:solidFill>
          <a:ln/>
        </p:spPr>
      </p:sp>
      <p:sp>
        <p:nvSpPr>
          <p:cNvPr id="23"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3"/>
                </a:solidFill>
              </a:rPr>
              <a:t>WHAT IT MEANS</a:t>
            </a:r>
            <a:endParaRPr lang="en-US" sz="1100" dirty="0"/>
          </a:p>
        </p:txBody>
      </p:sp>
      <p:sp>
        <p:nvSpPr>
          <p:cNvPr id="24"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bg1"/>
                </a:solidFill>
              </a:rPr>
              <a:t>The ball is found in under half of the frames where it is visible, and only 60% of broadcast time shows a usable pitch view. Everything built on them inherits both limits.</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APPENDIX · RETIRED, REMOVED AND NOT ADOPTED</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What we built and then set aside</a:t>
            </a:r>
            <a:endParaRPr lang="en-US" sz="3600" dirty="0"/>
          </a:p>
        </p:txBody>
      </p:sp>
      <p:graphicFrame>
        <p:nvGraphicFramePr>
          <p:cNvPr id="34" name="Retired table"/>
          <p:cNvGraphicFramePr>
            <a:graphicFrameLocks noGrp="1"/>
          </p:cNvGraphicFramePr>
          <p:nvPr>
            <p:extLst>
              <p:ext uri="{D42A27DB-BD31-4B8C-83A1-F6EECF244321}">
                <p14:modId xmlns:p14="http://schemas.microsoft.com/office/powerpoint/2010/main" val="1579011935"/>
              </p:ext>
            </p:extLst>
          </p:nvPr>
        </p:nvGraphicFramePr>
        <p:xfrm>
          <a:off x="822960" y="1645920"/>
          <a:ext cx="11064240" cy="914400"/>
        </p:xfrm>
        <a:graphic>
          <a:graphicData uri="http://schemas.openxmlformats.org/drawingml/2006/table">
            <a:tbl>
              <a:tblPr/>
              <a:tblGrid>
                <a:gridCol w="2834640"/>
                <a:gridCol w="1188720"/>
                <a:gridCol w="2194560"/>
                <a:gridCol w="4846320"/>
              </a:tblGrid>
              <a:tr h="310896">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REPLACED BY</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900" b="1" dirty="0">
                          <a:solidFill>
                            <a:srgbClr val="0A7A5C"/>
                          </a:solidFill>
                          <a:latin typeface="Calibri" pitchFamily="34" charset="0"/>
                          <a:ea typeface="Calibri" pitchFamily="34" charset="-122"/>
                          <a:cs typeface="Calibri" pitchFamily="34" charset="-120"/>
                        </a:rPr>
                        <a:t>WHY</a:t>
                      </a:r>
                      <a:endParaRPr lang="en-US" sz="9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Shot classifier (gradient-boosted trees)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Retired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T-DEED video spotter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F1 0.70 against 0.41 on the same four unseen halves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Hand-written shot rule</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Retired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T-DEED video spotter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Found 36 of 254 labelled shots, against 102 for the classifier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Re-identification head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Retired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The CLIP identity model</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Appearance matching 90.1% against 71.6%</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Fine-tuned ball detector</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Not adopted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The default detectors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Finds more balls (59% against 47%) but credits fewer passes (26.2% against 34.2% right)</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Second spotter fine-tune, tackle-weighted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Not adopted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The first spotter fine-tune</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Tackle average precision 0.06 against 0.08</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Short-clip analysis: upload, manual calibration, YOLO11n</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Removed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Full-half and full-match analysis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The models are built and tested on whole halves and matches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r h="475488">
                <a:tc>
                  <a:txBody>
                    <a:bodyPr/>
                    <a:lstStyle/>
                    <a:p>
                      <a:pPr algn="l" indent="0" marL="0">
                        <a:buNone/>
                      </a:pPr>
                      <a:r>
                        <a:rPr lang="en-US" sz="1200" b="1" dirty="0">
                          <a:solidFill>
                            <a:srgbClr val="16302A"/>
                          </a:solidFill>
                          <a:latin typeface="Calibri" pitchFamily="34" charset="0"/>
                          <a:ea typeface="Calibri" pitchFamily="34" charset="-122"/>
                          <a:cs typeface="Calibri" pitchFamily="34" charset="-120"/>
                        </a:rPr>
                        <a:t>Archetype profiler and rating screens</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Removed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Nothing</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c>
                  <a:txBody>
                    <a:bodyPr/>
                    <a:lstStyle/>
                    <a:p>
                      <a:pPr algn="l" indent="0" marL="0">
                        <a:buNone/>
                      </a:pPr>
                      <a:r>
                        <a:rPr lang="en-US" sz="1200" dirty="0">
                          <a:solidFill>
                            <a:srgbClr val="16302A"/>
                          </a:solidFill>
                          <a:latin typeface="Calibri" pitchFamily="34" charset="0"/>
                          <a:ea typeface="Calibri" pitchFamily="34" charset="-122"/>
                          <a:cs typeface="Calibri" pitchFamily="34" charset="-120"/>
                        </a:rPr>
                        <a:t>No player was ever labelled, so it was never fitted</a:t>
                      </a:r>
                      <a:endParaRPr lang="en-US" sz="1200" dirty="0">
                        <a:latin typeface="Calibri" charset="0"/>
                        <a:ea typeface="Calibri" charset="0"/>
                        <a:cs typeface="Calibri" charset="0"/>
                      </a:endParaRPr>
                    </a:p>
                  </a:txBody>
                  <a:tcPr marL="73152" marR="73152" marT="18288" marB="18288" anchor="ctr">
                    <a:lnL w="9525" cap="flat" cmpd="sng" algn="ctr">
                      <a:solidFill>
                        <a:srgbClr val="D5E1DA"/>
                      </a:solidFill>
                      <a:prstDash val="solid"/>
                      <a:round/>
                      <a:headEnd type="none" w="med" len="med"/>
                      <a:tailEnd type="none" w="med" len="med"/>
                    </a:lnL>
                    <a:lnR w="9525" cap="flat" cmpd="sng" algn="ctr">
                      <a:solidFill>
                        <a:srgbClr val="D5E1DA"/>
                      </a:solidFill>
                      <a:prstDash val="solid"/>
                      <a:round/>
                      <a:headEnd type="none" w="med" len="med"/>
                      <a:tailEnd type="none" w="med" len="med"/>
                    </a:lnR>
                    <a:lnT w="9525" cap="flat" cmpd="sng" algn="ctr">
                      <a:solidFill>
                        <a:srgbClr val="D5E1DA"/>
                      </a:solidFill>
                      <a:prstDash val="solid"/>
                      <a:round/>
                      <a:headEnd type="none" w="med" len="med"/>
                      <a:tailEnd type="none" w="med" len="med"/>
                    </a:lnT>
                    <a:lnB w="9525" cap="flat" cmpd="sng" algn="ctr">
                      <a:solidFill>
                        <a:srgbClr val="D5E1DA"/>
                      </a:solidFill>
                      <a:prstDash val="solid"/>
                      <a:round/>
                      <a:headEnd type="none" w="med" len="med"/>
                      <a:tailEnd type="none" w="med" len="med"/>
                    </a:lnB>
                    <a:solidFill>
                      <a:srgbClr val="FBFCFA"/>
                    </a:solidFill>
                  </a:tcPr>
                </a:tc>
              </a:tr>
            </a:tbl>
          </a:graphicData>
        </a:graphic>
      </p:graphicFrame>
      <p:sp>
        <p:nvSpPr>
          <p:cNvPr id="6" name="Meaning card"/>
          <p:cNvSpPr/>
          <p:nvPr/>
        </p:nvSpPr>
        <p:spPr>
          <a:xfrm>
            <a:off x="822960" y="5486400"/>
            <a:ext cx="10543032" cy="658368"/>
          </a:xfrm>
          <a:prstGeom prst="roundRect">
            <a:avLst>
              <a:gd name="adj" fmla="val 16667"/>
            </a:avLst>
          </a:prstGeom>
          <a:solidFill>
            <a:schemeClr val="bg1"/>
          </a:solidFill>
          <a:ln/>
        </p:spPr>
      </p:sp>
      <p:sp>
        <p:nvSpPr>
          <p:cNvPr id="7" name="Meaning accent"/>
          <p:cNvSpPr/>
          <p:nvPr/>
        </p:nvSpPr>
        <p:spPr>
          <a:xfrm>
            <a:off x="822960" y="5486400"/>
            <a:ext cx="73152" cy="658368"/>
          </a:xfrm>
          <a:prstGeom prst="rect">
            <a:avLst/>
          </a:prstGeom>
          <a:solidFill>
            <a:schemeClr val="accent1"/>
          </a:solidFill>
          <a:ln/>
        </p:spPr>
      </p:sp>
      <p:sp>
        <p:nvSpPr>
          <p:cNvPr id="8" name="Meaning label"/>
          <p:cNvSpPr txBox="1"/>
          <p:nvPr/>
        </p:nvSpPr>
        <p:spPr>
          <a:xfrm>
            <a:off x="1097280" y="5559552"/>
            <a:ext cx="1371600" cy="512064"/>
          </a:xfrm>
          <a:prstGeom prst="rect">
            <a:avLst/>
          </a:prstGeom>
          <a:noFill/>
          <a:ln/>
        </p:spPr>
        <p:txBody>
          <a:bodyPr wrap="square" lIns="0" tIns="0" rIns="0" bIns="0" rtlCol="0" anchor="ctr"/>
          <a:lstStyle/>
          <a:p>
            <a:pPr indent="0" marL="0">
              <a:buNone/>
            </a:pPr>
            <a:r>
              <a:rPr lang="en-US" sz="1100" b="1" spc="100" kern="0" dirty="0">
                <a:solidFill>
                  <a:schemeClr val="accent1"/>
                </a:solidFill>
              </a:rPr>
              <a:t>RULE</a:t>
            </a:r>
            <a:endParaRPr lang="en-US" sz="1100" dirty="0"/>
          </a:p>
        </p:txBody>
      </p:sp>
      <p:sp>
        <p:nvSpPr>
          <p:cNvPr id="9" name="Meaning text"/>
          <p:cNvSpPr txBox="1"/>
          <p:nvPr/>
        </p:nvSpPr>
        <p:spPr>
          <a:xfrm>
            <a:off x="2514600" y="5541264"/>
            <a:ext cx="8622792" cy="548640"/>
          </a:xfrm>
          <a:prstGeom prst="rect">
            <a:avLst/>
          </a:prstGeom>
          <a:noFill/>
          <a:ln/>
        </p:spPr>
        <p:txBody>
          <a:bodyPr wrap="square" lIns="0" tIns="0" rIns="0" bIns="0" rtlCol="0" anchor="ctr"/>
          <a:lstStyle/>
          <a:p>
            <a:pPr indent="0" marL="0">
              <a:buNone/>
            </a:pPr>
            <a:r>
              <a:rPr lang="en-US" sz="1400" dirty="0">
                <a:solidFill>
                  <a:schemeClr val="tx1"/>
                </a:solidFill>
              </a:rPr>
              <a:t>Each item was measured against its replacement on the same unseen data before it was dropped. Full detail is in Appendix D of the model documentation.</a:t>
            </a:r>
            <a:endParaRPr lang="en-US" sz="14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3" name="Eyebrow"/>
          <p:cNvSpPr txBox="1"/>
          <p:nvPr/>
        </p:nvSpPr>
        <p:spPr>
          <a:xfrm>
            <a:off x="822960" y="530352"/>
            <a:ext cx="105430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BACKUP · RETIRED MODEL</a:t>
            </a:r>
            <a:endParaRPr lang="en-US" sz="1200" dirty="0"/>
          </a:p>
        </p:txBody>
      </p:sp>
      <p:sp>
        <p:nvSpPr>
          <p:cNvPr id="4" name="Text 0"/>
          <p:cNvSpPr/>
          <p:nvPr>
            <p:ph idx="100" type="title" hasCustomPrompt="1"/>
          </p:nvPr>
        </p:nvSpPr>
        <p:spPr>
          <a:xfrm>
            <a:off x="822960" y="868680"/>
            <a:ext cx="10543032" cy="1005840"/>
          </a:xfrm>
          <a:prstGeom prst="rect">
            <a:avLst/>
          </a:prstGeom>
          <a:noFill/>
          <a:ln/>
        </p:spPr>
        <p:txBody>
          <a:bodyPr wrap="square" lIns="0" tIns="0" rIns="0" bIns="0" rtlCol="0" anchor="t"/>
          <a:lstStyle/>
          <a:p>
            <a:pPr algn="l" indent="0" marL="0">
              <a:buNone/>
            </a:pPr>
            <a:r>
              <a:rPr lang="en-US" sz="3600" b="1" dirty="0">
                <a:solidFill>
                  <a:schemeClr val="tx1"/>
                </a:solidFill>
              </a:rPr>
              <a:t>The shot classifier (retired)</a:t>
            </a:r>
            <a:endParaRPr lang="en-US" sz="3600" dirty="0"/>
          </a:p>
        </p:txBody>
      </p:sp>
      <p:sp>
        <p:nvSpPr>
          <p:cNvPr id="5" name="Kind and in-out"/>
          <p:cNvSpPr txBox="1"/>
          <p:nvPr/>
        </p:nvSpPr>
        <p:spPr>
          <a:xfrm>
            <a:off x="822960" y="1536192"/>
            <a:ext cx="10543032" cy="292608"/>
          </a:xfrm>
          <a:prstGeom prst="rect">
            <a:avLst/>
          </a:prstGeom>
          <a:noFill/>
          <a:ln/>
        </p:spPr>
        <p:txBody>
          <a:bodyPr wrap="square" lIns="0" tIns="0" rIns="0" bIns="0" rtlCol="0" anchor="ctr"/>
          <a:lstStyle/>
          <a:p>
            <a:pPr indent="0" marL="0">
              <a:buNone/>
            </a:pPr>
            <a:r>
              <a:rPr lang="en-US" sz="1100" b="1" dirty="0">
                <a:solidFill>
                  <a:schemeClr val="accent2"/>
                </a:solidFill>
              </a:rPr>
              <a:t>TRAINED BY US   </a:t>
            </a:r>
            <a:pPr indent="0" marL="0">
              <a:buNone/>
            </a:pPr>
            <a:r>
              <a:rPr lang="en-US" sz="1300" dirty="0">
                <a:solidFill>
                  <a:schemeClr val="tx2"/>
                </a:solidFill>
              </a:rPr>
              <a:t>Release features → shot or not</a:t>
            </a:r>
            <a:pPr indent="0" marL="0">
              <a:buNone/>
            </a:pPr>
            <a:endParaRPr lang="en-US" sz="1800" dirty="0"/>
          </a:p>
        </p:txBody>
      </p:sp>
      <p:sp>
        <p:nvSpPr>
          <p:cNvPr id="6" name="Purpose card"/>
          <p:cNvSpPr/>
          <p:nvPr/>
        </p:nvSpPr>
        <p:spPr>
          <a:xfrm>
            <a:off x="822960" y="1920240"/>
            <a:ext cx="5189220" cy="1993392"/>
          </a:xfrm>
          <a:prstGeom prst="roundRect">
            <a:avLst>
              <a:gd name="adj" fmla="val 5505"/>
            </a:avLst>
          </a:prstGeom>
          <a:solidFill>
            <a:schemeClr val="bg2"/>
          </a:solidFill>
          <a:ln/>
        </p:spPr>
      </p:sp>
      <p:sp>
        <p:nvSpPr>
          <p:cNvPr id="7" name="Label Purpose"/>
          <p:cNvSpPr txBox="1"/>
          <p:nvPr/>
        </p:nvSpPr>
        <p:spPr>
          <a:xfrm>
            <a:off x="1078992" y="206654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PURPOSE</a:t>
            </a:r>
            <a:endParaRPr lang="en-US" sz="1100" dirty="0"/>
          </a:p>
        </p:txBody>
      </p:sp>
      <p:sp>
        <p:nvSpPr>
          <p:cNvPr id="8" name="Purpose text"/>
          <p:cNvSpPr txBox="1"/>
          <p:nvPr/>
        </p:nvSpPr>
        <p:spPr>
          <a:xfrm>
            <a:off x="1078992" y="2423160"/>
            <a:ext cx="4677156" cy="1353312"/>
          </a:xfrm>
          <a:prstGeom prst="rect">
            <a:avLst/>
          </a:prstGeom>
          <a:noFill/>
          <a:ln/>
        </p:spPr>
        <p:txBody>
          <a:bodyPr wrap="square" lIns="0" tIns="0" rIns="0" bIns="0" rtlCol="0" anchor="t"/>
          <a:lstStyle/>
          <a:p>
            <a:pPr indent="0" marL="0">
              <a:buNone/>
            </a:pPr>
            <a:r>
              <a:rPr lang="en-US" sz="1800" dirty="0">
                <a:solidFill>
                  <a:schemeClr val="tx1"/>
                </a:solidFill>
              </a:rPr>
              <a:t>Decided whether a ball release towards goal was a shot. Retired: the video spotter now makes every shot call.</a:t>
            </a:r>
            <a:endParaRPr lang="en-US" sz="1800" dirty="0"/>
          </a:p>
        </p:txBody>
      </p:sp>
      <p:sp>
        <p:nvSpPr>
          <p:cNvPr id="9" name="How card"/>
          <p:cNvSpPr/>
          <p:nvPr/>
        </p:nvSpPr>
        <p:spPr>
          <a:xfrm>
            <a:off x="6176772" y="1920240"/>
            <a:ext cx="5189220" cy="1993392"/>
          </a:xfrm>
          <a:prstGeom prst="roundRect">
            <a:avLst>
              <a:gd name="adj" fmla="val 5505"/>
            </a:avLst>
          </a:prstGeom>
          <a:solidFill>
            <a:schemeClr val="bg2"/>
          </a:solidFill>
          <a:ln/>
        </p:spPr>
      </p:sp>
      <p:sp>
        <p:nvSpPr>
          <p:cNvPr id="10" name="Label How it works"/>
          <p:cNvSpPr txBox="1"/>
          <p:nvPr/>
        </p:nvSpPr>
        <p:spPr>
          <a:xfrm>
            <a:off x="6432804" y="2066544"/>
            <a:ext cx="4677156"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HOW IT WORKS</a:t>
            </a:r>
            <a:endParaRPr lang="en-US" sz="1100" dirty="0"/>
          </a:p>
        </p:txBody>
      </p:sp>
      <p:sp>
        <p:nvSpPr>
          <p:cNvPr id="11" name="How text"/>
          <p:cNvSpPr txBox="1"/>
          <p:nvPr/>
        </p:nvSpPr>
        <p:spPr>
          <a:xfrm>
            <a:off x="6432804" y="2423160"/>
            <a:ext cx="4677156" cy="1399032"/>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1  </a:t>
            </a:r>
            <a:pPr indent="0" marL="0">
              <a:spcAft>
                <a:spcPts val="500"/>
              </a:spcAft>
              <a:buNone/>
            </a:pPr>
            <a:r>
              <a:rPr lang="en-US" sz="1400" dirty="0">
                <a:solidFill>
                  <a:schemeClr val="tx1"/>
                </a:solidFill>
              </a:rPr>
              <a:t>Candidates are releases within 45 m of the goal being attacked.</a:t>
            </a:r>
            <a:endParaRPr lang="en-US" sz="1400" dirty="0"/>
          </a:p>
          <a:p>
            <a:pPr indent="0" marL="0">
              <a:spcAft>
                <a:spcPts val="500"/>
              </a:spcAft>
              <a:buNone/>
            </a:pPr>
            <a:r>
              <a:rPr lang="en-US" sz="1400" b="1" dirty="0">
                <a:solidFill>
                  <a:schemeClr val="accent1"/>
                </a:solidFill>
              </a:rPr>
              <a:t>2  </a:t>
            </a:r>
            <a:pPr indent="0" marL="0">
              <a:spcAft>
                <a:spcPts val="500"/>
              </a:spcAft>
              <a:buNone/>
            </a:pPr>
            <a:r>
              <a:rPr lang="en-US" sz="1400" dirty="0">
                <a:solidFill>
                  <a:schemeClr val="tx1"/>
                </a:solidFill>
              </a:rPr>
              <a:t>Each gets 26 features: distance, angle, ball flight, defenders, keeper, broadcast editing.</a:t>
            </a:r>
            <a:endParaRPr lang="en-US" sz="1400" dirty="0"/>
          </a:p>
          <a:p>
            <a:pPr indent="0" marL="0">
              <a:spcAft>
                <a:spcPts val="500"/>
              </a:spcAft>
              <a:buNone/>
            </a:pPr>
            <a:r>
              <a:rPr lang="en-US" sz="1400" b="1" dirty="0">
                <a:solidFill>
                  <a:schemeClr val="accent1"/>
                </a:solidFill>
              </a:rPr>
              <a:t>3  </a:t>
            </a:r>
            <a:pPr indent="0" marL="0">
              <a:spcAft>
                <a:spcPts val="500"/>
              </a:spcAft>
              <a:buNone/>
            </a:pPr>
            <a:r>
              <a:rPr lang="en-US" sz="1400" dirty="0">
                <a:solidFill>
                  <a:schemeClr val="tx1"/>
                </a:solidFill>
              </a:rPr>
              <a:t>Gradient-boosted trees score it. Threshold 0.67 makes shots called equal shots labelled.</a:t>
            </a:r>
            <a:endParaRPr lang="en-US" sz="1400" dirty="0"/>
          </a:p>
        </p:txBody>
      </p:sp>
      <p:sp>
        <p:nvSpPr>
          <p:cNvPr id="12" name="Trained card"/>
          <p:cNvSpPr/>
          <p:nvPr/>
        </p:nvSpPr>
        <p:spPr>
          <a:xfrm>
            <a:off x="822960" y="4078224"/>
            <a:ext cx="5189220" cy="1993392"/>
          </a:xfrm>
          <a:prstGeom prst="roundRect">
            <a:avLst>
              <a:gd name="adj" fmla="val 5505"/>
            </a:avLst>
          </a:prstGeom>
          <a:solidFill>
            <a:schemeClr val="bg2"/>
          </a:solidFill>
          <a:ln/>
        </p:spPr>
      </p:sp>
      <p:sp>
        <p:nvSpPr>
          <p:cNvPr id="13" name="Label How it is trained"/>
          <p:cNvSpPr txBox="1"/>
          <p:nvPr/>
        </p:nvSpPr>
        <p:spPr>
          <a:xfrm>
            <a:off x="1078992" y="4224528"/>
            <a:ext cx="4677156"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HOW IT IS TRAINED</a:t>
            </a:r>
            <a:endParaRPr lang="en-US" sz="1100" dirty="0"/>
          </a:p>
        </p:txBody>
      </p:sp>
      <p:sp>
        <p:nvSpPr>
          <p:cNvPr id="14" name="Trained text"/>
          <p:cNvSpPr txBox="1"/>
          <p:nvPr/>
        </p:nvSpPr>
        <p:spPr>
          <a:xfrm>
            <a:off x="1078992" y="4581144"/>
            <a:ext cx="4677156" cy="1353312"/>
          </a:xfrm>
          <a:prstGeom prst="rect">
            <a:avLst/>
          </a:prstGeom>
          <a:noFill/>
          <a:ln/>
        </p:spPr>
        <p:txBody>
          <a:bodyPr wrap="square" lIns="0" tIns="0" rIns="0" bIns="0" rtlCol="0" anchor="t"/>
          <a:lstStyle/>
          <a:p>
            <a:pPr indent="0" marL="0">
              <a:buNone/>
            </a:pPr>
            <a:r>
              <a:rPr lang="en-US" sz="1600" dirty="0">
                <a:solidFill>
                  <a:schemeClr val="tx1"/>
                </a:solidFill>
              </a:rPr>
              <a:t>Trained by us from scratch on 18 analysed halves with 324 SoccerNet shot labels (231 matched). Checked leave-one-match-out.</a:t>
            </a:r>
            <a:endParaRPr lang="en-US" sz="1600" dirty="0"/>
          </a:p>
        </p:txBody>
      </p:sp>
      <p:sp>
        <p:nvSpPr>
          <p:cNvPr id="15" name="Outcome card"/>
          <p:cNvSpPr/>
          <p:nvPr/>
        </p:nvSpPr>
        <p:spPr>
          <a:xfrm>
            <a:off x="6176772" y="4078224"/>
            <a:ext cx="5189220" cy="1993392"/>
          </a:xfrm>
          <a:prstGeom prst="roundRect">
            <a:avLst>
              <a:gd name="adj" fmla="val 5505"/>
            </a:avLst>
          </a:prstGeom>
          <a:solidFill>
            <a:schemeClr val="accent1"/>
          </a:solidFill>
          <a:ln/>
        </p:spPr>
      </p:sp>
      <p:sp>
        <p:nvSpPr>
          <p:cNvPr id="16" name="Label Outcome"/>
          <p:cNvSpPr txBox="1"/>
          <p:nvPr/>
        </p:nvSpPr>
        <p:spPr>
          <a:xfrm>
            <a:off x="6432804" y="4224528"/>
            <a:ext cx="4677156" cy="274320"/>
          </a:xfrm>
          <a:prstGeom prst="rect">
            <a:avLst/>
          </a:prstGeom>
          <a:noFill/>
          <a:ln/>
        </p:spPr>
        <p:txBody>
          <a:bodyPr wrap="square" lIns="0" tIns="0" rIns="0" bIns="0" rtlCol="0" anchor="t"/>
          <a:lstStyle/>
          <a:p>
            <a:pPr indent="0" marL="0">
              <a:buNone/>
            </a:pPr>
            <a:r>
              <a:rPr lang="en-US" sz="1100" b="1" spc="200" kern="0" dirty="0">
                <a:solidFill>
                  <a:schemeClr val="bg2"/>
                </a:solidFill>
              </a:rPr>
              <a:t>OUTCOME</a:t>
            </a:r>
            <a:endParaRPr lang="en-US" sz="1100" dirty="0"/>
          </a:p>
        </p:txBody>
      </p:sp>
      <p:sp>
        <p:nvSpPr>
          <p:cNvPr id="17" name="Outcome text"/>
          <p:cNvSpPr txBox="1"/>
          <p:nvPr/>
        </p:nvSpPr>
        <p:spPr>
          <a:xfrm>
            <a:off x="6432804" y="4535424"/>
            <a:ext cx="4677156" cy="1444752"/>
          </a:xfrm>
          <a:prstGeom prst="rect">
            <a:avLst/>
          </a:prstGeom>
          <a:noFill/>
          <a:ln/>
        </p:spPr>
        <p:txBody>
          <a:bodyPr wrap="square" lIns="0" tIns="0" rIns="0" bIns="0" rtlCol="0" anchor="t"/>
          <a:lstStyle/>
          <a:p>
            <a:pPr indent="0" marL="0">
              <a:spcAft>
                <a:spcPts val="300"/>
              </a:spcAft>
              <a:buNone/>
            </a:pPr>
            <a:r>
              <a:rPr lang="en-US" sz="3200" b="1" dirty="0">
                <a:solidFill>
                  <a:schemeClr val="bg1"/>
                </a:solidFill>
              </a:rPr>
              <a:t>34% vs 68%</a:t>
            </a:r>
            <a:endParaRPr lang="en-US" sz="1800" dirty="0"/>
          </a:p>
          <a:p>
            <a:pPr indent="0" marL="0">
              <a:spcAft>
                <a:spcPts val="300"/>
              </a:spcAft>
              <a:buNone/>
            </a:pPr>
            <a:r>
              <a:rPr lang="en-US" sz="1400" b="1" dirty="0">
                <a:solidFill>
                  <a:schemeClr val="bg2"/>
                </a:solidFill>
              </a:rPr>
              <a:t>precision: this classifier vs T-DEED, same 4 unseen halves</a:t>
            </a:r>
            <a:endParaRPr lang="en-US" sz="1800" dirty="0"/>
          </a:p>
          <a:p>
            <a:pPr indent="0" marL="0">
              <a:spcAft>
                <a:spcPts val="300"/>
              </a:spcAft>
              <a:buNone/>
            </a:pPr>
            <a:r>
              <a:rPr lang="en-US" sz="1400" dirty="0">
                <a:solidFill>
                  <a:schemeClr val="bg1"/>
                </a:solidFill>
              </a:rPr>
              <a:t>T-DEED also has higher recall (72% vs 53%) and calls fewer shots (62 vs 92, for 58 labelled). Removing the classifier changed no end-to-end score.</a:t>
            </a:r>
            <a:endParaRPr lang="en-US" sz="1800" dirty="0"/>
          </a:p>
        </p:txBody>
      </p:sp>
      <p:sp>
        <p:nvSpPr>
          <p:cNvPr id="25" name="Slide Number Placeholder 0"/>
          <p:cNvSpPr>
            <a:spLocks noGrp="1"/>
          </p:cNvSpPr>
          <p:nvPr>
            <p:ph type="sldNum" sz="quarter" idx="4294967295"/>
          </p:nvPr>
        </p:nvSpPr>
        <p:spPr>
          <a:xfrm>
            <a:off x="10789920" y="630936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PitchProfile">
  <a:themeElements>
    <a:clrScheme name="PitchProfile">
      <a:dk1>
        <a:srgbClr val="0F241D"/>
      </a:dk1>
      <a:lt1>
        <a:srgbClr val="F3F6F2"/>
      </a:lt1>
      <a:dk2>
        <a:srgbClr val="2E4A41"/>
      </a:dk2>
      <a:lt2>
        <a:srgbClr val="E6EFEA"/>
      </a:lt2>
      <a:accent1>
        <a:srgbClr val="0A7A5C"/>
      </a:accent1>
      <a:accent2>
        <a:srgbClr val="D9730D"/>
      </a:accent2>
      <a:accent3>
        <a:srgbClr val="8CE3B6"/>
      </a:accent3>
      <a:accent4>
        <a:srgbClr val="D6332A"/>
      </a:accent4>
      <a:accent5>
        <a:srgbClr val="2563EB"/>
      </a:accent5>
      <a:accent6>
        <a:srgbClr val="FDE047"/>
      </a:accent6>
      <a:hlink>
        <a:srgbClr val="0A7A5C"/>
      </a:hlink>
      <a:folHlink>
        <a:srgbClr val="2E4A41"/>
      </a:folHlink>
    </a:clrScheme>
    <a:fontScheme name="PitchProfi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PitchProfile: turning a football match video into player statistics</dc:title>
  <dc:subject>AAI3001 project presentation</dc:subject>
  <dc:creator>PptxGenJS</dc:creator>
  <cp:lastModifiedBy>PptxGenJS</cp:lastModifiedBy>
  <cp:revision>1</cp:revision>
  <dcterms:created xsi:type="dcterms:W3CDTF">2026-10-07T23:01:10Z</dcterms:created>
  <dcterms:modified xsi:type="dcterms:W3CDTF">2026-10-07T23:01:10Z</dcterms:modified>
</cp:coreProperties>
</file>
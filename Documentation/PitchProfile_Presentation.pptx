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at it is" id="{789c2531-2f15-728e-01c5-3824455a0f6e}">
          <p14:sldIdLst>
            <p14:sldId id="256"/>
            <p14:sldId id="257"/>
            <p14:sldId id="258"/>
          </p14:sldIdLst>
        </p14:section>
        <p14:section name="How it works" id="{475e21c1-6eb7-7b92-808e-ce69c9abbfe1}">
          <p14:sldIdLst>
            <p14:sldId id="259"/>
            <p14:sldId id="260"/>
          </p14:sldIdLst>
        </p14:section>
        <p14:section name="Results and next steps" id="{f698f2e9-54e2-5167-1ce9-e5707e925974}">
          <p14:sldIdLst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15 seconds. PitchProfile watches a normal TV broadcast of a football match and works out how each player played. The video is the only input. After the slides, we show it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30 seconds. Say it in one sentence: you give it a TV broadcast of a match, and it tells you how each player played: how far they ran, where they were, how many passes and shots. The three numbers are from the demo match, Chelsea against Manchester United: 22 players with at least 10 minutes on screen, 2,505 events placed on the pitch, and about 70 minutes of computing for the 95-minute video. Nothing comes from a data provider. The video is the only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30 seconds. These four are exactly what the live demo shows, in this order: the match report, the player profiles, the event maps and the live tracking on the real video. The line at the bottom is the archetype profiler: players are rated against 42 playing styles, and a model estimates the styles of players nobody has rated. It is built, but nobody has labelled players yet, so it is not part of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60 seconds. Walk left to right. See: the AI finds each player and the ball in every frame. Place: it finds the pitch lines, which lets us measure real distance and speed in metres instead of pixels. Identify: the two teams are told apart by kit colour, and each player by the number on his shirt. Count: once we know who is where, passes, shots, distance and runs follow from the movement and the ball. The point to land: the video is the only input, nothing is bought from a data provider.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60 seconds. One card per step, same order as the last slide. See: YOLOv8x finds people and the ball in each frame, and BoT-SORT follows them from frame to frame. Place: an HRNet network finds 57 key points on the pitch lines. Identify: a CLIP vision transformer, which we fine-tuned on about six million player thumbnails, reads shirt numbers and tells team-mates apart. Count: passes and carries come from simple rules over positions and the ball; shots, headers and blocks come from the T-DEED video model, which we also fine-tuned. Two of the four are our own training work: the identity model and the action spotter. Not shown: the archetype profiler (label spreading over a nearest-neighbour graph) and a shot classifier used as a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30 seconds. Three numbers, each measured on data the models never saw. 80% of shirt numbers are read correctly. Our per-player pass counts correlate 0.89 with the real annotated counts. Shots are found with 0.71 precision and 0.70 recall, which means about 7 in 10 of our shots are real and we find about 7 in 10 of the real ones. Be honest about the last line: tackles and blocks are still far below real counts, which leads straight into the next slide. Small print if asked: the pass figure tests the event logic on annotated positions, not the whole chain from video; and about half of player time is tied to a named player, with 95% of those names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 This is the honest slide, and the demo shows the first one directly: in the Live tracking tab the boxes disappear whenever the broadcast cuts away, and only about half of this match showed a usable view of the pitch. Second, the ball is tiny and often hidden, so we cannot always say who passed it. Third, a tackle looks like any other touch if you only have positions, so we use a video model, and even that finds roughly one tackle in eight; we report them as expected counts, not totals. Fourth, naming players: about half of player time is tied to a shirt number, and striped kits are the hardest to read. Also worth one sentence if asked: no player has been labelled for the archetype model yet, the best training data is under a SoccerNet NDA, and one full match takes about 70 minutes on one GPU.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seconds, then take questions. The first three fix measurement quality, in the order we expect them to help most. The ball is the biggest lever: about a quarter of the passes the video model finds cannot be given to a player because no ball was found at that moment. Naming players: reading more shirt numbers, and letting a reviewer name the rest. Tackles: the data does not exist yet, so we need many more labelled examples. The fourth is the original project goal: label a varied set of players for the 42 playing styles, fit the semi-supervised model, and test it on matches it has not seen. The line at the bottom is product work: today the full-match pipeline analyses matches that are already in the library, and the demo shows the intended upload flow, so be clear that arbitrary upload is future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40280"/>
            <a:ext cx="58521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5760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68680"/>
            <a:ext cx="1054303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PitchProfile · AAI3001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30936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68680"/>
            <a:ext cx="1054303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PitchProfile · AAI3001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30936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868680"/>
            <a:ext cx="1054303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PitchProfile · AAI3001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30936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30936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AAI3001 · COMPUTER VISION AND DEEP LEARNING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22402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PitchProfile</a:t>
            </a:r>
            <a:endParaRPr lang="en-US" sz="6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22960" y="36118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Turning a football match video into player statistics</a:t>
            </a:r>
            <a:endParaRPr lang="en-US" sz="2800" dirty="0"/>
          </a:p>
        </p:txBody>
      </p:sp>
      <p:sp>
        <p:nvSpPr>
          <p:cNvPr id="6" name="Team placeholder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[Team name · members]</a:t>
            </a:r>
            <a:endParaRPr lang="en-US" sz="1600" dirty="0"/>
          </a:p>
        </p:txBody>
      </p:sp>
      <p:sp>
        <p:nvSpPr>
          <p:cNvPr id="7" name="Pitch outline"/>
          <p:cNvSpPr/>
          <p:nvPr/>
        </p:nvSpPr>
        <p:spPr>
          <a:xfrm>
            <a:off x="6954012" y="2153412"/>
            <a:ext cx="3922776" cy="2502027"/>
          </a:xfrm>
          <a:prstGeom prst="rect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8" name="Halfway line"/>
          <p:cNvSpPr/>
          <p:nvPr/>
        </p:nvSpPr>
        <p:spPr>
          <a:xfrm>
            <a:off x="8915400" y="2153412"/>
            <a:ext cx="0" cy="2502027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9" name="Centre circle"/>
          <p:cNvSpPr/>
          <p:nvPr/>
        </p:nvSpPr>
        <p:spPr>
          <a:xfrm>
            <a:off x="8563356" y="3052382"/>
            <a:ext cx="704088" cy="704088"/>
          </a:xfrm>
          <a:prstGeom prst="ellipse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10" name="Left penalty area"/>
          <p:cNvSpPr/>
          <p:nvPr/>
        </p:nvSpPr>
        <p:spPr>
          <a:xfrm>
            <a:off x="6954012" y="2650046"/>
            <a:ext cx="616077" cy="1508760"/>
          </a:xfrm>
          <a:prstGeom prst="rect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11" name="Left goal area"/>
          <p:cNvSpPr/>
          <p:nvPr/>
        </p:nvSpPr>
        <p:spPr>
          <a:xfrm>
            <a:off x="6954012" y="3058668"/>
            <a:ext cx="207455" cy="691515"/>
          </a:xfrm>
          <a:prstGeom prst="rect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12" name="Right penalty area"/>
          <p:cNvSpPr/>
          <p:nvPr/>
        </p:nvSpPr>
        <p:spPr>
          <a:xfrm>
            <a:off x="10260711" y="2650046"/>
            <a:ext cx="616077" cy="1508760"/>
          </a:xfrm>
          <a:prstGeom prst="rect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13" name="Right goal area"/>
          <p:cNvSpPr/>
          <p:nvPr/>
        </p:nvSpPr>
        <p:spPr>
          <a:xfrm>
            <a:off x="10669334" y="3058668"/>
            <a:ext cx="207455" cy="691515"/>
          </a:xfrm>
          <a:prstGeom prst="rect">
            <a:avLst/>
          </a:prstGeom>
          <a:ln w="19050">
            <a:solidFill>
              <a:schemeClr val="accent3"/>
            </a:solidFill>
            <a:prstDash val="solid"/>
          </a:ln>
        </p:spPr>
      </p:sp>
      <p:sp>
        <p:nvSpPr>
          <p:cNvPr id="14" name="Red player 1"/>
          <p:cNvSpPr/>
          <p:nvPr/>
        </p:nvSpPr>
        <p:spPr>
          <a:xfrm>
            <a:off x="7777544" y="2788349"/>
            <a:ext cx="138303" cy="138303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Red player 2"/>
          <p:cNvSpPr/>
          <p:nvPr/>
        </p:nvSpPr>
        <p:spPr>
          <a:xfrm>
            <a:off x="8293037" y="3681032"/>
            <a:ext cx="138303" cy="138303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Red player 3"/>
          <p:cNvSpPr/>
          <p:nvPr/>
        </p:nvSpPr>
        <p:spPr>
          <a:xfrm>
            <a:off x="8720519" y="3102674"/>
            <a:ext cx="138303" cy="138303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Red player 4"/>
          <p:cNvSpPr/>
          <p:nvPr/>
        </p:nvSpPr>
        <p:spPr>
          <a:xfrm>
            <a:off x="9273731" y="3919919"/>
            <a:ext cx="138303" cy="138303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Red player 5"/>
          <p:cNvSpPr/>
          <p:nvPr/>
        </p:nvSpPr>
        <p:spPr>
          <a:xfrm>
            <a:off x="9676067" y="3266123"/>
            <a:ext cx="138303" cy="138303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Blue player 1"/>
          <p:cNvSpPr/>
          <p:nvPr/>
        </p:nvSpPr>
        <p:spPr>
          <a:xfrm>
            <a:off x="8029004" y="3316415"/>
            <a:ext cx="138303" cy="138303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Blue player 2"/>
          <p:cNvSpPr/>
          <p:nvPr/>
        </p:nvSpPr>
        <p:spPr>
          <a:xfrm>
            <a:off x="8519351" y="2574608"/>
            <a:ext cx="138303" cy="138303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Blue player 3"/>
          <p:cNvSpPr/>
          <p:nvPr/>
        </p:nvSpPr>
        <p:spPr>
          <a:xfrm>
            <a:off x="9047417" y="3517583"/>
            <a:ext cx="138303" cy="138303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Blue player 4"/>
          <p:cNvSpPr/>
          <p:nvPr/>
        </p:nvSpPr>
        <p:spPr>
          <a:xfrm>
            <a:off x="9474899" y="2763202"/>
            <a:ext cx="138303" cy="138303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Blue player 5"/>
          <p:cNvSpPr/>
          <p:nvPr/>
        </p:nvSpPr>
        <p:spPr>
          <a:xfrm>
            <a:off x="9977819" y="3731323"/>
            <a:ext cx="138303" cy="138303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Tracking box 1"/>
          <p:cNvSpPr/>
          <p:nvPr/>
        </p:nvSpPr>
        <p:spPr>
          <a:xfrm>
            <a:off x="8990838" y="3435858"/>
            <a:ext cx="264033" cy="301752"/>
          </a:xfrm>
          <a:prstGeom prst="rect">
            <a:avLst/>
          </a:prstGeom>
          <a:ln w="25400">
            <a:solidFill>
              <a:schemeClr val="accent6"/>
            </a:solidFill>
            <a:prstDash val="solid"/>
          </a:ln>
        </p:spPr>
      </p:sp>
      <p:sp>
        <p:nvSpPr>
          <p:cNvPr id="25" name="Tracking box 2"/>
          <p:cNvSpPr/>
          <p:nvPr/>
        </p:nvSpPr>
        <p:spPr>
          <a:xfrm>
            <a:off x="8651367" y="3046095"/>
            <a:ext cx="264033" cy="301752"/>
          </a:xfrm>
          <a:prstGeom prst="rect">
            <a:avLst/>
          </a:prstGeom>
          <a:ln w="25400">
            <a:solidFill>
              <a:schemeClr val="accent6"/>
            </a:solidFill>
            <a:prstDash val="solid"/>
          </a:ln>
        </p:spPr>
      </p:sp>
      <p:sp>
        <p:nvSpPr>
          <p:cNvPr id="26" name="Ball"/>
          <p:cNvSpPr/>
          <p:nvPr/>
        </p:nvSpPr>
        <p:spPr>
          <a:xfrm>
            <a:off x="9154287" y="3775329"/>
            <a:ext cx="100584" cy="100584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 txBox="1"/>
          <p:nvPr/>
        </p:nvSpPr>
        <p:spPr>
          <a:xfrm>
            <a:off x="822960" y="530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WHAT IT DOES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86868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match video goes in. Player statistics come out.</a:t>
            </a:r>
            <a:endParaRPr lang="en-US" sz="3600" dirty="0"/>
          </a:p>
        </p:txBody>
      </p:sp>
      <p:sp>
        <p:nvSpPr>
          <p:cNvPr id="5" name="Step card 1"/>
          <p:cNvSpPr/>
          <p:nvPr/>
        </p:nvSpPr>
        <p:spPr>
          <a:xfrm>
            <a:off x="822960" y="2286000"/>
            <a:ext cx="3331464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6" name="Step title 1"/>
          <p:cNvSpPr txBox="1"/>
          <p:nvPr/>
        </p:nvSpPr>
        <p:spPr>
          <a:xfrm>
            <a:off x="1097280" y="251460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 · Upload</a:t>
            </a:r>
            <a:endParaRPr lang="en-US" sz="2400" dirty="0"/>
          </a:p>
        </p:txBody>
      </p:sp>
      <p:sp>
        <p:nvSpPr>
          <p:cNvPr id="7" name="Step text 1"/>
          <p:cNvSpPr txBox="1"/>
          <p:nvPr/>
        </p:nvSpPr>
        <p:spPr>
          <a:xfrm>
            <a:off x="1097280" y="306324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Any broadcast match video.</a:t>
            </a:r>
            <a:endParaRPr lang="en-US" sz="1800" dirty="0"/>
          </a:p>
        </p:txBody>
      </p:sp>
      <p:sp>
        <p:nvSpPr>
          <p:cNvPr id="8" name="Step card 2"/>
          <p:cNvSpPr/>
          <p:nvPr/>
        </p:nvSpPr>
        <p:spPr>
          <a:xfrm>
            <a:off x="4428744" y="2286000"/>
            <a:ext cx="3331464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9" name="Step title 2"/>
          <p:cNvSpPr txBox="1"/>
          <p:nvPr/>
        </p:nvSpPr>
        <p:spPr>
          <a:xfrm>
            <a:off x="4703064" y="251460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 · Analyse</a:t>
            </a:r>
            <a:endParaRPr lang="en-US" sz="2400" dirty="0"/>
          </a:p>
        </p:txBody>
      </p:sp>
      <p:sp>
        <p:nvSpPr>
          <p:cNvPr id="10" name="Step text 2"/>
          <p:cNvSpPr txBox="1"/>
          <p:nvPr/>
        </p:nvSpPr>
        <p:spPr>
          <a:xfrm>
            <a:off x="4703064" y="306324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The AI follows every player it can see.</a:t>
            </a:r>
            <a:endParaRPr lang="en-US" sz="1800" dirty="0"/>
          </a:p>
        </p:txBody>
      </p:sp>
      <p:sp>
        <p:nvSpPr>
          <p:cNvPr id="11" name="Step card 3"/>
          <p:cNvSpPr/>
          <p:nvPr/>
        </p:nvSpPr>
        <p:spPr>
          <a:xfrm>
            <a:off x="8034528" y="2286000"/>
            <a:ext cx="3331464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2" name="Step title 3"/>
          <p:cNvSpPr txBox="1"/>
          <p:nvPr/>
        </p:nvSpPr>
        <p:spPr>
          <a:xfrm>
            <a:off x="8308848" y="251460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 · Report</a:t>
            </a:r>
            <a:endParaRPr lang="en-US" sz="2400" dirty="0"/>
          </a:p>
        </p:txBody>
      </p:sp>
      <p:sp>
        <p:nvSpPr>
          <p:cNvPr id="13" name="Step text 3"/>
          <p:cNvSpPr txBox="1"/>
          <p:nvPr/>
        </p:nvSpPr>
        <p:spPr>
          <a:xfrm>
            <a:off x="8308848" y="3063240"/>
            <a:ext cx="2782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Statistics, maps and the tracking itself.</a:t>
            </a:r>
            <a:endParaRPr lang="en-US" sz="1800" dirty="0"/>
          </a:p>
        </p:txBody>
      </p:sp>
      <p:sp>
        <p:nvSpPr>
          <p:cNvPr id="14" name="Stat 1"/>
          <p:cNvSpPr txBox="1"/>
          <p:nvPr/>
        </p:nvSpPr>
        <p:spPr>
          <a:xfrm>
            <a:off x="822960" y="4251960"/>
            <a:ext cx="3331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22</a:t>
            </a:r>
            <a:endParaRPr lang="en-US" sz="4000" dirty="0"/>
          </a:p>
        </p:txBody>
      </p:sp>
      <p:sp>
        <p:nvSpPr>
          <p:cNvPr id="15" name="Stat label 1"/>
          <p:cNvSpPr txBox="1"/>
          <p:nvPr/>
        </p:nvSpPr>
        <p:spPr>
          <a:xfrm>
            <a:off x="822960" y="4983480"/>
            <a:ext cx="3057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players profiled in the demo match</a:t>
            </a:r>
            <a:endParaRPr lang="en-US" sz="1600" dirty="0"/>
          </a:p>
        </p:txBody>
      </p:sp>
      <p:sp>
        <p:nvSpPr>
          <p:cNvPr id="16" name="Stat 2"/>
          <p:cNvSpPr txBox="1"/>
          <p:nvPr/>
        </p:nvSpPr>
        <p:spPr>
          <a:xfrm>
            <a:off x="4428744" y="4251960"/>
            <a:ext cx="3331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2,505</a:t>
            </a:r>
            <a:endParaRPr lang="en-US" sz="4000" dirty="0"/>
          </a:p>
        </p:txBody>
      </p:sp>
      <p:sp>
        <p:nvSpPr>
          <p:cNvPr id="17" name="Stat label 2"/>
          <p:cNvSpPr txBox="1"/>
          <p:nvPr/>
        </p:nvSpPr>
        <p:spPr>
          <a:xfrm>
            <a:off x="4428744" y="4983480"/>
            <a:ext cx="3057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passes, shots and other events placed on the pitch</a:t>
            </a:r>
            <a:endParaRPr lang="en-US" sz="1600" dirty="0"/>
          </a:p>
        </p:txBody>
      </p:sp>
      <p:sp>
        <p:nvSpPr>
          <p:cNvPr id="18" name="Stat 3"/>
          <p:cNvSpPr txBox="1"/>
          <p:nvPr/>
        </p:nvSpPr>
        <p:spPr>
          <a:xfrm>
            <a:off x="8034528" y="4251960"/>
            <a:ext cx="33314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70 min</a:t>
            </a:r>
            <a:endParaRPr lang="en-US" sz="4000" dirty="0"/>
          </a:p>
        </p:txBody>
      </p:sp>
      <p:sp>
        <p:nvSpPr>
          <p:cNvPr id="19" name="Stat label 3"/>
          <p:cNvSpPr txBox="1"/>
          <p:nvPr/>
        </p:nvSpPr>
        <p:spPr>
          <a:xfrm>
            <a:off x="8034528" y="4983480"/>
            <a:ext cx="3057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to analyse the full 95-minute match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30936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 txBox="1"/>
          <p:nvPr/>
        </p:nvSpPr>
        <p:spPr>
          <a:xfrm>
            <a:off x="822960" y="530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WHAT YOU CAN DO IN THE APP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86868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ways to see the match</a:t>
            </a:r>
            <a:endParaRPr lang="en-US" sz="3600" dirty="0"/>
          </a:p>
        </p:txBody>
      </p:sp>
      <p:sp>
        <p:nvSpPr>
          <p:cNvPr id="5" name="Card 1"/>
          <p:cNvSpPr/>
          <p:nvPr/>
        </p:nvSpPr>
        <p:spPr>
          <a:xfrm>
            <a:off x="822960" y="2011680"/>
            <a:ext cx="5134356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</p:sp>
      <p:sp>
        <p:nvSpPr>
          <p:cNvPr id="6" name="Badge 1"/>
          <p:cNvSpPr/>
          <p:nvPr/>
        </p:nvSpPr>
        <p:spPr>
          <a:xfrm>
            <a:off x="1097280" y="2286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Badge 1 number"/>
          <p:cNvSpPr txBox="1"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Card title 1"/>
          <p:cNvSpPr txBox="1"/>
          <p:nvPr/>
        </p:nvSpPr>
        <p:spPr>
          <a:xfrm>
            <a:off x="1737360" y="228600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Match report</a:t>
            </a:r>
            <a:endParaRPr lang="en-US" sz="2400" dirty="0"/>
          </a:p>
        </p:txBody>
      </p:sp>
      <p:sp>
        <p:nvSpPr>
          <p:cNvPr id="9" name="Card text 1"/>
          <p:cNvSpPr txBox="1"/>
          <p:nvPr/>
        </p:nvSpPr>
        <p:spPr>
          <a:xfrm>
            <a:off x="1737360" y="2880360"/>
            <a:ext cx="39456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Compare the two teams: possession, passes, shots.</a:t>
            </a:r>
            <a:endParaRPr lang="en-US" sz="1800" dirty="0"/>
          </a:p>
        </p:txBody>
      </p:sp>
      <p:sp>
        <p:nvSpPr>
          <p:cNvPr id="10" name="Card 2"/>
          <p:cNvSpPr/>
          <p:nvPr/>
        </p:nvSpPr>
        <p:spPr>
          <a:xfrm>
            <a:off x="6231636" y="2011680"/>
            <a:ext cx="5134356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</p:sp>
      <p:sp>
        <p:nvSpPr>
          <p:cNvPr id="11" name="Badge 2"/>
          <p:cNvSpPr/>
          <p:nvPr/>
        </p:nvSpPr>
        <p:spPr>
          <a:xfrm>
            <a:off x="6505956" y="2286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Badge 2 number"/>
          <p:cNvSpPr txBox="1"/>
          <p:nvPr/>
        </p:nvSpPr>
        <p:spPr>
          <a:xfrm>
            <a:off x="650595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Card title 2"/>
          <p:cNvSpPr txBox="1"/>
          <p:nvPr/>
        </p:nvSpPr>
        <p:spPr>
          <a:xfrm>
            <a:off x="7146036" y="228600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Player profiles</a:t>
            </a:r>
            <a:endParaRPr lang="en-US" sz="2400" dirty="0"/>
          </a:p>
        </p:txBody>
      </p:sp>
      <p:sp>
        <p:nvSpPr>
          <p:cNvPr id="14" name="Card text 2"/>
          <p:cNvSpPr txBox="1"/>
          <p:nvPr/>
        </p:nvSpPr>
        <p:spPr>
          <a:xfrm>
            <a:off x="7146036" y="2880360"/>
            <a:ext cx="39456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Distance, speed, heatmap and actions for each player.</a:t>
            </a:r>
            <a:endParaRPr lang="en-US" sz="1800" dirty="0"/>
          </a:p>
        </p:txBody>
      </p:sp>
      <p:sp>
        <p:nvSpPr>
          <p:cNvPr id="15" name="Card 3"/>
          <p:cNvSpPr/>
          <p:nvPr/>
        </p:nvSpPr>
        <p:spPr>
          <a:xfrm>
            <a:off x="822960" y="3840480"/>
            <a:ext cx="5134356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</p:sp>
      <p:sp>
        <p:nvSpPr>
          <p:cNvPr id="16" name="Badge 3"/>
          <p:cNvSpPr/>
          <p:nvPr/>
        </p:nvSpPr>
        <p:spPr>
          <a:xfrm>
            <a:off x="1097280" y="4114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Badge 3 number"/>
          <p:cNvSpPr txBox="1"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Card title 3"/>
          <p:cNvSpPr txBox="1"/>
          <p:nvPr/>
        </p:nvSpPr>
        <p:spPr>
          <a:xfrm>
            <a:off x="1737360" y="411480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Event maps</a:t>
            </a:r>
            <a:endParaRPr lang="en-US" sz="2400" dirty="0"/>
          </a:p>
        </p:txBody>
      </p:sp>
      <p:sp>
        <p:nvSpPr>
          <p:cNvPr id="19" name="Card text 3"/>
          <p:cNvSpPr txBox="1"/>
          <p:nvPr/>
        </p:nvSpPr>
        <p:spPr>
          <a:xfrm>
            <a:off x="1737360" y="4709160"/>
            <a:ext cx="39456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See where every pass and shot happened.</a:t>
            </a:r>
            <a:endParaRPr lang="en-US" sz="1800" dirty="0"/>
          </a:p>
        </p:txBody>
      </p:sp>
      <p:sp>
        <p:nvSpPr>
          <p:cNvPr id="20" name="Card 4"/>
          <p:cNvSpPr/>
          <p:nvPr/>
        </p:nvSpPr>
        <p:spPr>
          <a:xfrm>
            <a:off x="6231636" y="3840480"/>
            <a:ext cx="5134356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</p:sp>
      <p:sp>
        <p:nvSpPr>
          <p:cNvPr id="21" name="Badge 4"/>
          <p:cNvSpPr/>
          <p:nvPr/>
        </p:nvSpPr>
        <p:spPr>
          <a:xfrm>
            <a:off x="6505956" y="4114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Badge 4 number"/>
          <p:cNvSpPr txBox="1"/>
          <p:nvPr/>
        </p:nvSpPr>
        <p:spPr>
          <a:xfrm>
            <a:off x="6505956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Card title 4"/>
          <p:cNvSpPr txBox="1"/>
          <p:nvPr/>
        </p:nvSpPr>
        <p:spPr>
          <a:xfrm>
            <a:off x="7146036" y="411480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Live tracking</a:t>
            </a:r>
            <a:endParaRPr lang="en-US" sz="2400" dirty="0"/>
          </a:p>
        </p:txBody>
      </p:sp>
      <p:sp>
        <p:nvSpPr>
          <p:cNvPr id="24" name="Card text 4"/>
          <p:cNvSpPr txBox="1"/>
          <p:nvPr/>
        </p:nvSpPr>
        <p:spPr>
          <a:xfrm>
            <a:off x="7146036" y="4709160"/>
            <a:ext cx="39456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Watch the AI’s boxes on the real footage.</a:t>
            </a:r>
            <a:endParaRPr lang="en-US" sz="1800" dirty="0"/>
          </a:p>
        </p:txBody>
      </p:sp>
      <p:sp>
        <p:nvSpPr>
          <p:cNvPr id="25" name="Footnote"/>
          <p:cNvSpPr txBox="1"/>
          <p:nvPr/>
        </p:nvSpPr>
        <p:spPr>
          <a:xfrm>
            <a:off x="822960" y="57607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Also built, but not in the demo: rating players against 42 playing styles.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30936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 txBox="1"/>
          <p:nvPr/>
        </p:nvSpPr>
        <p:spPr>
          <a:xfrm>
            <a:off x="822960" y="530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86868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steps from video to statistics</a:t>
            </a:r>
            <a:endParaRPr lang="en-US" sz="3600" dirty="0"/>
          </a:p>
        </p:txBody>
      </p:sp>
      <p:sp>
        <p:nvSpPr>
          <p:cNvPr id="5" name="Step card 1"/>
          <p:cNvSpPr/>
          <p:nvPr/>
        </p:nvSpPr>
        <p:spPr>
          <a:xfrm>
            <a:off x="822960" y="2103120"/>
            <a:ext cx="2189988" cy="3017520"/>
          </a:xfrm>
          <a:prstGeom prst="roundRect">
            <a:avLst>
              <a:gd name="adj" fmla="val 5010"/>
            </a:avLst>
          </a:prstGeom>
          <a:solidFill>
            <a:schemeClr val="bg2"/>
          </a:solidFill>
          <a:ln/>
        </p:spPr>
      </p:sp>
      <p:sp>
        <p:nvSpPr>
          <p:cNvPr id="6" name="Step badge 1"/>
          <p:cNvSpPr/>
          <p:nvPr/>
        </p:nvSpPr>
        <p:spPr>
          <a:xfrm>
            <a:off x="1097280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badge 1 number"/>
          <p:cNvSpPr txBox="1"/>
          <p:nvPr/>
        </p:nvSpPr>
        <p:spPr>
          <a:xfrm>
            <a:off x="10972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Step title 1"/>
          <p:cNvSpPr txBox="1"/>
          <p:nvPr/>
        </p:nvSpPr>
        <p:spPr>
          <a:xfrm>
            <a:off x="1097280" y="3017520"/>
            <a:ext cx="1641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See</a:t>
            </a:r>
            <a:endParaRPr lang="en-US" sz="2400" dirty="0"/>
          </a:p>
        </p:txBody>
      </p:sp>
      <p:sp>
        <p:nvSpPr>
          <p:cNvPr id="9" name="Step text 1"/>
          <p:cNvSpPr txBox="1"/>
          <p:nvPr/>
        </p:nvSpPr>
        <p:spPr>
          <a:xfrm>
            <a:off x="1097280" y="3520440"/>
            <a:ext cx="16413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Find every player and the ball in each frame.</a:t>
            </a:r>
            <a:endParaRPr lang="en-US" sz="1800" dirty="0"/>
          </a:p>
        </p:txBody>
      </p:sp>
      <p:sp>
        <p:nvSpPr>
          <p:cNvPr id="10" name="Arrow 1"/>
          <p:cNvSpPr/>
          <p:nvPr/>
        </p:nvSpPr>
        <p:spPr>
          <a:xfrm>
            <a:off x="3127248" y="3456432"/>
            <a:ext cx="365760" cy="310896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1" name="Step card 2"/>
          <p:cNvSpPr/>
          <p:nvPr/>
        </p:nvSpPr>
        <p:spPr>
          <a:xfrm>
            <a:off x="3607308" y="2103120"/>
            <a:ext cx="2189988" cy="3017520"/>
          </a:xfrm>
          <a:prstGeom prst="roundRect">
            <a:avLst>
              <a:gd name="adj" fmla="val 5010"/>
            </a:avLst>
          </a:prstGeom>
          <a:solidFill>
            <a:schemeClr val="bg2"/>
          </a:solidFill>
          <a:ln/>
        </p:spPr>
      </p:sp>
      <p:sp>
        <p:nvSpPr>
          <p:cNvPr id="12" name="Step badge 2"/>
          <p:cNvSpPr/>
          <p:nvPr/>
        </p:nvSpPr>
        <p:spPr>
          <a:xfrm>
            <a:off x="3881628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badge 2 number"/>
          <p:cNvSpPr txBox="1"/>
          <p:nvPr/>
        </p:nvSpPr>
        <p:spPr>
          <a:xfrm>
            <a:off x="3881628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Step title 2"/>
          <p:cNvSpPr txBox="1"/>
          <p:nvPr/>
        </p:nvSpPr>
        <p:spPr>
          <a:xfrm>
            <a:off x="3881628" y="3017520"/>
            <a:ext cx="1641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Place</a:t>
            </a:r>
            <a:endParaRPr lang="en-US" sz="2400" dirty="0"/>
          </a:p>
        </p:txBody>
      </p:sp>
      <p:sp>
        <p:nvSpPr>
          <p:cNvPr id="15" name="Step text 2"/>
          <p:cNvSpPr txBox="1"/>
          <p:nvPr/>
        </p:nvSpPr>
        <p:spPr>
          <a:xfrm>
            <a:off x="3881628" y="3520440"/>
            <a:ext cx="16413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Turn camera pixels into metres on the pitch.</a:t>
            </a:r>
            <a:endParaRPr lang="en-US" sz="1800" dirty="0"/>
          </a:p>
        </p:txBody>
      </p:sp>
      <p:sp>
        <p:nvSpPr>
          <p:cNvPr id="16" name="Arrow 2"/>
          <p:cNvSpPr/>
          <p:nvPr/>
        </p:nvSpPr>
        <p:spPr>
          <a:xfrm>
            <a:off x="5911596" y="3456432"/>
            <a:ext cx="365760" cy="310896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7" name="Step card 3"/>
          <p:cNvSpPr/>
          <p:nvPr/>
        </p:nvSpPr>
        <p:spPr>
          <a:xfrm>
            <a:off x="6391656" y="2103120"/>
            <a:ext cx="2189988" cy="3017520"/>
          </a:xfrm>
          <a:prstGeom prst="roundRect">
            <a:avLst>
              <a:gd name="adj" fmla="val 5010"/>
            </a:avLst>
          </a:prstGeom>
          <a:solidFill>
            <a:schemeClr val="bg2"/>
          </a:solidFill>
          <a:ln/>
        </p:spPr>
      </p:sp>
      <p:sp>
        <p:nvSpPr>
          <p:cNvPr id="18" name="Step badge 3"/>
          <p:cNvSpPr/>
          <p:nvPr/>
        </p:nvSpPr>
        <p:spPr>
          <a:xfrm>
            <a:off x="6665976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badge 3 number"/>
          <p:cNvSpPr txBox="1"/>
          <p:nvPr/>
        </p:nvSpPr>
        <p:spPr>
          <a:xfrm>
            <a:off x="6665976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Step title 3"/>
          <p:cNvSpPr txBox="1"/>
          <p:nvPr/>
        </p:nvSpPr>
        <p:spPr>
          <a:xfrm>
            <a:off x="6665976" y="3017520"/>
            <a:ext cx="1641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Identify</a:t>
            </a:r>
            <a:endParaRPr lang="en-US" sz="2400" dirty="0"/>
          </a:p>
        </p:txBody>
      </p:sp>
      <p:sp>
        <p:nvSpPr>
          <p:cNvPr id="21" name="Step text 3"/>
          <p:cNvSpPr txBox="1"/>
          <p:nvPr/>
        </p:nvSpPr>
        <p:spPr>
          <a:xfrm>
            <a:off x="6665976" y="3520440"/>
            <a:ext cx="16413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Team from kit colour. Player from shirt number.</a:t>
            </a:r>
            <a:endParaRPr lang="en-US" sz="1800" dirty="0"/>
          </a:p>
        </p:txBody>
      </p:sp>
      <p:sp>
        <p:nvSpPr>
          <p:cNvPr id="22" name="Arrow 3"/>
          <p:cNvSpPr/>
          <p:nvPr/>
        </p:nvSpPr>
        <p:spPr>
          <a:xfrm>
            <a:off x="8695944" y="3456432"/>
            <a:ext cx="365760" cy="310896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23" name="Step card 4"/>
          <p:cNvSpPr/>
          <p:nvPr/>
        </p:nvSpPr>
        <p:spPr>
          <a:xfrm>
            <a:off x="9176004" y="2103120"/>
            <a:ext cx="2189988" cy="3017520"/>
          </a:xfrm>
          <a:prstGeom prst="roundRect">
            <a:avLst>
              <a:gd name="adj" fmla="val 5010"/>
            </a:avLst>
          </a:prstGeom>
          <a:solidFill>
            <a:schemeClr val="bg2"/>
          </a:solidFill>
          <a:ln/>
        </p:spPr>
      </p:sp>
      <p:sp>
        <p:nvSpPr>
          <p:cNvPr id="24" name="Step badge 4"/>
          <p:cNvSpPr/>
          <p:nvPr/>
        </p:nvSpPr>
        <p:spPr>
          <a:xfrm>
            <a:off x="9450324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Step badge 4 number"/>
          <p:cNvSpPr txBox="1"/>
          <p:nvPr/>
        </p:nvSpPr>
        <p:spPr>
          <a:xfrm>
            <a:off x="9450324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Step title 4"/>
          <p:cNvSpPr txBox="1"/>
          <p:nvPr/>
        </p:nvSpPr>
        <p:spPr>
          <a:xfrm>
            <a:off x="9450324" y="3017520"/>
            <a:ext cx="1641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Count</a:t>
            </a:r>
            <a:endParaRPr lang="en-US" sz="2400" dirty="0"/>
          </a:p>
        </p:txBody>
      </p:sp>
      <p:sp>
        <p:nvSpPr>
          <p:cNvPr id="27" name="Step text 4"/>
          <p:cNvSpPr txBox="1"/>
          <p:nvPr/>
        </p:nvSpPr>
        <p:spPr>
          <a:xfrm>
            <a:off x="9450324" y="3520440"/>
            <a:ext cx="16413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Passes, shots, distance and runs from the movement.</a:t>
            </a:r>
            <a:endParaRPr lang="en-US" sz="1800" dirty="0"/>
          </a:p>
        </p:txBody>
      </p:sp>
      <p:sp>
        <p:nvSpPr>
          <p:cNvPr id="28" name="Key message"/>
          <p:cNvSpPr txBox="1"/>
          <p:nvPr/>
        </p:nvSpPr>
        <p:spPr>
          <a:xfrm>
            <a:off x="822960" y="54864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Only the video is used. </a:t>
            </a:r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No data feeds, no line-ups.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30936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 txBox="1"/>
          <p:nvPr/>
        </p:nvSpPr>
        <p:spPr>
          <a:xfrm>
            <a:off x="822960" y="530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 AI BEHIND EACH STEP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86868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One model family for each job</a:t>
            </a:r>
            <a:endParaRPr lang="en-US" sz="3600" dirty="0"/>
          </a:p>
        </p:txBody>
      </p:sp>
      <p:sp>
        <p:nvSpPr>
          <p:cNvPr id="5" name="Model card 1"/>
          <p:cNvSpPr/>
          <p:nvPr/>
        </p:nvSpPr>
        <p:spPr>
          <a:xfrm>
            <a:off x="822960" y="1691640"/>
            <a:ext cx="5134356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6" name="Model step 1"/>
          <p:cNvSpPr txBox="1"/>
          <p:nvPr/>
        </p:nvSpPr>
        <p:spPr>
          <a:xfrm>
            <a:off x="1143000" y="1920240"/>
            <a:ext cx="4494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 · SEE</a:t>
            </a:r>
            <a:endParaRPr lang="en-US" sz="1200" dirty="0"/>
          </a:p>
        </p:txBody>
      </p:sp>
      <p:sp>
        <p:nvSpPr>
          <p:cNvPr id="7" name="Model name 1"/>
          <p:cNvSpPr txBox="1"/>
          <p:nvPr/>
        </p:nvSpPr>
        <p:spPr>
          <a:xfrm>
            <a:off x="1143000" y="2194560"/>
            <a:ext cx="44942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YOLOv8x detector and BoT-SORT tracker</a:t>
            </a:r>
            <a:endParaRPr lang="en-US" sz="2200" dirty="0"/>
          </a:p>
        </p:txBody>
      </p:sp>
      <p:sp>
        <p:nvSpPr>
          <p:cNvPr id="8" name="Model role 1"/>
          <p:cNvSpPr txBox="1"/>
          <p:nvPr/>
        </p:nvSpPr>
        <p:spPr>
          <a:xfrm>
            <a:off x="1143000" y="2971800"/>
            <a:ext cx="44942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Finds players and follows them between frames.</a:t>
            </a:r>
            <a:endParaRPr lang="en-US" sz="1600" dirty="0"/>
          </a:p>
        </p:txBody>
      </p:sp>
      <p:sp>
        <p:nvSpPr>
          <p:cNvPr id="9" name="Model card 2"/>
          <p:cNvSpPr/>
          <p:nvPr/>
        </p:nvSpPr>
        <p:spPr>
          <a:xfrm>
            <a:off x="6231636" y="1691640"/>
            <a:ext cx="5134356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0" name="Model step 2"/>
          <p:cNvSpPr txBox="1"/>
          <p:nvPr/>
        </p:nvSpPr>
        <p:spPr>
          <a:xfrm>
            <a:off x="6551676" y="1920240"/>
            <a:ext cx="4494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2 · PLACE</a:t>
            </a:r>
            <a:endParaRPr lang="en-US" sz="1200" dirty="0"/>
          </a:p>
        </p:txBody>
      </p:sp>
      <p:sp>
        <p:nvSpPr>
          <p:cNvPr id="11" name="Model name 2"/>
          <p:cNvSpPr txBox="1"/>
          <p:nvPr/>
        </p:nvSpPr>
        <p:spPr>
          <a:xfrm>
            <a:off x="6551676" y="2194560"/>
            <a:ext cx="44942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HRNet pitch-keypoint network</a:t>
            </a:r>
            <a:endParaRPr lang="en-US" sz="2200" dirty="0"/>
          </a:p>
        </p:txBody>
      </p:sp>
      <p:sp>
        <p:nvSpPr>
          <p:cNvPr id="12" name="Model role 2"/>
          <p:cNvSpPr txBox="1"/>
          <p:nvPr/>
        </p:nvSpPr>
        <p:spPr>
          <a:xfrm>
            <a:off x="6551676" y="2971800"/>
            <a:ext cx="44942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Finds the pitch lines, so positions are in metres.</a:t>
            </a:r>
            <a:endParaRPr lang="en-US" sz="1600" dirty="0"/>
          </a:p>
        </p:txBody>
      </p:sp>
      <p:sp>
        <p:nvSpPr>
          <p:cNvPr id="13" name="Model card 3"/>
          <p:cNvSpPr/>
          <p:nvPr/>
        </p:nvSpPr>
        <p:spPr>
          <a:xfrm>
            <a:off x="822960" y="3703320"/>
            <a:ext cx="5134356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4" name="Model step 3"/>
          <p:cNvSpPr txBox="1"/>
          <p:nvPr/>
        </p:nvSpPr>
        <p:spPr>
          <a:xfrm>
            <a:off x="1143000" y="3931920"/>
            <a:ext cx="4494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3 · IDENTIFY</a:t>
            </a:r>
            <a:endParaRPr lang="en-US" sz="1200" dirty="0"/>
          </a:p>
        </p:txBody>
      </p:sp>
      <p:sp>
        <p:nvSpPr>
          <p:cNvPr id="15" name="Model name 3"/>
          <p:cNvSpPr txBox="1"/>
          <p:nvPr/>
        </p:nvSpPr>
        <p:spPr>
          <a:xfrm>
            <a:off x="1143000" y="4206240"/>
            <a:ext cx="44942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CLIP vision model and shirt-number reader</a:t>
            </a:r>
            <a:endParaRPr lang="en-US" sz="2200" dirty="0"/>
          </a:p>
        </p:txBody>
      </p:sp>
      <p:sp>
        <p:nvSpPr>
          <p:cNvPr id="16" name="Model role 3"/>
          <p:cNvSpPr txBox="1"/>
          <p:nvPr/>
        </p:nvSpPr>
        <p:spPr>
          <a:xfrm>
            <a:off x="1143000" y="4983480"/>
            <a:ext cx="44942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Tells players apart, reads numbers. We fine-tuned it.</a:t>
            </a:r>
            <a:endParaRPr lang="en-US" sz="1600" dirty="0"/>
          </a:p>
        </p:txBody>
      </p:sp>
      <p:sp>
        <p:nvSpPr>
          <p:cNvPr id="17" name="Model card 4"/>
          <p:cNvSpPr/>
          <p:nvPr/>
        </p:nvSpPr>
        <p:spPr>
          <a:xfrm>
            <a:off x="6231636" y="3703320"/>
            <a:ext cx="5134356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</p:sp>
      <p:sp>
        <p:nvSpPr>
          <p:cNvPr id="18" name="Model step 4"/>
          <p:cNvSpPr txBox="1"/>
          <p:nvPr/>
        </p:nvSpPr>
        <p:spPr>
          <a:xfrm>
            <a:off x="6551676" y="3931920"/>
            <a:ext cx="4494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4 · COUNT</a:t>
            </a:r>
            <a:endParaRPr lang="en-US" sz="1200" dirty="0"/>
          </a:p>
        </p:txBody>
      </p:sp>
      <p:sp>
        <p:nvSpPr>
          <p:cNvPr id="19" name="Model name 4"/>
          <p:cNvSpPr txBox="1"/>
          <p:nvPr/>
        </p:nvSpPr>
        <p:spPr>
          <a:xfrm>
            <a:off x="6551676" y="4206240"/>
            <a:ext cx="44942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Simple rules and the T-DEED video model</a:t>
            </a:r>
            <a:endParaRPr lang="en-US" sz="2200" dirty="0"/>
          </a:p>
        </p:txBody>
      </p:sp>
      <p:sp>
        <p:nvSpPr>
          <p:cNvPr id="20" name="Model role 4"/>
          <p:cNvSpPr txBox="1"/>
          <p:nvPr/>
        </p:nvSpPr>
        <p:spPr>
          <a:xfrm>
            <a:off x="6551676" y="4983480"/>
            <a:ext cx="44942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Rules count passes. The video model finds shots and tackles.</a:t>
            </a:r>
            <a:endParaRPr lang="en-US" sz="1600" dirty="0"/>
          </a:p>
        </p:txBody>
      </p:sp>
      <p:sp>
        <p:nvSpPr>
          <p:cNvPr id="21" name="Footnote"/>
          <p:cNvSpPr txBox="1"/>
          <p:nvPr/>
        </p:nvSpPr>
        <p:spPr>
          <a:xfrm>
            <a:off x="822960" y="57607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Everything runs on one local GPU. No cloud AI service.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30936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 txBox="1"/>
          <p:nvPr/>
        </p:nvSpPr>
        <p:spPr>
          <a:xfrm>
            <a:off x="822960" y="530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HOW WELL IT WORKS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86868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Good where the picture is clear</a:t>
            </a:r>
            <a:endParaRPr lang="en-US" sz="3600" dirty="0"/>
          </a:p>
        </p:txBody>
      </p:sp>
      <p:sp>
        <p:nvSpPr>
          <p:cNvPr id="5" name="Stat card 1"/>
          <p:cNvSpPr/>
          <p:nvPr/>
        </p:nvSpPr>
        <p:spPr>
          <a:xfrm>
            <a:off x="822960" y="2103120"/>
            <a:ext cx="3331464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</p:spPr>
      </p:sp>
      <p:sp>
        <p:nvSpPr>
          <p:cNvPr id="6" name="Stat 1"/>
          <p:cNvSpPr txBox="1"/>
          <p:nvPr/>
        </p:nvSpPr>
        <p:spPr>
          <a:xfrm>
            <a:off x="1097280" y="2377440"/>
            <a:ext cx="2782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80%</a:t>
            </a:r>
            <a:endParaRPr lang="en-US" sz="3600" dirty="0"/>
          </a:p>
        </p:txBody>
      </p:sp>
      <p:sp>
        <p:nvSpPr>
          <p:cNvPr id="7" name="Stat label 1"/>
          <p:cNvSpPr txBox="1"/>
          <p:nvPr/>
        </p:nvSpPr>
        <p:spPr>
          <a:xfrm>
            <a:off x="1097280" y="320040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of shirt numbers read correctly</a:t>
            </a:r>
            <a:endParaRPr lang="en-US" sz="1800" dirty="0"/>
          </a:p>
        </p:txBody>
      </p:sp>
      <p:sp>
        <p:nvSpPr>
          <p:cNvPr id="8" name="Stat card 2"/>
          <p:cNvSpPr/>
          <p:nvPr/>
        </p:nvSpPr>
        <p:spPr>
          <a:xfrm>
            <a:off x="4428744" y="2103120"/>
            <a:ext cx="3331464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</p:spPr>
      </p:sp>
      <p:sp>
        <p:nvSpPr>
          <p:cNvPr id="9" name="Stat 2"/>
          <p:cNvSpPr txBox="1"/>
          <p:nvPr/>
        </p:nvSpPr>
        <p:spPr>
          <a:xfrm>
            <a:off x="4703064" y="2377440"/>
            <a:ext cx="2782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0.89</a:t>
            </a:r>
            <a:endParaRPr lang="en-US" sz="3600" dirty="0"/>
          </a:p>
        </p:txBody>
      </p:sp>
      <p:sp>
        <p:nvSpPr>
          <p:cNvPr id="10" name="Stat label 2"/>
          <p:cNvSpPr txBox="1"/>
          <p:nvPr/>
        </p:nvSpPr>
        <p:spPr>
          <a:xfrm>
            <a:off x="4703064" y="320040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match between our pass counts and the real ones</a:t>
            </a:r>
            <a:endParaRPr lang="en-US" sz="1800" dirty="0"/>
          </a:p>
        </p:txBody>
      </p:sp>
      <p:sp>
        <p:nvSpPr>
          <p:cNvPr id="11" name="Stat card 3"/>
          <p:cNvSpPr/>
          <p:nvPr/>
        </p:nvSpPr>
        <p:spPr>
          <a:xfrm>
            <a:off x="8034528" y="2103120"/>
            <a:ext cx="3331464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</p:spPr>
      </p:sp>
      <p:sp>
        <p:nvSpPr>
          <p:cNvPr id="12" name="Stat 3"/>
          <p:cNvSpPr txBox="1"/>
          <p:nvPr/>
        </p:nvSpPr>
        <p:spPr>
          <a:xfrm>
            <a:off x="8308848" y="2377440"/>
            <a:ext cx="27828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0.71 / 0.70</a:t>
            </a:r>
            <a:endParaRPr lang="en-US" sz="3600" dirty="0"/>
          </a:p>
        </p:txBody>
      </p:sp>
      <p:sp>
        <p:nvSpPr>
          <p:cNvPr id="13" name="Stat label 3"/>
          <p:cNvSpPr txBox="1"/>
          <p:nvPr/>
        </p:nvSpPr>
        <p:spPr>
          <a:xfrm>
            <a:off x="8308848" y="320040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shot precision and recall</a:t>
            </a:r>
            <a:endParaRPr lang="en-US" sz="1800" dirty="0"/>
          </a:p>
        </p:txBody>
      </p:sp>
      <p:sp>
        <p:nvSpPr>
          <p:cNvPr id="14" name="Key message"/>
          <p:cNvSpPr txBox="1"/>
          <p:nvPr/>
        </p:nvSpPr>
        <p:spPr>
          <a:xfrm>
            <a:off x="822960" y="457200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Measured on matches the models never saw.</a:t>
            </a:r>
            <a:endParaRPr lang="en-US" sz="2200" dirty="0"/>
          </a:p>
        </p:txBody>
      </p:sp>
      <p:sp>
        <p:nvSpPr>
          <p:cNvPr id="15" name="Caveat"/>
          <p:cNvSpPr txBox="1"/>
          <p:nvPr/>
        </p:nvSpPr>
        <p:spPr>
          <a:xfrm>
            <a:off x="822960" y="512064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Tackles and blocks are still far below real counts.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30936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 txBox="1"/>
          <p:nvPr/>
        </p:nvSpPr>
        <p:spPr>
          <a:xfrm>
            <a:off x="822960" y="530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DIFFICULTIES WE FACE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86868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Why broadcast video is hard</a:t>
            </a:r>
            <a:endParaRPr lang="en-US" sz="3600" dirty="0"/>
          </a:p>
        </p:txBody>
      </p:sp>
      <p:sp>
        <p:nvSpPr>
          <p:cNvPr id="5" name="Card 1"/>
          <p:cNvSpPr/>
          <p:nvPr/>
        </p:nvSpPr>
        <p:spPr>
          <a:xfrm>
            <a:off x="822960" y="2011680"/>
            <a:ext cx="5134356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6" name="Badge 1"/>
          <p:cNvSpPr/>
          <p:nvPr/>
        </p:nvSpPr>
        <p:spPr>
          <a:xfrm>
            <a:off x="1097280" y="22860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Badge 1 number"/>
          <p:cNvSpPr txBox="1"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Card title 1"/>
          <p:cNvSpPr txBox="1"/>
          <p:nvPr/>
        </p:nvSpPr>
        <p:spPr>
          <a:xfrm>
            <a:off x="1737360" y="228600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The camera keeps cutting</a:t>
            </a:r>
            <a:endParaRPr lang="en-US" sz="2400" dirty="0"/>
          </a:p>
        </p:txBody>
      </p:sp>
      <p:sp>
        <p:nvSpPr>
          <p:cNvPr id="9" name="Card text 1"/>
          <p:cNvSpPr txBox="1"/>
          <p:nvPr/>
        </p:nvSpPr>
        <p:spPr>
          <a:xfrm>
            <a:off x="1737360" y="2880360"/>
            <a:ext cx="3945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The picture changes every few seconds and shows only about half the pitch.</a:t>
            </a:r>
            <a:endParaRPr lang="en-US" sz="1800" dirty="0"/>
          </a:p>
        </p:txBody>
      </p:sp>
      <p:sp>
        <p:nvSpPr>
          <p:cNvPr id="10" name="Card 2"/>
          <p:cNvSpPr/>
          <p:nvPr/>
        </p:nvSpPr>
        <p:spPr>
          <a:xfrm>
            <a:off x="6231636" y="2011680"/>
            <a:ext cx="5134356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11" name="Badge 2"/>
          <p:cNvSpPr/>
          <p:nvPr/>
        </p:nvSpPr>
        <p:spPr>
          <a:xfrm>
            <a:off x="6505956" y="22860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Badge 2 number"/>
          <p:cNvSpPr txBox="1"/>
          <p:nvPr/>
        </p:nvSpPr>
        <p:spPr>
          <a:xfrm>
            <a:off x="650595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Card title 2"/>
          <p:cNvSpPr txBox="1"/>
          <p:nvPr/>
        </p:nvSpPr>
        <p:spPr>
          <a:xfrm>
            <a:off x="7146036" y="228600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The ball is tiny</a:t>
            </a:r>
            <a:endParaRPr lang="en-US" sz="2400" dirty="0"/>
          </a:p>
        </p:txBody>
      </p:sp>
      <p:sp>
        <p:nvSpPr>
          <p:cNvPr id="14" name="Card text 2"/>
          <p:cNvSpPr txBox="1"/>
          <p:nvPr/>
        </p:nvSpPr>
        <p:spPr>
          <a:xfrm>
            <a:off x="7146036" y="2880360"/>
            <a:ext cx="3945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We find it in under half of the frames where it is visible.</a:t>
            </a:r>
            <a:endParaRPr lang="en-US" sz="1800" dirty="0"/>
          </a:p>
        </p:txBody>
      </p:sp>
      <p:sp>
        <p:nvSpPr>
          <p:cNvPr id="15" name="Card 3"/>
          <p:cNvSpPr/>
          <p:nvPr/>
        </p:nvSpPr>
        <p:spPr>
          <a:xfrm>
            <a:off x="822960" y="3931920"/>
            <a:ext cx="5134356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16" name="Badge 3"/>
          <p:cNvSpPr/>
          <p:nvPr/>
        </p:nvSpPr>
        <p:spPr>
          <a:xfrm>
            <a:off x="1097280" y="42062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Badge 3 number"/>
          <p:cNvSpPr txBox="1"/>
          <p:nvPr/>
        </p:nvSpPr>
        <p:spPr>
          <a:xfrm>
            <a:off x="10972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Card title 3"/>
          <p:cNvSpPr txBox="1"/>
          <p:nvPr/>
        </p:nvSpPr>
        <p:spPr>
          <a:xfrm>
            <a:off x="1737360" y="420624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Tackles look like touches</a:t>
            </a:r>
            <a:endParaRPr lang="en-US" sz="2400" dirty="0"/>
          </a:p>
        </p:txBody>
      </p:sp>
      <p:sp>
        <p:nvSpPr>
          <p:cNvPr id="19" name="Card text 3"/>
          <p:cNvSpPr txBox="1"/>
          <p:nvPr/>
        </p:nvSpPr>
        <p:spPr>
          <a:xfrm>
            <a:off x="1737360" y="4800600"/>
            <a:ext cx="3945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From positions alone they are hard to tell apart. We find about one in eight.</a:t>
            </a:r>
            <a:endParaRPr lang="en-US" sz="1800" dirty="0"/>
          </a:p>
        </p:txBody>
      </p:sp>
      <p:sp>
        <p:nvSpPr>
          <p:cNvPr id="20" name="Card 4"/>
          <p:cNvSpPr/>
          <p:nvPr/>
        </p:nvSpPr>
        <p:spPr>
          <a:xfrm>
            <a:off x="6231636" y="3931920"/>
            <a:ext cx="5134356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21" name="Badge 4"/>
          <p:cNvSpPr/>
          <p:nvPr/>
        </p:nvSpPr>
        <p:spPr>
          <a:xfrm>
            <a:off x="6505956" y="42062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Badge 4 number"/>
          <p:cNvSpPr txBox="1"/>
          <p:nvPr/>
        </p:nvSpPr>
        <p:spPr>
          <a:xfrm>
            <a:off x="6505956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Card title 4"/>
          <p:cNvSpPr txBox="1"/>
          <p:nvPr/>
        </p:nvSpPr>
        <p:spPr>
          <a:xfrm>
            <a:off x="7146036" y="420624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Naming every player</a:t>
            </a:r>
            <a:endParaRPr lang="en-US" sz="2400" dirty="0"/>
          </a:p>
        </p:txBody>
      </p:sp>
      <p:sp>
        <p:nvSpPr>
          <p:cNvPr id="24" name="Card text 4"/>
          <p:cNvSpPr txBox="1"/>
          <p:nvPr/>
        </p:nvSpPr>
        <p:spPr>
          <a:xfrm>
            <a:off x="7146036" y="4800600"/>
            <a:ext cx="39456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Only about half of player time is tied to a shirt number.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30936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yebrow"/>
          <p:cNvSpPr txBox="1"/>
          <p:nvPr/>
        </p:nvSpPr>
        <p:spPr>
          <a:xfrm>
            <a:off x="822960" y="530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WHAT WE WOULD IMPROVE</a:t>
            </a:r>
            <a:endParaRPr lang="en-US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86868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5" name="Card 1"/>
          <p:cNvSpPr/>
          <p:nvPr/>
        </p:nvSpPr>
        <p:spPr>
          <a:xfrm>
            <a:off x="822960" y="2011680"/>
            <a:ext cx="5134356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6" name="Badge 1"/>
          <p:cNvSpPr/>
          <p:nvPr/>
        </p:nvSpPr>
        <p:spPr>
          <a:xfrm>
            <a:off x="1097280" y="2286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Badge 1 number"/>
          <p:cNvSpPr txBox="1"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Card title 1"/>
          <p:cNvSpPr txBox="1"/>
          <p:nvPr/>
        </p:nvSpPr>
        <p:spPr>
          <a:xfrm>
            <a:off x="1737360" y="228600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Find the ball better</a:t>
            </a:r>
            <a:endParaRPr lang="en-US" sz="2400" dirty="0"/>
          </a:p>
        </p:txBody>
      </p:sp>
      <p:sp>
        <p:nvSpPr>
          <p:cNvPr id="9" name="Card text 1"/>
          <p:cNvSpPr txBox="1"/>
          <p:nvPr/>
        </p:nvSpPr>
        <p:spPr>
          <a:xfrm>
            <a:off x="1737360" y="2880360"/>
            <a:ext cx="39456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More passes counted and credited to the right player.</a:t>
            </a:r>
            <a:endParaRPr lang="en-US" sz="1800" dirty="0"/>
          </a:p>
        </p:txBody>
      </p:sp>
      <p:sp>
        <p:nvSpPr>
          <p:cNvPr id="10" name="Card 2"/>
          <p:cNvSpPr/>
          <p:nvPr/>
        </p:nvSpPr>
        <p:spPr>
          <a:xfrm>
            <a:off x="6231636" y="2011680"/>
            <a:ext cx="5134356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1" name="Badge 2"/>
          <p:cNvSpPr/>
          <p:nvPr/>
        </p:nvSpPr>
        <p:spPr>
          <a:xfrm>
            <a:off x="6505956" y="2286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Badge 2 number"/>
          <p:cNvSpPr txBox="1"/>
          <p:nvPr/>
        </p:nvSpPr>
        <p:spPr>
          <a:xfrm>
            <a:off x="650595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Card title 2"/>
          <p:cNvSpPr txBox="1"/>
          <p:nvPr/>
        </p:nvSpPr>
        <p:spPr>
          <a:xfrm>
            <a:off x="7146036" y="228600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Name every player</a:t>
            </a:r>
            <a:endParaRPr lang="en-US" sz="2400" dirty="0"/>
          </a:p>
        </p:txBody>
      </p:sp>
      <p:sp>
        <p:nvSpPr>
          <p:cNvPr id="14" name="Card text 2"/>
          <p:cNvSpPr txBox="1"/>
          <p:nvPr/>
        </p:nvSpPr>
        <p:spPr>
          <a:xfrm>
            <a:off x="7146036" y="2880360"/>
            <a:ext cx="39456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Read more shirt numbers; fix the rest in the review screen.</a:t>
            </a:r>
            <a:endParaRPr lang="en-US" sz="1800" dirty="0"/>
          </a:p>
        </p:txBody>
      </p:sp>
      <p:sp>
        <p:nvSpPr>
          <p:cNvPr id="15" name="Card 3"/>
          <p:cNvSpPr/>
          <p:nvPr/>
        </p:nvSpPr>
        <p:spPr>
          <a:xfrm>
            <a:off x="822960" y="3840480"/>
            <a:ext cx="5134356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6" name="Badge 3"/>
          <p:cNvSpPr/>
          <p:nvPr/>
        </p:nvSpPr>
        <p:spPr>
          <a:xfrm>
            <a:off x="1097280" y="4114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Badge 3 number"/>
          <p:cNvSpPr txBox="1"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Card title 3"/>
          <p:cNvSpPr txBox="1"/>
          <p:nvPr/>
        </p:nvSpPr>
        <p:spPr>
          <a:xfrm>
            <a:off x="1737360" y="411480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Count tackles properly</a:t>
            </a:r>
            <a:endParaRPr lang="en-US" sz="2400" dirty="0"/>
          </a:p>
        </p:txBody>
      </p:sp>
      <p:sp>
        <p:nvSpPr>
          <p:cNvPr id="19" name="Card text 3"/>
          <p:cNvSpPr txBox="1"/>
          <p:nvPr/>
        </p:nvSpPr>
        <p:spPr>
          <a:xfrm>
            <a:off x="1737360" y="4709160"/>
            <a:ext cx="39456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Needs many more labelled tackles to learn from.</a:t>
            </a:r>
            <a:endParaRPr lang="en-US" sz="1800" dirty="0"/>
          </a:p>
        </p:txBody>
      </p:sp>
      <p:sp>
        <p:nvSpPr>
          <p:cNvPr id="20" name="Card 4"/>
          <p:cNvSpPr/>
          <p:nvPr/>
        </p:nvSpPr>
        <p:spPr>
          <a:xfrm>
            <a:off x="6231636" y="3840480"/>
            <a:ext cx="5134356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1" name="Badge 4"/>
          <p:cNvSpPr/>
          <p:nvPr/>
        </p:nvSpPr>
        <p:spPr>
          <a:xfrm>
            <a:off x="6505956" y="4114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Badge 4 number"/>
          <p:cNvSpPr txBox="1"/>
          <p:nvPr/>
        </p:nvSpPr>
        <p:spPr>
          <a:xfrm>
            <a:off x="6505956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Card title 4"/>
          <p:cNvSpPr txBox="1"/>
          <p:nvPr/>
        </p:nvSpPr>
        <p:spPr>
          <a:xfrm>
            <a:off x="7146036" y="4114800"/>
            <a:ext cx="3945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Profile playing styles</a:t>
            </a:r>
            <a:endParaRPr lang="en-US" sz="2400" dirty="0"/>
          </a:p>
        </p:txBody>
      </p:sp>
      <p:sp>
        <p:nvSpPr>
          <p:cNvPr id="24" name="Card text 4"/>
          <p:cNvSpPr txBox="1"/>
          <p:nvPr/>
        </p:nvSpPr>
        <p:spPr>
          <a:xfrm>
            <a:off x="7146036" y="4709160"/>
            <a:ext cx="39456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Label players, fit the model, test it on new matches.</a:t>
            </a:r>
            <a:endParaRPr lang="en-US" sz="1800" dirty="0"/>
          </a:p>
        </p:txBody>
      </p:sp>
      <p:sp>
        <p:nvSpPr>
          <p:cNvPr id="25" name="Footnote"/>
          <p:cNvSpPr txBox="1"/>
          <p:nvPr/>
        </p:nvSpPr>
        <p:spPr>
          <a:xfrm>
            <a:off x="822960" y="57607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Also: accept any uploaded video, not only matches already in the library.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89920" y="630936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tchProfile">
  <a:themeElements>
    <a:clrScheme name="PitchProfile">
      <a:dk1>
        <a:srgbClr val="0F241D"/>
      </a:dk1>
      <a:lt1>
        <a:srgbClr val="F3F6F2"/>
      </a:lt1>
      <a:dk2>
        <a:srgbClr val="2E4A41"/>
      </a:dk2>
      <a:lt2>
        <a:srgbClr val="E6EFEA"/>
      </a:lt2>
      <a:accent1>
        <a:srgbClr val="0A7A5C"/>
      </a:accent1>
      <a:accent2>
        <a:srgbClr val="D9730D"/>
      </a:accent2>
      <a:accent3>
        <a:srgbClr val="8CE3B6"/>
      </a:accent3>
      <a:accent4>
        <a:srgbClr val="D6332A"/>
      </a:accent4>
      <a:accent5>
        <a:srgbClr val="2563EB"/>
      </a:accent5>
      <a:accent6>
        <a:srgbClr val="FDE047"/>
      </a:accent6>
      <a:hlink>
        <a:srgbClr val="0A7A5C"/>
      </a:hlink>
      <a:folHlink>
        <a:srgbClr val="2E4A41"/>
      </a:folHlink>
    </a:clrScheme>
    <a:fontScheme name="PitchProfil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PitchProfile: turning a football match video into player statistics</dc:title>
  <dc:subject>AAI3001 project presentation</dc:subject>
  <dc:creator>PptxGenJS</dc:creator>
  <cp:lastModifiedBy>PptxGenJS</cp:lastModifiedBy>
  <cp:revision>1</cp:revision>
  <dcterms:created xsi:type="dcterms:W3CDTF">2026-10-07T03:50:01Z</dcterms:created>
  <dcterms:modified xsi:type="dcterms:W3CDTF">2026-10-07T03:50:01Z</dcterms:modified>
</cp:coreProperties>
</file>